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00E5C7"/>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Completeness</c:v>
                  </c:pt>
                  <c:pt idx="1">
                    <c:v>Validity</c:v>
                  </c:pt>
                  <c:pt idx="2">
                    <c:v>Consistency</c:v>
                  </c:pt>
                  <c:pt idx="3">
                    <c:v>Uniqueness</c:v>
                  </c:pt>
                  <c:pt idx="4">
                    <c:v>Timeliness</c:v>
                  </c:pt>
                </c:lvl>
              </c:multiLvlStrCache>
            </c:multiLvlStrRef>
          </c:cat>
          <c:val>
            <c:numRef>
              <c:f>Sheet1!$B$2:$B$6</c:f>
              <c:numCache>
                <c:formatCode>General</c:formatCode>
                <c:ptCount val="5"/>
                <c:pt idx="0">
                  <c:v>97.4</c:v>
                </c:pt>
                <c:pt idx="1">
                  <c:v>96.8</c:v>
                </c:pt>
                <c:pt idx="2">
                  <c:v>98.1</c:v>
                </c:pt>
                <c:pt idx="3">
                  <c:v>99</c:v>
                </c:pt>
                <c:pt idx="4">
                  <c:v>95.2</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9FB2C8"/>
                </a:solidFill>
                <a:latin typeface="Arial"/>
              </a:defRPr>
            </a:pPr>
            <a:endParaRPr lang="en-US"/>
          </a:p>
        </c:txPr>
        <c:crossAx val="2094734552"/>
        <c:crosses val="autoZero"/>
        <c:auto val="1"/>
        <c:lblAlgn val="ctr"/>
        <c:noMultiLvlLbl val="1"/>
      </c:catAx>
      <c:valAx>
        <c:axId val="2094734552"/>
        <c:scaling>
          <c:orientation val="minMax"/>
          <c:max val="100"/>
          <c:min val="90"/>
        </c:scaling>
        <c:delete val="0"/>
        <c:axPos val="b"/>
        <c:majorGridlines>
          <c:spPr>
            <a:ln w="6350" cap="flat">
              <a:solidFill>
                <a:srgbClr val="22304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6B7C93"/>
                </a:solidFill>
                <a:latin typeface="Arial"/>
              </a:defRPr>
            </a:pPr>
            <a:endParaRPr lang="en-US"/>
          </a:p>
        </c:txPr>
        <c:crossAx val="2094734554"/>
        <c:crosses val="autoZero"/>
        <c:crossBetween val="between"/>
      </c:valAx>
      <c:spPr>
        <a:solidFill>
          <a:srgbClr val="121A29"/>
        </a:solidFill>
        <a:ln>
          <a:noFill/>
        </a:ln>
        <a:effectLst/>
      </c:spPr>
    </c:plotArea>
    <c:plotVisOnly val="1"/>
    <c:dispBlanksAs val="span"/>
  </c:chart>
  <c:spPr>
    <a:solidFill>
      <a:srgbClr val="121A2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c:v>
                </c:pt>
              </c:strCache>
            </c:strRef>
          </c:tx>
          <c:spPr>
            <a:solidFill>
              <a:srgbClr val="6B7C9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3M DQ</c:v>
                  </c:pt>
                  <c:pt idx="1">
                    <c:v>6M DQ</c:v>
                  </c:pt>
                  <c:pt idx="2">
                    <c:v>12M Def</c:v>
                  </c:pt>
                  <c:pt idx="3">
                    <c:v>12M Prep</c:v>
                  </c:pt>
                </c:lvl>
              </c:multiLvlStrCache>
            </c:multiLvlStrRef>
          </c:cat>
          <c:val>
            <c:numRef>
              <c:f>Sheet1!$B$2:$B$5</c:f>
              <c:numCache>
                <c:formatCode>General</c:formatCode>
                <c:ptCount val="4"/>
                <c:pt idx="0">
                  <c:v>0.6514</c:v>
                </c:pt>
                <c:pt idx="1">
                  <c:v>0.613</c:v>
                </c:pt>
                <c:pt idx="2">
                  <c:v>0.7255</c:v>
                </c:pt>
                <c:pt idx="3">
                  <c:v>0.575</c:v>
                </c:pt>
              </c:numCache>
            </c:numRef>
          </c:val>
        </c:ser>
        <c:ser>
          <c:idx val="1"/>
          <c:order val="1"/>
          <c:tx>
            <c:strRef>
              <c:f>Sheet1!$C$1</c:f>
              <c:strCache>
                <c:ptCount val="1"/>
                <c:pt idx="0">
                  <c:v>Improved</c:v>
                </c:pt>
              </c:strCache>
            </c:strRef>
          </c:tx>
          <c:spPr>
            <a:solidFill>
              <a:srgbClr val="00E5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3M DQ</c:v>
                  </c:pt>
                  <c:pt idx="1">
                    <c:v>6M DQ</c:v>
                  </c:pt>
                  <c:pt idx="2">
                    <c:v>12M Def</c:v>
                  </c:pt>
                  <c:pt idx="3">
                    <c:v>12M Prep</c:v>
                  </c:pt>
                </c:lvl>
              </c:multiLvlStrCache>
            </c:multiLvlStrRef>
          </c:cat>
          <c:val>
            <c:numRef>
              <c:f>Sheet1!$C$2:$C$5</c:f>
              <c:numCache>
                <c:formatCode>General</c:formatCode>
                <c:ptCount val="4"/>
                <c:pt idx="0">
                  <c:v>0.735</c:v>
                </c:pt>
                <c:pt idx="1">
                  <c:v>0.7082</c:v>
                </c:pt>
                <c:pt idx="2">
                  <c:v>0.8168</c:v>
                </c:pt>
                <c:pt idx="3">
                  <c:v>0.7119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FB2C8"/>
                </a:solidFill>
                <a:latin typeface="Arial"/>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22304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C93"/>
                </a:solidFill>
                <a:latin typeface="Arial"/>
              </a:defRPr>
            </a:pPr>
            <a:endParaRPr lang="en-US"/>
          </a:p>
        </c:txPr>
        <c:crossAx val="2094734554"/>
        <c:crosses val="autoZero"/>
        <c:crossBetween val="between"/>
      </c:valAx>
      <c:spPr>
        <a:solidFill>
          <a:srgbClr val="121A29"/>
        </a:solidFill>
        <a:ln>
          <a:noFill/>
        </a:ln>
        <a:effectLst/>
      </c:spPr>
    </c:plotArea>
    <c:legend>
      <c:legendPos val="b"/>
      <c:overlay val="0"/>
      <c:txPr>
        <a:bodyPr/>
        <a:lstStyle/>
        <a:p>
          <a:pPr>
            <a:defRPr sz="900">
              <a:solidFill>
                <a:srgbClr val="9FB2C8"/>
              </a:solidFill>
            </a:defRPr>
          </a:pPr>
          <a:endParaRPr lang="en-US"/>
        </a:p>
      </c:txPr>
    </c:legend>
    <c:plotVisOnly val="1"/>
    <c:dispBlanksAs val="span"/>
  </c:chart>
  <c:spPr>
    <a:solidFill>
      <a:srgbClr val="121A29"/>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Prepayment</c:v>
                </c:pt>
              </c:strCache>
            </c:strRef>
          </c:tx>
          <c:spPr>
            <a:solidFill>
              <a:srgbClr val="4CC3F0"/>
            </a:solidFill>
            <a:ln w="31750" cap="flat">
              <a:solidFill>
                <a:srgbClr val="4CC3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4CC3F0"/>
              </a:solidFill>
              <a:ln w="9525" cap="flat">
                <a:solidFill>
                  <a:srgbClr val="4CC3F0"/>
                </a:solidFill>
                <a:prstDash val="solid"/>
                <a:round/>
              </a:ln>
              <a:effectLst/>
            </c:spPr>
          </c:marker>
          <c:cat>
            <c:multiLvlStrRef>
              <c:f>Sheet1!$A$2:$A$7</c:f>
              <c:multiLvlStrCache>
                <c:ptCount val="6"/>
                <c:lvl>
                  <c:pt idx="0">
                    <c:v>M2</c:v>
                  </c:pt>
                  <c:pt idx="1">
                    <c:v>M4</c:v>
                  </c:pt>
                  <c:pt idx="2">
                    <c:v>M6</c:v>
                  </c:pt>
                  <c:pt idx="3">
                    <c:v>M8</c:v>
                  </c:pt>
                  <c:pt idx="4">
                    <c:v>M10</c:v>
                  </c:pt>
                  <c:pt idx="5">
                    <c:v>M12</c:v>
                  </c:pt>
                </c:lvl>
              </c:multiLvlStrCache>
            </c:multiLvlStrRef>
          </c:cat>
          <c:val>
            <c:numRef>
              <c:f>Sheet1!$B$2:$B$7</c:f>
              <c:numCache>
                <c:formatCode>General</c:formatCode>
                <c:ptCount val="6"/>
                <c:pt idx="0">
                  <c:v>8</c:v>
                </c:pt>
                <c:pt idx="1">
                  <c:v>18</c:v>
                </c:pt>
                <c:pt idx="2">
                  <c:v>29</c:v>
                </c:pt>
                <c:pt idx="3">
                  <c:v>40</c:v>
                </c:pt>
                <c:pt idx="4">
                  <c:v>49</c:v>
                </c:pt>
                <c:pt idx="5">
                  <c:v>55.7</c:v>
                </c:pt>
              </c:numCache>
            </c:numRef>
          </c:val>
          <c:smooth val="1"/>
        </c:ser>
        <c:ser>
          <c:idx val="1"/>
          <c:order val="1"/>
          <c:tx>
            <c:strRef>
              <c:f>Sheet1!$C$1</c:f>
              <c:strCache>
                <c:ptCount val="1"/>
                <c:pt idx="0">
                  <c:v>Default</c:v>
                </c:pt>
              </c:strCache>
            </c:strRef>
          </c:tx>
          <c:spPr>
            <a:solidFill>
              <a:srgbClr val="FF6B6B"/>
            </a:solidFill>
            <a:ln w="31750" cap="flat">
              <a:solidFill>
                <a:srgbClr val="FF6B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6B6B"/>
              </a:solidFill>
              <a:ln w="9525" cap="flat">
                <a:solidFill>
                  <a:srgbClr val="FF6B6B"/>
                </a:solidFill>
                <a:prstDash val="solid"/>
                <a:round/>
              </a:ln>
              <a:effectLst/>
            </c:spPr>
          </c:marker>
          <c:cat>
            <c:multiLvlStrRef>
              <c:f>Sheet1!$A$2:$A$7</c:f>
              <c:multiLvlStrCache>
                <c:ptCount val="6"/>
                <c:lvl>
                  <c:pt idx="0">
                    <c:v>M2</c:v>
                  </c:pt>
                  <c:pt idx="1">
                    <c:v>M4</c:v>
                  </c:pt>
                  <c:pt idx="2">
                    <c:v>M6</c:v>
                  </c:pt>
                  <c:pt idx="3">
                    <c:v>M8</c:v>
                  </c:pt>
                  <c:pt idx="4">
                    <c:v>M10</c:v>
                  </c:pt>
                  <c:pt idx="5">
                    <c:v>M12</c:v>
                  </c:pt>
                </c:lvl>
              </c:multiLvlStrCache>
            </c:multiLvlStrRef>
          </c:cat>
          <c:val>
            <c:numRef>
              <c:f>Sheet1!$C$2:$C$7</c:f>
              <c:numCache>
                <c:formatCode>General</c:formatCode>
                <c:ptCount val="6"/>
                <c:pt idx="0">
                  <c:v>2</c:v>
                </c:pt>
                <c:pt idx="1">
                  <c:v>4.5</c:v>
                </c:pt>
                <c:pt idx="2">
                  <c:v>7</c:v>
                </c:pt>
                <c:pt idx="3">
                  <c:v>9.3</c:v>
                </c:pt>
                <c:pt idx="4">
                  <c:v>11.2</c:v>
                </c:pt>
                <c:pt idx="5">
                  <c:v>12.6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FB2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4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C93"/>
                </a:solidFill>
                <a:latin typeface="Arial"/>
              </a:defRPr>
            </a:pPr>
            <a:endParaRPr lang="en-US"/>
          </a:p>
        </c:txPr>
        <c:crossAx val="2094734554"/>
        <c:crosses val="autoZero"/>
        <c:crossBetween val="between"/>
      </c:valAx>
      <c:spPr>
        <a:solidFill>
          <a:srgbClr val="121A29"/>
        </a:solidFill>
        <a:ln>
          <a:noFill/>
        </a:ln>
        <a:effectLst/>
      </c:spPr>
    </c:plotArea>
    <c:legend>
      <c:legendPos val="b"/>
      <c:overlay val="0"/>
      <c:txPr>
        <a:bodyPr/>
        <a:lstStyle/>
        <a:p>
          <a:pPr>
            <a:defRPr sz="900">
              <a:solidFill>
                <a:srgbClr val="9FB2C8"/>
              </a:solidFill>
            </a:defRPr>
          </a:pPr>
          <a:endParaRPr lang="en-US"/>
        </a:p>
      </c:txPr>
    </c:legend>
    <c:plotVisOnly val="1"/>
    <c:dispBlanksAs val="span"/>
  </c:chart>
  <c:spPr>
    <a:solidFill>
      <a:srgbClr val="121A29"/>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Loans</c:v>
                </c:pt>
              </c:strCache>
            </c:strRef>
          </c:tx>
          <c:spPr>
            <a:solidFill>
              <a:srgbClr val="00E5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0.0-0.2</c:v>
                  </c:pt>
                  <c:pt idx="1">
                    <c:v>0.2-0.4</c:v>
                  </c:pt>
                  <c:pt idx="2">
                    <c:v>0.4-0.6</c:v>
                  </c:pt>
                  <c:pt idx="3">
                    <c:v>0.6-0.8</c:v>
                  </c:pt>
                  <c:pt idx="4">
                    <c:v>0.8-1.0</c:v>
                  </c:pt>
                </c:lvl>
              </c:multiLvlStrCache>
            </c:multiLvlStrRef>
          </c:cat>
          <c:val>
            <c:numRef>
              <c:f>Sheet1!$B$2:$B$6</c:f>
              <c:numCache>
                <c:formatCode>General</c:formatCode>
                <c:ptCount val="5"/>
                <c:pt idx="0">
                  <c:v>2100</c:v>
                </c:pt>
                <c:pt idx="1">
                  <c:v>640</c:v>
                </c:pt>
                <c:pt idx="2">
                  <c:v>190</c:v>
                </c:pt>
                <c:pt idx="3">
                  <c:v>52</c:v>
                </c:pt>
                <c:pt idx="4">
                  <c:v>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50" b="0" i="0" u="none" strike="noStrike">
                <a:solidFill>
                  <a:srgbClr val="6B7C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A29"/>
        </a:solidFill>
        <a:ln>
          <a:noFill/>
        </a:ln>
        <a:effectLst/>
      </c:spPr>
    </c:plotArea>
    <c:plotVisOnly val="1"/>
    <c:dispBlanksAs val="span"/>
  </c:chart>
  <c:spPr>
    <a:solidFill>
      <a:srgbClr val="121A29"/>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 Rate</c:v>
                </c:pt>
              </c:strCache>
            </c:strRef>
          </c:tx>
          <c:spPr>
            <a:solidFill>
              <a:srgbClr val="FF6B6B"/>
            </a:solidFill>
            <a:effectLst/>
          </c:spPr>
          <c:invertIfNegative val="0"/>
          <c:dLbls>
            <c:numFmt formatCode="#,##0" sourceLinked="0"/>
            <c:txPr>
              <a:bodyPr/>
              <a:lstStyle/>
              <a:p>
                <a:pPr>
                  <a:defRPr b="0" i="0" strike="noStrike" sz="800" u="none">
                    <a:solidFill>
                      <a:srgbClr val="9FB2C8"/>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c:v>
                  </c:pt>
                  <c:pt idx="1">
                    <c:v>Adverse</c:v>
                  </c:pt>
                  <c:pt idx="2">
                    <c:v>High Prepay</c:v>
                  </c:pt>
                </c:lvl>
              </c:multiLvlStrCache>
            </c:multiLvlStrRef>
          </c:cat>
          <c:val>
            <c:numRef>
              <c:f>Sheet1!$B$2:$B$4</c:f>
              <c:numCache>
                <c:formatCode>General</c:formatCode>
                <c:ptCount val="3"/>
                <c:pt idx="0">
                  <c:v>14.83</c:v>
                </c:pt>
                <c:pt idx="1">
                  <c:v>33.91</c:v>
                </c:pt>
                <c:pt idx="2">
                  <c:v>9.81</c:v>
                </c:pt>
              </c:numCache>
            </c:numRef>
          </c:val>
        </c:ser>
        <c:ser>
          <c:idx val="1"/>
          <c:order val="1"/>
          <c:tx>
            <c:strRef>
              <c:f>Sheet1!$C$1</c:f>
              <c:strCache>
                <c:ptCount val="1"/>
                <c:pt idx="0">
                  <c:v>Prepay Rate</c:v>
                </c:pt>
              </c:strCache>
            </c:strRef>
          </c:tx>
          <c:spPr>
            <a:solidFill>
              <a:srgbClr val="4CC3F0"/>
            </a:solidFill>
            <a:effectLst/>
          </c:spPr>
          <c:invertIfNegative val="0"/>
          <c:dLbls>
            <c:numFmt formatCode="#,##0" sourceLinked="0"/>
            <c:txPr>
              <a:bodyPr/>
              <a:lstStyle/>
              <a:p>
                <a:pPr>
                  <a:defRPr b="0" i="0" strike="noStrike" sz="800" u="none">
                    <a:solidFill>
                      <a:srgbClr val="9FB2C8"/>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c:v>
                  </c:pt>
                  <c:pt idx="1">
                    <c:v>Adverse</c:v>
                  </c:pt>
                  <c:pt idx="2">
                    <c:v>High Prepay</c:v>
                  </c:pt>
                </c:lvl>
              </c:multiLvlStrCache>
            </c:multiLvlStrRef>
          </c:cat>
          <c:val>
            <c:numRef>
              <c:f>Sheet1!$C$2:$C$4</c:f>
              <c:numCache>
                <c:formatCode>General</c:formatCode>
                <c:ptCount val="3"/>
                <c:pt idx="0">
                  <c:v>50.75</c:v>
                </c:pt>
                <c:pt idx="1">
                  <c:v>30.53</c:v>
                </c:pt>
                <c:pt idx="2">
                  <c:v>100</c:v>
                </c:pt>
              </c:numCache>
            </c:numRef>
          </c:val>
        </c:ser>
        <c:dLbls>
          <c:numFmt formatCode="#,##0" sourceLinked="0"/>
          <c:txPr>
            <a:bodyPr/>
            <a:lstStyle/>
            <a:p>
              <a:pPr>
                <a:defRPr b="0" i="0" strike="noStrike" sz="800" u="none">
                  <a:solidFill>
                    <a:srgbClr val="9FB2C8"/>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9FB2C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4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C93"/>
                </a:solidFill>
                <a:latin typeface="Arial"/>
              </a:defRPr>
            </a:pPr>
            <a:endParaRPr lang="en-US"/>
          </a:p>
        </c:txPr>
        <c:crossAx val="2094734554"/>
        <c:crosses val="autoZero"/>
        <c:crossBetween val="between"/>
      </c:valAx>
      <c:spPr>
        <a:solidFill>
          <a:srgbClr val="121A29"/>
        </a:solidFill>
        <a:ln>
          <a:noFill/>
        </a:ln>
        <a:effectLst/>
      </c:spPr>
    </c:plotArea>
    <c:legend>
      <c:legendPos val="b"/>
      <c:overlay val="0"/>
      <c:txPr>
        <a:bodyPr/>
        <a:lstStyle/>
        <a:p>
          <a:pPr>
            <a:defRPr sz="900">
              <a:solidFill>
                <a:srgbClr val="9FB2C8"/>
              </a:solidFill>
            </a:defRPr>
          </a:pPr>
          <a:endParaRPr lang="en-US"/>
        </a:p>
      </c:txPr>
    </c:legend>
    <c:plotVisOnly val="1"/>
    <c:dispBlanksAs val="span"/>
  </c:chart>
  <c:spPr>
    <a:solidFill>
      <a:srgbClr val="121A29"/>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SHAP</c:v>
                </c:pt>
              </c:strCache>
            </c:strRef>
          </c:tx>
          <c:spPr>
            <a:solidFill>
              <a:srgbClr val="00E5C7"/>
            </a:solidFill>
            <a:effectLst/>
          </c:spPr>
          <c:invertIfNegative val="0"/>
          <c:dLbls>
            <c:numFmt formatCode="0.000" sourceLinked="0"/>
            <c:txPr>
              <a:bodyPr/>
              <a:lstStyle/>
              <a:p>
                <a:pPr>
                  <a:defRPr b="0" i="0" strike="noStrike" sz="800" u="none">
                    <a:solidFill>
                      <a:srgbClr val="9FB2C8"/>
                    </a:solidFill>
                    <a:latin typeface="Arial"/>
                  </a:defRPr>
                </a:pPr>
              </a:p>
            </c:txPr>
            <c:showLegendKey val="0"/>
            <c:showVal val="1"/>
            <c:showCatName val="0"/>
            <c:showSerName val="0"/>
            <c:showPercent val="0"/>
            <c:showBubbleSize val="0"/>
            <c:showLeaderLines val="0"/>
          </c:dLbls>
          <c:cat>
            <c:multiLvlStrRef>
              <c:f>Sheet1!$A$2:$A$9</c:f>
              <c:multiLvlStrCache>
                <c:ptCount val="8"/>
                <c:lvl>
                  <c:pt idx="0">
                    <c:v>Credit Score</c:v>
                  </c:pt>
                  <c:pt idx="1">
                    <c:v>DTI Ratio</c:v>
                  </c:pt>
                  <c:pt idx="2">
                    <c:v>LTV Ratio</c:v>
                  </c:pt>
                  <c:pt idx="3">
                    <c:v>Interest Rate</c:v>
                  </c:pt>
                  <c:pt idx="4">
                    <c:v>Payment History</c:v>
                  </c:pt>
                  <c:pt idx="5">
                    <c:v>Loan Age</c:v>
                  </c:pt>
                  <c:pt idx="6">
                    <c:v>UPB</c:v>
                  </c:pt>
                  <c:pt idx="7">
                    <c:v>Occupancy</c:v>
                  </c:pt>
                </c:lvl>
              </c:multiLvlStrCache>
            </c:multiLvlStrRef>
          </c:cat>
          <c:val>
            <c:numRef>
              <c:f>Sheet1!$B$2:$B$9</c:f>
              <c:numCache>
                <c:formatCode>General</c:formatCode>
                <c:ptCount val="8"/>
                <c:pt idx="0">
                  <c:v>0.182</c:v>
                </c:pt>
                <c:pt idx="1">
                  <c:v>0.151</c:v>
                </c:pt>
                <c:pt idx="2">
                  <c:v>0.134</c:v>
                </c:pt>
                <c:pt idx="3">
                  <c:v>0.121</c:v>
                </c:pt>
                <c:pt idx="4">
                  <c:v>0.098</c:v>
                </c:pt>
                <c:pt idx="5">
                  <c:v>0.081</c:v>
                </c:pt>
                <c:pt idx="6">
                  <c:v>0.062</c:v>
                </c:pt>
                <c:pt idx="7">
                  <c:v>0.041</c:v>
                </c:pt>
              </c:numCache>
            </c:numRef>
          </c:val>
        </c:ser>
        <c:dLbls>
          <c:numFmt formatCode="0.000" sourceLinked="0"/>
          <c:txPr>
            <a:bodyPr/>
            <a:lstStyle/>
            <a:p>
              <a:pPr>
                <a:defRPr b="0" i="0" strike="noStrike" sz="800" u="none">
                  <a:solidFill>
                    <a:srgbClr val="9FB2C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9FB2C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A29"/>
        </a:solidFill>
        <a:ln>
          <a:noFill/>
        </a:ln>
        <a:effectLst/>
      </c:spPr>
    </c:plotArea>
    <c:plotVisOnly val="1"/>
    <c:dispBlanksAs val="span"/>
  </c:chart>
  <c:spPr>
    <a:solidFill>
      <a:srgbClr val="121A29"/>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Portfolio Health</c:v>
                </c:pt>
              </c:strCache>
            </c:strRef>
          </c:tx>
          <c:spPr>
            <a:solidFill>
              <a:srgbClr val="00E5C7"/>
            </a:solidFill>
            <a:ln w="31750" cap="flat">
              <a:solidFill>
                <a:srgbClr val="00E5C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E5C7"/>
              </a:solidFill>
              <a:ln w="9525" cap="flat">
                <a:solidFill>
                  <a:srgbClr val="00E5C7"/>
                </a:solidFill>
                <a:prstDash val="solid"/>
                <a:round/>
              </a:ln>
              <a:effectLst/>
            </c:spPr>
          </c:marker>
          <c:cat>
            <c:multiLvlStrRef>
              <c:f>Sheet1!$A$2:$A$8</c:f>
              <c:multiLvlStrCache>
                <c:ptCount val="7"/>
                <c:lvl>
                  <c:pt idx="0">
                    <c:v>J</c:v>
                  </c:pt>
                  <c:pt idx="1">
                    <c:v>F</c:v>
                  </c:pt>
                  <c:pt idx="2">
                    <c:v>M</c:v>
                  </c:pt>
                  <c:pt idx="3">
                    <c:v>A</c:v>
                  </c:pt>
                  <c:pt idx="4">
                    <c:v>M</c:v>
                  </c:pt>
                  <c:pt idx="5">
                    <c:v>J</c:v>
                  </c:pt>
                  <c:pt idx="6">
                    <c:v>J</c:v>
                  </c:pt>
                </c:lvl>
              </c:multiLvlStrCache>
            </c:multiLvlStrRef>
          </c:cat>
          <c:val>
            <c:numRef>
              <c:f>Sheet1!$B$2:$B$8</c:f>
              <c:numCache>
                <c:formatCode>General</c:formatCode>
                <c:ptCount val="7"/>
                <c:pt idx="0">
                  <c:v>92</c:v>
                </c:pt>
                <c:pt idx="1">
                  <c:v>91</c:v>
                </c:pt>
                <c:pt idx="2">
                  <c:v>93</c:v>
                </c:pt>
                <c:pt idx="3">
                  <c:v>90</c:v>
                </c:pt>
                <c:pt idx="4">
                  <c:v>94</c:v>
                </c:pt>
                <c:pt idx="5">
                  <c:v>95</c:v>
                </c:pt>
                <c:pt idx="6">
                  <c:v>97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6B7C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A29"/>
        </a:solidFill>
        <a:ln>
          <a:noFill/>
        </a:ln>
        <a:effectLst/>
      </c:spPr>
    </c:plotArea>
    <c:plotVisOnly val="1"/>
    <c:dispBlanksAs val="span"/>
  </c:chart>
  <c:spPr>
    <a:solidFill>
      <a:srgbClr val="121A2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judges. We're Narendra's Team, presenting the Loan Performance Intelligence Engine (LPIE) for the Intain FinTech AI Challenge Final Round.
In one line: LPIE turns raw, messy mortgage loan tapes into audited, explainable credit intelligence in under 40 seconds — covering default prediction, competing-risk survival modeling, anomaly detection, and a zero-hallucination reviewer copilot, all in one reproducible pipeline.
Over the next few minutes we'll walk through the problem we saw in mortgage surveillance today, our end-to-end architecture, and the statistically validated results we got on a 34,285-loan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are broken in how the industry does mortgage surveillance today.
First, manual rule-based reviews simply can't keep up — they miss 30-40% of early-stage delinquencies because humans can't scan every loan every cycle.
Second, most existing models score default and prepayment independently, which is statistically wrong — a loan that prepays can no longer default, so ignoring that competing-risk relationship biases the numbers.
Third, servicer reconciliation errors, stale records and data-entry mistakes usually go completely undetected until they cause real losses.
Fourth — and this is new — as teams start bolting LLMs onto reviewer workflows, those models hallucinate credit facts with no way to audit or trust the output.
On the right you can see the shift we're proposing: from manual, siloed, ungrounded processes to a calibrated, statistically rigorous, fully auditable pipeline — which is exactly what LPIE delivers, on over 34,000 real loan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architecture — nine stages, fully automated, running end-to-end in about 40 seconds with a single command.
We start from 34,285 raw loan-tape records. Stage 2 profiles data quality and produces a 97.66/100 DQI score. Stage 3 does leakage-safe feature engineering — we deliberately drop 6 administrative columns that would leak future information. Stage 4 is critical: we use a strict out-of-time chronological split, training on Jan-2022 through Oct-2023 and testing on Nov-2023 through Apr-2024, so there's zero chance of a loan ID leaking between train and test.
Stages 5 and 6 are our modeling core — calibrated XGBoost and LightGBM ensembles for point-in-time risk, plus a competing-risks survival engine using Cox proportional hazards and Weibull AFT models. Stage 7 layers in hybrid anomaly detection combining deterministic rules with Isolation Forest. Stages 8 and 9 close the loop with TreeSHAP explainability and a grounded, citation-based reviewer copilot.
Everything you see across the rest of this deck maps to one of these nine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 touches this data, we validate it thoroughly. The Data Quality Index comes out to 97.66 out of 100 — Grade A — with 97.4% completeness across all fields and a Population Stability Index under 0.04, meaning there's no meaningful distribution drift between training and validation windows.
Under the hood: automated missingness analysis with MCAR approximation testing, IQR plus Z-score plus domain-specific outlier detection, and a full Pearson correlation matrix combined with Cramer's V for categorical associations. The bar chart on the right breaks this down across five quality dimensions — completeness, validity, consistency, uniqueness and timeliness — all in the mid-to-high 90s.
This matters because every downstream model, from default prediction to anomaly detection, is only as trustworthy as the data quality foundation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modeling really shines. Our headline number is a 0.8168 ROC-AUC on 12-month default prediction — a 12.6% improvement over baseline.
Look at the table: every single horizon improved, from 3-month delinquency up to 12-month prepayment, with the prepayment model seeing the biggest lift at +23.8%. Critically, these gains come from a strict out-of-time chronological split, so there's no loan ID leakage between train and test — this is a real, honest improvement, not an artifact of data leakage.
We also applied isotonic calibration and class-weight balancing, which brought the Brier score down to 0.1063 — 43% lower prediction error than baseline. That calibration matters enormously in credit risk, because a model that ranks well but isn't calibrated will still make bad capital allocation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industry models treat default and prepayment as two independent yes/no outcomes. We modeled them properly as competing risks — a loan can only experience one terminal event, so predicting one without accounting for the other biases both.
On our 3,000-loan survival cohort: 12.6% experienced default, 55.7% prepaid, and 31.7% were still active and right-censored at the observation horizon. The cumulative incidence curves on the right show these two risks diverging clearly over the first 12 months.
The statistics back this up hard: a log-rank test p-value of 2.83 times ten to the minus 13 shows an extremely significant separation between prime and subprime borrowers. Our Cox proportional hazards model shows prime borrowers have a 26.9% lower default hazard, while every 1% increase in interest rate raises default hazard by 57.8%. And the Weibull AFT model beats a constant-hazard assumption by a delta-AIC of 149.8 — meaning the hazard genuinely changes shape over the loan's life, which a simple logistic model would miss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predictive risk scoring, we built a hybrid anomaly scanner that catches the operational errors that pure ML models miss.
On the left, 10 deterministic rules catch clear-cut data integrity problems — negative balances, balances that exceed the original loan amount, impossible delinquency-status transitions, status-DPD mismatches, and stale records. On the right, unsupervised machine learning — Isolation Forest for spatial density estimation plus a composite anomaly score from 0 to 1 — catches subtler, statistical outliers that no fixed rule would flag, cross-validated with a Random Forest exception classifier.
The output isn't just a score — it's 25 reviewer-ready diagnostic case studies with concrete remediation prescriptions, so a servicer's ops team gets an actionable ticket, not just a red flag. The distribution chart shows the vast majority of loans cluster in the low-anomaly range, with only a small tail requiring manual attention — exactly what you'd want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only as useful as its behavior under stress, so we built a macroeconomic scenario lab on top of the survival engine.
In our base case, 12-month default sits at 14.83% and prepayment at 50.75%. Under an adverse credit scenario — a 150 basis-point rate shock — default surges to 33.91%, a 129% relative increase, while prepayment velocity drops 40% to 30.53%, because borrowers under stress can't refinance out. In a high-prepayment scenario with rates falling 100 basis points, prepayment goes to 100% while default drops to 9.81%.
The key insight for an investor or servicer: under adverse credit stress, default rate surges 2.3x while prepayment velocity drops 40% simultaneously — that combination is exactly the kind of tail risk that a portfolio manager needs to see coming, and it's a direct output of treating default and prepayment as competing risks rather than independent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Regulators and lenders won't trust a black box, so explainability is built in at three levels, not bolted on afterward.
Global attribution uses TreeSHAP beeswarm plots to rank the top 15 features by mean absolute SHAP value — you can see the ranking on this chart, with credit score, DTI ratio and LTV ratio as the top three drivers of risk. Local waterfall charts decompose any individual loan's prediction feature by feature, so a reviewer can see exactly why one specific loan was flagged. And error diagnostics does root-cause analysis on false positives and false negatives, so the model's mistakes are also explainable, not just its correct predictions.
This entire layer is what makes LPIE ECOA and Reg B Fair Lending compliant — every prediction is fully decomposable into human-readable feature contributions, which is a hard requirement for anything touching real lending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piece that solves the hallucination problem we raised at the very start.
The copilot works in three grounded steps: first, it ingests loan attributes and verifies them against the data dictionary, so it never invents a field that doesn't exist. Second, it computes local TreeSHAP attribution values for that specific loan's prediction. Third, it generates a structured reviewer note where every single risk claim must cite a numerical SHAP value — no exceptions.
On the right you can see a real sample: the note states the loan is Medium Risk, then backs that up with exact SHAP contributions — credit score at plus 0.14, DTI ratio at plus 0.09, payment history at minus 0.05 — netting to a 0.31 model output. There are zero external API calls; it's a fully deterministic template engine, every audit trail is logged to prompt_log.jsonl, and we even built three explicit rejection and correction examples to demonstrate the guardrails actually catch and block ungrounded claims before they reach a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a notebook demo — it's a deployed, production-shaped system, and you can go try it right now.
We have a live Streamlit Cloud dashboard, a FastAPI microservice with interactive Swagger docs at /docs, and the whole stack is containerized with Docker Compose for one-command deployment anywhere. On the engineering side: a self-healing bootloader that auto-synthesizes data and trains models if you launch it in a completely fresh environment, Streamlit's cache_resource and cache_data decorators so re-renders don't burn CPU, and a GitHub CI/CD pipeline with a full integration test suite — 5 out of 5 tests passing.
The mockup on the right approximates what the live dashboard looks like — default and prepayment risk gauges plus a rolling portfolio health trend — and the full source is public on GitHub at the link shown, so judges can clone it and run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let's bring it all together. Seven numbers that summarize why we believe LPIE wins this challenge: a 97.66 DQI score for enterprise-grade data quality, a 0.8168 ROC-AUC for best-in-class default prediction, statistically rigorous competing-risks survival modeling with p less than 10 to the minus 13, 25 automated anomaly case studies, 100% explainability through TreeSHAP on every prediction, a zero-hallucination copilot with fully auditable reviewer notes, and a one-command pipeline that reproduces the entire result in 40 seconds.
LPIE transforms raw mortgage tapes into actionable, explainable, and auditable credit intelligence — in 40 seconds. Thank you — we're happy to take any questions, and we're glad to walk through the live dashboard or the code if that would be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chart" Target="../charts/chart1.xml"/><Relationship Id="rId6" Type="http://schemas.openxmlformats.org/officeDocument/2006/relationships/slideLayout" Target="../slideLayouts/slideLayout1.xml"/><Relationship Id="rId7" Type="http://schemas.openxmlformats.org/officeDocument/2006/relationships/notesSlide" Target="../notesSlides/notesSlide4.xml"/><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chart" Target="../charts/chart2.xml"/><Relationship Id="rId5" Type="http://schemas.openxmlformats.org/officeDocument/2006/relationships/slideLayout" Target="../slideLayouts/slideLayout1.xml"/><Relationship Id="rId6" Type="http://schemas.openxmlformats.org/officeDocument/2006/relationships/notesSlide" Target="../notesSlides/notesSlide5.xml"/><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image" Target="../media/image-6-1.png"/><Relationship Id="rId5" Type="http://schemas.openxmlformats.org/officeDocument/2006/relationships/chart" Target="../charts/chart3.xml"/><Relationship Id="rId6" Type="http://schemas.openxmlformats.org/officeDocument/2006/relationships/slideLayout" Target="../slideLayouts/slideLayout1.xml"/><Relationship Id="rId7" Type="http://schemas.openxmlformats.org/officeDocument/2006/relationships/notesSlide" Target="../notesSlides/notesSlide6.xml"/><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chart" Target="../charts/chart4.xm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chart" Target="../charts/chart6.xml"/><Relationship Id="rId5" Type="http://schemas.openxmlformats.org/officeDocument/2006/relationships/slideLayout" Target="../slideLayouts/slideLayout1.xml"/><Relationship Id="rId6" Type="http://schemas.openxmlformats.org/officeDocument/2006/relationships/notesSlide" Target="../notesSlides/notesSlide9.xml"/><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4.png"/><Relationship Id="rId6" Type="http://schemas.openxmlformats.org/officeDocument/2006/relationships/image" Target="../media/image-10-4.png"/><Relationship Id="rId7" Type="http://schemas.openxmlformats.org/officeDocument/2006/relationships/image" Target="../media/image-10-4.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chart" Target="../charts/chart7.xm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Shape 3"/>
          <p:cNvSpPr/>
          <p:nvPr/>
        </p:nvSpPr>
        <p:spPr>
          <a:xfrm>
            <a:off x="10561320" y="137160"/>
            <a:ext cx="1371600" cy="1371600"/>
          </a:xfrm>
          <a:prstGeom prst="ellipse">
            <a:avLst/>
          </a:prstGeom>
          <a:solidFill>
            <a:srgbClr val="17233A"/>
          </a:solidFill>
          <a:ln w="15875">
            <a:solidFill>
              <a:srgbClr val="00E5C7"/>
            </a:solidFill>
            <a:prstDash val="solid"/>
          </a:ln>
        </p:spPr>
      </p:sp>
      <p:pic>
        <p:nvPicPr>
          <p:cNvPr id="6" name="Image 0" descr="/home/claude/lpie/assets/shield_teal.png">    </p:cNvPr>
          <p:cNvPicPr>
            <a:picLocks noChangeAspect="1"/>
          </p:cNvPicPr>
          <p:nvPr/>
        </p:nvPicPr>
        <p:blipFill>
          <a:blip r:embed="rId1"/>
          <a:stretch>
            <a:fillRect/>
          </a:stretch>
        </p:blipFill>
        <p:spPr>
          <a:xfrm>
            <a:off x="10904220" y="480060"/>
            <a:ext cx="685800" cy="685800"/>
          </a:xfrm>
          <a:prstGeom prst="rect">
            <a:avLst/>
          </a:prstGeom>
        </p:spPr>
      </p:pic>
      <p:sp>
        <p:nvSpPr>
          <p:cNvPr id="7" name="Text 4"/>
          <p:cNvSpPr/>
          <p:nvPr/>
        </p:nvSpPr>
        <p:spPr>
          <a:xfrm>
            <a:off x="822960" y="1600200"/>
            <a:ext cx="9144000" cy="320040"/>
          </a:xfrm>
          <a:prstGeom prst="rect">
            <a:avLst/>
          </a:prstGeom>
          <a:noFill/>
          <a:ln/>
        </p:spPr>
        <p:txBody>
          <a:bodyPr wrap="square" rtlCol="0" anchor="ctr"/>
          <a:lstStyle/>
          <a:p>
            <a:pPr indent="0" marL="0">
              <a:buNone/>
            </a:pPr>
            <a:r>
              <a:rPr lang="en-US" sz="1300" b="1" spc="220" kern="0" dirty="0">
                <a:solidFill>
                  <a:srgbClr val="00E5C7"/>
                </a:solidFill>
                <a:latin typeface="Calibri" pitchFamily="34" charset="0"/>
                <a:ea typeface="Calibri" pitchFamily="34" charset="-122"/>
                <a:cs typeface="Calibri" pitchFamily="34" charset="-120"/>
              </a:rPr>
              <a:t>INTAIN FINTECH AI CHALLENGE 2026  ·  FINAL ROUND</a:t>
            </a:r>
            <a:endParaRPr lang="en-US" sz="1300" dirty="0"/>
          </a:p>
        </p:txBody>
      </p:sp>
      <p:sp>
        <p:nvSpPr>
          <p:cNvPr id="8" name="Text 5"/>
          <p:cNvSpPr/>
          <p:nvPr/>
        </p:nvSpPr>
        <p:spPr>
          <a:xfrm>
            <a:off x="777240" y="2057400"/>
            <a:ext cx="10058400" cy="1737360"/>
          </a:xfrm>
          <a:prstGeom prst="rect">
            <a:avLst/>
          </a:prstGeom>
          <a:noFill/>
          <a:ln/>
        </p:spPr>
        <p:txBody>
          <a:bodyPr wrap="square" rtlCol="0" anchor="ctr"/>
          <a:lstStyle/>
          <a:p>
            <a:pPr indent="0" marL="0">
              <a:lnSpc>
                <a:spcPct val="102000"/>
              </a:lnSpc>
              <a:buNone/>
            </a:pPr>
            <a:r>
              <a:rPr lang="en-US" sz="5200" b="1" dirty="0">
                <a:solidFill>
                  <a:srgbClr val="FFFFFF"/>
                </a:solidFill>
                <a:latin typeface="Calibri" pitchFamily="34" charset="0"/>
                <a:ea typeface="Calibri" pitchFamily="34" charset="-122"/>
                <a:cs typeface="Calibri" pitchFamily="34" charset="-120"/>
              </a:rPr>
              <a:t>Loan Performance</a:t>
            </a:r>
            <a:endParaRPr lang="en-US" sz="5200" dirty="0"/>
          </a:p>
          <a:p>
            <a:pPr indent="0" marL="0">
              <a:lnSpc>
                <a:spcPct val="102000"/>
              </a:lnSpc>
              <a:buNone/>
            </a:pPr>
            <a:r>
              <a:rPr lang="en-US" sz="5200" b="1" dirty="0">
                <a:solidFill>
                  <a:srgbClr val="FFFFFF"/>
                </a:solidFill>
                <a:latin typeface="Calibri" pitchFamily="34" charset="0"/>
                <a:ea typeface="Calibri" pitchFamily="34" charset="-122"/>
                <a:cs typeface="Calibri" pitchFamily="34" charset="-120"/>
              </a:rPr>
              <a:t>Intelligence Engine</a:t>
            </a:r>
            <a:endParaRPr lang="en-US" sz="5200" dirty="0"/>
          </a:p>
        </p:txBody>
      </p:sp>
      <p:sp>
        <p:nvSpPr>
          <p:cNvPr id="9" name="Text 6"/>
          <p:cNvSpPr/>
          <p:nvPr/>
        </p:nvSpPr>
        <p:spPr>
          <a:xfrm>
            <a:off x="822960" y="3794760"/>
            <a:ext cx="9601200" cy="502920"/>
          </a:xfrm>
          <a:prstGeom prst="rect">
            <a:avLst/>
          </a:prstGeom>
          <a:noFill/>
          <a:ln/>
        </p:spPr>
        <p:txBody>
          <a:bodyPr wrap="square" rtlCol="0" anchor="ctr"/>
          <a:lstStyle/>
          <a:p>
            <a:pPr indent="0" marL="0">
              <a:buNone/>
            </a:pPr>
            <a:r>
              <a:rPr lang="en-US" sz="1800" i="1" dirty="0">
                <a:solidFill>
                  <a:srgbClr val="9FB2C8"/>
                </a:solidFill>
                <a:latin typeface="Calibri" pitchFamily="34" charset="0"/>
                <a:ea typeface="Calibri" pitchFamily="34" charset="-122"/>
                <a:cs typeface="Calibri" pitchFamily="34" charset="-120"/>
              </a:rPr>
              <a:t>AI-Powered Mortgage Surveillance &amp; Competing-Risks Intelligence Platform</a:t>
            </a:r>
            <a:endParaRPr lang="en-US" sz="1800" dirty="0"/>
          </a:p>
        </p:txBody>
      </p:sp>
      <p:sp>
        <p:nvSpPr>
          <p:cNvPr id="10" name="Shape 7"/>
          <p:cNvSpPr/>
          <p:nvPr/>
        </p:nvSpPr>
        <p:spPr>
          <a:xfrm>
            <a:off x="822960" y="4434840"/>
            <a:ext cx="2011680" cy="0"/>
          </a:xfrm>
          <a:prstGeom prst="line">
            <a:avLst/>
          </a:prstGeom>
          <a:noFill/>
          <a:ln w="19050">
            <a:solidFill>
              <a:srgbClr val="0EA5A0"/>
            </a:solidFill>
            <a:prstDash val="solid"/>
          </a:ln>
        </p:spPr>
      </p:sp>
      <p:sp>
        <p:nvSpPr>
          <p:cNvPr id="11" name="Text 8"/>
          <p:cNvSpPr/>
          <p:nvPr/>
        </p:nvSpPr>
        <p:spPr>
          <a:xfrm>
            <a:off x="822960" y="4617720"/>
            <a:ext cx="5486400" cy="320040"/>
          </a:xfrm>
          <a:prstGeom prst="rect">
            <a:avLst/>
          </a:prstGeom>
          <a:noFill/>
          <a:ln/>
        </p:spPr>
        <p:txBody>
          <a:bodyPr wrap="square" rtlCol="0" anchor="ctr"/>
          <a:lstStyle/>
          <a:p>
            <a:pPr indent="0" marL="0">
              <a:buNone/>
            </a:pPr>
            <a:r>
              <a:rPr lang="en-US" sz="1400" dirty="0">
                <a:solidFill>
                  <a:srgbClr val="6B7C93"/>
                </a:solidFill>
                <a:latin typeface="Calibri" pitchFamily="34" charset="0"/>
                <a:ea typeface="Calibri" pitchFamily="34" charset="-122"/>
                <a:cs typeface="Calibri" pitchFamily="34" charset="-120"/>
              </a:rPr>
              <a:t>Team: </a:t>
            </a:r>
            <a:pPr indent="0" marL="0">
              <a:buNone/>
            </a:pPr>
            <a:r>
              <a:rPr lang="en-US" sz="1400" b="1" dirty="0">
                <a:solidFill>
                  <a:srgbClr val="FFFFFF"/>
                </a:solidFill>
                <a:latin typeface="Calibri" pitchFamily="34" charset="0"/>
                <a:ea typeface="Calibri" pitchFamily="34" charset="-122"/>
                <a:cs typeface="Calibri" pitchFamily="34" charset="-120"/>
              </a:rPr>
              <a:t>Narendra's Team</a:t>
            </a:r>
            <a:endParaRPr lang="en-US" sz="1400" dirty="0"/>
          </a:p>
        </p:txBody>
      </p:sp>
      <p:sp>
        <p:nvSpPr>
          <p:cNvPr id="12" name="Shape 9"/>
          <p:cNvSpPr/>
          <p:nvPr/>
        </p:nvSpPr>
        <p:spPr>
          <a:xfrm>
            <a:off x="777240" y="5806440"/>
            <a:ext cx="10607040" cy="685800"/>
          </a:xfrm>
          <a:prstGeom prst="roundRect">
            <a:avLst>
              <a:gd name="adj" fmla="val 13333"/>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3" name="Text 10"/>
          <p:cNvSpPr/>
          <p:nvPr/>
        </p:nvSpPr>
        <p:spPr>
          <a:xfrm>
            <a:off x="777240" y="5806440"/>
            <a:ext cx="10607040" cy="685800"/>
          </a:xfrm>
          <a:prstGeom prst="rect">
            <a:avLst/>
          </a:prstGeom>
          <a:noFill/>
          <a:ln/>
        </p:spPr>
        <p:txBody>
          <a:bodyPr wrap="square" rtlCol="0" anchor="ctr"/>
          <a:lstStyle/>
          <a:p>
            <a:pPr algn="ctr" indent="0" marL="0">
              <a:buNone/>
            </a:pPr>
            <a:r>
              <a:rPr lang="en-US" sz="1350" b="1" spc="120" kern="0" dirty="0">
                <a:solidFill>
                  <a:srgbClr val="00E5C7"/>
                </a:solidFill>
                <a:latin typeface="Calibri" pitchFamily="34" charset="0"/>
                <a:ea typeface="Calibri" pitchFamily="34" charset="-122"/>
                <a:cs typeface="Calibri" pitchFamily="34" charset="-120"/>
              </a:rPr>
              <a:t>FROM RAW LOAN TAPES  →  ACTIONABLE CREDIT INTELLIGENCE IN 40 SECONDS</a:t>
            </a:r>
            <a:endParaRPr lang="en-US" sz="135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THE CHALLENGE</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Industry Problem</a:t>
            </a:r>
            <a:endParaRPr lang="en-US" sz="3000" dirty="0"/>
          </a:p>
        </p:txBody>
      </p:sp>
      <p:sp>
        <p:nvSpPr>
          <p:cNvPr id="7" name="Shape 5"/>
          <p:cNvSpPr/>
          <p:nvPr/>
        </p:nvSpPr>
        <p:spPr>
          <a:xfrm>
            <a:off x="457200" y="1417320"/>
            <a:ext cx="566928" cy="566928"/>
          </a:xfrm>
          <a:prstGeom prst="ellipse">
            <a:avLst/>
          </a:prstGeom>
          <a:solidFill>
            <a:srgbClr val="17233A"/>
          </a:solidFill>
          <a:ln w="15875">
            <a:solidFill>
              <a:srgbClr val="FF6B6B"/>
            </a:solidFill>
            <a:prstDash val="solid"/>
          </a:ln>
        </p:spPr>
      </p:sp>
      <p:pic>
        <p:nvPicPr>
          <p:cNvPr id="8" name="Image 0" descr="/home/claude/lpie/assets/alert_red.png">    </p:cNvPr>
          <p:cNvPicPr>
            <a:picLocks noChangeAspect="1"/>
          </p:cNvPicPr>
          <p:nvPr/>
        </p:nvPicPr>
        <p:blipFill>
          <a:blip r:embed="rId1"/>
          <a:stretch>
            <a:fillRect/>
          </a:stretch>
        </p:blipFill>
        <p:spPr>
          <a:xfrm>
            <a:off x="593263" y="1553383"/>
            <a:ext cx="294803" cy="294803"/>
          </a:xfrm>
          <a:prstGeom prst="rect">
            <a:avLst/>
          </a:prstGeom>
        </p:spPr>
      </p:pic>
      <p:sp>
        <p:nvSpPr>
          <p:cNvPr id="9" name="Text 6"/>
          <p:cNvSpPr/>
          <p:nvPr/>
        </p:nvSpPr>
        <p:spPr>
          <a:xfrm>
            <a:off x="1188720" y="1399032"/>
            <a:ext cx="566928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Manual reviews miss early risk</a:t>
            </a:r>
            <a:endParaRPr lang="en-US" sz="1450" dirty="0"/>
          </a:p>
        </p:txBody>
      </p:sp>
      <p:sp>
        <p:nvSpPr>
          <p:cNvPr id="10" name="Text 7"/>
          <p:cNvSpPr/>
          <p:nvPr/>
        </p:nvSpPr>
        <p:spPr>
          <a:xfrm>
            <a:off x="1188720" y="1709928"/>
            <a:ext cx="5669280" cy="685800"/>
          </a:xfrm>
          <a:prstGeom prst="rect">
            <a:avLst/>
          </a:prstGeom>
          <a:noFill/>
          <a:ln/>
        </p:spPr>
        <p:txBody>
          <a:bodyPr wrap="square" rtlCol="0" anchor="ctr"/>
          <a:lstStyle/>
          <a:p>
            <a:pPr indent="0" marL="0">
              <a:lnSpc>
                <a:spcPct val="112000"/>
              </a:lnSpc>
              <a:buNone/>
            </a:pPr>
            <a:r>
              <a:rPr lang="en-US" sz="1150" dirty="0">
                <a:solidFill>
                  <a:srgbClr val="9FB2C8"/>
                </a:solidFill>
                <a:latin typeface="Calibri" pitchFamily="34" charset="0"/>
                <a:ea typeface="Calibri" pitchFamily="34" charset="-122"/>
                <a:cs typeface="Calibri" pitchFamily="34" charset="-120"/>
              </a:rPr>
              <a:t>Legacy mortgage surveillance relies on manual, rule-based reviews that miss 30–40% of early-stage delinquencies.</a:t>
            </a:r>
            <a:endParaRPr lang="en-US" sz="1150" dirty="0"/>
          </a:p>
        </p:txBody>
      </p:sp>
      <p:sp>
        <p:nvSpPr>
          <p:cNvPr id="11" name="Shape 8"/>
          <p:cNvSpPr/>
          <p:nvPr/>
        </p:nvSpPr>
        <p:spPr>
          <a:xfrm>
            <a:off x="457200" y="2587752"/>
            <a:ext cx="566928" cy="566928"/>
          </a:xfrm>
          <a:prstGeom prst="ellipse">
            <a:avLst/>
          </a:prstGeom>
          <a:solidFill>
            <a:srgbClr val="17233A"/>
          </a:solidFill>
          <a:ln w="15875">
            <a:solidFill>
              <a:srgbClr val="FF6B6B"/>
            </a:solidFill>
            <a:prstDash val="solid"/>
          </a:ln>
        </p:spPr>
      </p:sp>
      <p:pic>
        <p:nvPicPr>
          <p:cNvPr id="12" name="Image 1" descr="/home/claude/lpie/assets/alert_red.png">    </p:cNvPr>
          <p:cNvPicPr>
            <a:picLocks noChangeAspect="1"/>
          </p:cNvPicPr>
          <p:nvPr/>
        </p:nvPicPr>
        <p:blipFill>
          <a:blip r:embed="rId2"/>
          <a:stretch>
            <a:fillRect/>
          </a:stretch>
        </p:blipFill>
        <p:spPr>
          <a:xfrm>
            <a:off x="593263" y="2723815"/>
            <a:ext cx="294803" cy="294803"/>
          </a:xfrm>
          <a:prstGeom prst="rect">
            <a:avLst/>
          </a:prstGeom>
        </p:spPr>
      </p:pic>
      <p:sp>
        <p:nvSpPr>
          <p:cNvPr id="13" name="Text 9"/>
          <p:cNvSpPr/>
          <p:nvPr/>
        </p:nvSpPr>
        <p:spPr>
          <a:xfrm>
            <a:off x="1188720" y="2569464"/>
            <a:ext cx="566928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Competing risks are ignored</a:t>
            </a:r>
            <a:endParaRPr lang="en-US" sz="1450" dirty="0"/>
          </a:p>
        </p:txBody>
      </p:sp>
      <p:sp>
        <p:nvSpPr>
          <p:cNvPr id="14" name="Text 10"/>
          <p:cNvSpPr/>
          <p:nvPr/>
        </p:nvSpPr>
        <p:spPr>
          <a:xfrm>
            <a:off x="1188720" y="2880360"/>
            <a:ext cx="5669280" cy="685800"/>
          </a:xfrm>
          <a:prstGeom prst="rect">
            <a:avLst/>
          </a:prstGeom>
          <a:noFill/>
          <a:ln/>
        </p:spPr>
        <p:txBody>
          <a:bodyPr wrap="square" rtlCol="0" anchor="ctr"/>
          <a:lstStyle/>
          <a:p>
            <a:pPr indent="0" marL="0">
              <a:lnSpc>
                <a:spcPct val="112000"/>
              </a:lnSpc>
              <a:buNone/>
            </a:pPr>
            <a:r>
              <a:rPr lang="en-US" sz="1150" dirty="0">
                <a:solidFill>
                  <a:srgbClr val="9FB2C8"/>
                </a:solidFill>
                <a:latin typeface="Calibri" pitchFamily="34" charset="0"/>
                <a:ea typeface="Calibri" pitchFamily="34" charset="-122"/>
                <a:cs typeface="Calibri" pitchFamily="34" charset="-120"/>
              </a:rPr>
              <a:t>Existing models treat prepayment and default as independent events, ignoring competing-risk censoring bias.</a:t>
            </a:r>
            <a:endParaRPr lang="en-US" sz="1150" dirty="0"/>
          </a:p>
        </p:txBody>
      </p:sp>
      <p:sp>
        <p:nvSpPr>
          <p:cNvPr id="15" name="Shape 11"/>
          <p:cNvSpPr/>
          <p:nvPr/>
        </p:nvSpPr>
        <p:spPr>
          <a:xfrm>
            <a:off x="457200" y="3758184"/>
            <a:ext cx="566928" cy="566928"/>
          </a:xfrm>
          <a:prstGeom prst="ellipse">
            <a:avLst/>
          </a:prstGeom>
          <a:solidFill>
            <a:srgbClr val="17233A"/>
          </a:solidFill>
          <a:ln w="15875">
            <a:solidFill>
              <a:srgbClr val="FF6B6B"/>
            </a:solidFill>
            <a:prstDash val="solid"/>
          </a:ln>
        </p:spPr>
      </p:sp>
      <p:pic>
        <p:nvPicPr>
          <p:cNvPr id="16" name="Image 2" descr="/home/claude/lpie/assets/alert_red.png">    </p:cNvPr>
          <p:cNvPicPr>
            <a:picLocks noChangeAspect="1"/>
          </p:cNvPicPr>
          <p:nvPr/>
        </p:nvPicPr>
        <p:blipFill>
          <a:blip r:embed="rId3"/>
          <a:stretch>
            <a:fillRect/>
          </a:stretch>
        </p:blipFill>
        <p:spPr>
          <a:xfrm>
            <a:off x="593263" y="3894247"/>
            <a:ext cx="294803" cy="294803"/>
          </a:xfrm>
          <a:prstGeom prst="rect">
            <a:avLst/>
          </a:prstGeom>
        </p:spPr>
      </p:pic>
      <p:sp>
        <p:nvSpPr>
          <p:cNvPr id="17" name="Text 12"/>
          <p:cNvSpPr/>
          <p:nvPr/>
        </p:nvSpPr>
        <p:spPr>
          <a:xfrm>
            <a:off x="1188720" y="3739896"/>
            <a:ext cx="566928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Servicer errors go undetected</a:t>
            </a:r>
            <a:endParaRPr lang="en-US" sz="1450" dirty="0"/>
          </a:p>
        </p:txBody>
      </p:sp>
      <p:sp>
        <p:nvSpPr>
          <p:cNvPr id="18" name="Text 13"/>
          <p:cNvSpPr/>
          <p:nvPr/>
        </p:nvSpPr>
        <p:spPr>
          <a:xfrm>
            <a:off x="1188720" y="4050792"/>
            <a:ext cx="5669280" cy="685800"/>
          </a:xfrm>
          <a:prstGeom prst="rect">
            <a:avLst/>
          </a:prstGeom>
          <a:noFill/>
          <a:ln/>
        </p:spPr>
        <p:txBody>
          <a:bodyPr wrap="square" rtlCol="0" anchor="ctr"/>
          <a:lstStyle/>
          <a:p>
            <a:pPr indent="0" marL="0">
              <a:lnSpc>
                <a:spcPct val="112000"/>
              </a:lnSpc>
              <a:buNone/>
            </a:pPr>
            <a:r>
              <a:rPr lang="en-US" sz="1150" dirty="0">
                <a:solidFill>
                  <a:srgbClr val="9FB2C8"/>
                </a:solidFill>
                <a:latin typeface="Calibri" pitchFamily="34" charset="0"/>
                <a:ea typeface="Calibri" pitchFamily="34" charset="-122"/>
                <a:cs typeface="Calibri" pitchFamily="34" charset="-120"/>
              </a:rPr>
              <a:t>No automated detection of servicer reconciliation errors, stale records, and data-entry anomalies.</a:t>
            </a:r>
            <a:endParaRPr lang="en-US" sz="1150" dirty="0"/>
          </a:p>
        </p:txBody>
      </p:sp>
      <p:sp>
        <p:nvSpPr>
          <p:cNvPr id="19" name="Shape 14"/>
          <p:cNvSpPr/>
          <p:nvPr/>
        </p:nvSpPr>
        <p:spPr>
          <a:xfrm>
            <a:off x="457200" y="4928616"/>
            <a:ext cx="566928" cy="566928"/>
          </a:xfrm>
          <a:prstGeom prst="ellipse">
            <a:avLst/>
          </a:prstGeom>
          <a:solidFill>
            <a:srgbClr val="17233A"/>
          </a:solidFill>
          <a:ln w="15875">
            <a:solidFill>
              <a:srgbClr val="FF6B6B"/>
            </a:solidFill>
            <a:prstDash val="solid"/>
          </a:ln>
        </p:spPr>
      </p:sp>
      <p:pic>
        <p:nvPicPr>
          <p:cNvPr id="20" name="Image 3" descr="/home/claude/lpie/assets/alert_red.png">    </p:cNvPr>
          <p:cNvPicPr>
            <a:picLocks noChangeAspect="1"/>
          </p:cNvPicPr>
          <p:nvPr/>
        </p:nvPicPr>
        <p:blipFill>
          <a:blip r:embed="rId4"/>
          <a:stretch>
            <a:fillRect/>
          </a:stretch>
        </p:blipFill>
        <p:spPr>
          <a:xfrm>
            <a:off x="593263" y="5064679"/>
            <a:ext cx="294803" cy="294803"/>
          </a:xfrm>
          <a:prstGeom prst="rect">
            <a:avLst/>
          </a:prstGeom>
        </p:spPr>
      </p:pic>
      <p:sp>
        <p:nvSpPr>
          <p:cNvPr id="21" name="Text 15"/>
          <p:cNvSpPr/>
          <p:nvPr/>
        </p:nvSpPr>
        <p:spPr>
          <a:xfrm>
            <a:off x="1188720" y="4910328"/>
            <a:ext cx="566928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Unauditable AI narratives</a:t>
            </a:r>
            <a:endParaRPr lang="en-US" sz="1450" dirty="0"/>
          </a:p>
        </p:txBody>
      </p:sp>
      <p:sp>
        <p:nvSpPr>
          <p:cNvPr id="22" name="Text 16"/>
          <p:cNvSpPr/>
          <p:nvPr/>
        </p:nvSpPr>
        <p:spPr>
          <a:xfrm>
            <a:off x="1188720" y="5221224"/>
            <a:ext cx="5669280" cy="685800"/>
          </a:xfrm>
          <a:prstGeom prst="rect">
            <a:avLst/>
          </a:prstGeom>
          <a:noFill/>
          <a:ln/>
        </p:spPr>
        <p:txBody>
          <a:bodyPr wrap="square" rtlCol="0" anchor="ctr"/>
          <a:lstStyle/>
          <a:p>
            <a:pPr indent="0" marL="0">
              <a:lnSpc>
                <a:spcPct val="112000"/>
              </a:lnSpc>
              <a:buNone/>
            </a:pPr>
            <a:r>
              <a:rPr lang="en-US" sz="1150" dirty="0">
                <a:solidFill>
                  <a:srgbClr val="9FB2C8"/>
                </a:solidFill>
                <a:latin typeface="Calibri" pitchFamily="34" charset="0"/>
                <a:ea typeface="Calibri" pitchFamily="34" charset="-122"/>
                <a:cs typeface="Calibri" pitchFamily="34" charset="-120"/>
              </a:rPr>
              <a:t>LLM-generated reviewer notes hallucinate credit facts with zero auditability.</a:t>
            </a:r>
            <a:endParaRPr lang="en-US" sz="1150" dirty="0"/>
          </a:p>
        </p:txBody>
      </p:sp>
      <p:sp>
        <p:nvSpPr>
          <p:cNvPr id="23" name="Shape 17"/>
          <p:cNvSpPr/>
          <p:nvPr/>
        </p:nvSpPr>
        <p:spPr>
          <a:xfrm>
            <a:off x="7269480" y="1417320"/>
            <a:ext cx="4434840" cy="2148840"/>
          </a:xfrm>
          <a:prstGeom prst="roundRect">
            <a:avLst>
              <a:gd name="adj" fmla="val 3830"/>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4" name="Text 18"/>
          <p:cNvSpPr/>
          <p:nvPr/>
        </p:nvSpPr>
        <p:spPr>
          <a:xfrm>
            <a:off x="7589520" y="1627632"/>
            <a:ext cx="3794760" cy="274320"/>
          </a:xfrm>
          <a:prstGeom prst="rect">
            <a:avLst/>
          </a:prstGeom>
          <a:noFill/>
          <a:ln/>
        </p:spPr>
        <p:txBody>
          <a:bodyPr wrap="square" rtlCol="0" anchor="ctr"/>
          <a:lstStyle/>
          <a:p>
            <a:pPr indent="0" marL="0">
              <a:buNone/>
            </a:pPr>
            <a:r>
              <a:rPr lang="en-US" sz="1150" b="1" spc="120" kern="0" dirty="0">
                <a:solidFill>
                  <a:srgbClr val="FF6B6B"/>
                </a:solidFill>
                <a:latin typeface="Calibri" pitchFamily="34" charset="0"/>
                <a:ea typeface="Calibri" pitchFamily="34" charset="-122"/>
                <a:cs typeface="Calibri" pitchFamily="34" charset="-120"/>
              </a:rPr>
              <a:t>BEFORE · MANUAL</a:t>
            </a:r>
            <a:endParaRPr lang="en-US" sz="1150" dirty="0"/>
          </a:p>
        </p:txBody>
      </p:sp>
      <p:sp>
        <p:nvSpPr>
          <p:cNvPr id="25" name="Text 19"/>
          <p:cNvSpPr/>
          <p:nvPr/>
        </p:nvSpPr>
        <p:spPr>
          <a:xfrm>
            <a:off x="7589520" y="1965960"/>
            <a:ext cx="3794760" cy="32004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Rule-based spreadsheet reviews</a:t>
            </a:r>
            <a:endParaRPr lang="en-US" sz="1150" dirty="0"/>
          </a:p>
        </p:txBody>
      </p:sp>
      <p:sp>
        <p:nvSpPr>
          <p:cNvPr id="26" name="Text 20"/>
          <p:cNvSpPr/>
          <p:nvPr/>
        </p:nvSpPr>
        <p:spPr>
          <a:xfrm>
            <a:off x="7589520" y="2331720"/>
            <a:ext cx="3794760" cy="32004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Independent risk assumptions</a:t>
            </a:r>
            <a:endParaRPr lang="en-US" sz="1150" dirty="0"/>
          </a:p>
        </p:txBody>
      </p:sp>
      <p:sp>
        <p:nvSpPr>
          <p:cNvPr id="27" name="Text 21"/>
          <p:cNvSpPr/>
          <p:nvPr/>
        </p:nvSpPr>
        <p:spPr>
          <a:xfrm>
            <a:off x="7589520" y="2697480"/>
            <a:ext cx="3794760" cy="32004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Blind spots on stale records</a:t>
            </a:r>
            <a:endParaRPr lang="en-US" sz="1150" dirty="0"/>
          </a:p>
        </p:txBody>
      </p:sp>
      <p:sp>
        <p:nvSpPr>
          <p:cNvPr id="28" name="Text 22"/>
          <p:cNvSpPr/>
          <p:nvPr/>
        </p:nvSpPr>
        <p:spPr>
          <a:xfrm>
            <a:off x="7589520" y="3063240"/>
            <a:ext cx="3794760" cy="32004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Ungrounded AI commentary</a:t>
            </a:r>
            <a:endParaRPr lang="en-US" sz="1150" dirty="0"/>
          </a:p>
        </p:txBody>
      </p:sp>
      <p:sp>
        <p:nvSpPr>
          <p:cNvPr id="29" name="Shape 23"/>
          <p:cNvSpPr/>
          <p:nvPr/>
        </p:nvSpPr>
        <p:spPr>
          <a:xfrm>
            <a:off x="7269480" y="3794760"/>
            <a:ext cx="4434840" cy="2148840"/>
          </a:xfrm>
          <a:prstGeom prst="roundRect">
            <a:avLst>
              <a:gd name="adj" fmla="val 3830"/>
            </a:avLst>
          </a:prstGeom>
          <a:solidFill>
            <a:srgbClr val="17233A"/>
          </a:solidFill>
          <a:ln w="12700">
            <a:solidFill>
              <a:srgbClr val="0EA5A0"/>
            </a:solidFill>
            <a:prstDash val="solid"/>
          </a:ln>
          <a:effectLst>
            <a:outerShdw sx="100000" sy="100000" kx="0" ky="0" algn="bl" rotWithShape="0" blurRad="101600" dist="38100" dir="5400000">
              <a:srgbClr val="000000">
                <a:alpha val="35000"/>
              </a:srgbClr>
            </a:outerShdw>
          </a:effectLst>
        </p:spPr>
      </p:sp>
      <p:sp>
        <p:nvSpPr>
          <p:cNvPr id="30" name="Text 24"/>
          <p:cNvSpPr/>
          <p:nvPr/>
        </p:nvSpPr>
        <p:spPr>
          <a:xfrm>
            <a:off x="7589520" y="4005072"/>
            <a:ext cx="3794760" cy="274320"/>
          </a:xfrm>
          <a:prstGeom prst="rect">
            <a:avLst/>
          </a:prstGeom>
          <a:noFill/>
          <a:ln/>
        </p:spPr>
        <p:txBody>
          <a:bodyPr wrap="square" rtlCol="0" anchor="ctr"/>
          <a:lstStyle/>
          <a:p>
            <a:pPr indent="0" marL="0">
              <a:buNone/>
            </a:pPr>
            <a:r>
              <a:rPr lang="en-US" sz="1150" b="1" spc="120" kern="0" dirty="0">
                <a:solidFill>
                  <a:srgbClr val="00E5C7"/>
                </a:solidFill>
                <a:latin typeface="Calibri" pitchFamily="34" charset="0"/>
                <a:ea typeface="Calibri" pitchFamily="34" charset="-122"/>
                <a:cs typeface="Calibri" pitchFamily="34" charset="-120"/>
              </a:rPr>
              <a:t>AFTER · LPIE</a:t>
            </a:r>
            <a:endParaRPr lang="en-US" sz="1150" dirty="0"/>
          </a:p>
        </p:txBody>
      </p:sp>
      <p:sp>
        <p:nvSpPr>
          <p:cNvPr id="31" name="Text 25"/>
          <p:cNvSpPr/>
          <p:nvPr/>
        </p:nvSpPr>
        <p:spPr>
          <a:xfrm>
            <a:off x="7589520" y="4343400"/>
            <a:ext cx="379476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Calibrated ML on 34K+ loans</a:t>
            </a:r>
            <a:endParaRPr lang="en-US" sz="1150" dirty="0"/>
          </a:p>
        </p:txBody>
      </p:sp>
      <p:sp>
        <p:nvSpPr>
          <p:cNvPr id="32" name="Text 26"/>
          <p:cNvSpPr/>
          <p:nvPr/>
        </p:nvSpPr>
        <p:spPr>
          <a:xfrm>
            <a:off x="7589520" y="4709160"/>
            <a:ext cx="379476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Competing-risks survival modeling</a:t>
            </a:r>
            <a:endParaRPr lang="en-US" sz="1150" dirty="0"/>
          </a:p>
        </p:txBody>
      </p:sp>
      <p:sp>
        <p:nvSpPr>
          <p:cNvPr id="33" name="Text 27"/>
          <p:cNvSpPr/>
          <p:nvPr/>
        </p:nvSpPr>
        <p:spPr>
          <a:xfrm>
            <a:off x="7589520" y="5074920"/>
            <a:ext cx="379476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Hybrid rules + Isolation Forest</a:t>
            </a:r>
            <a:endParaRPr lang="en-US" sz="1150" dirty="0"/>
          </a:p>
        </p:txBody>
      </p:sp>
      <p:sp>
        <p:nvSpPr>
          <p:cNvPr id="34" name="Text 28"/>
          <p:cNvSpPr/>
          <p:nvPr/>
        </p:nvSpPr>
        <p:spPr>
          <a:xfrm>
            <a:off x="7589520" y="5440680"/>
            <a:ext cx="3794760" cy="32004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SHAP-grounded, zero-hallucination notes</a:t>
            </a:r>
            <a:endParaRPr lang="en-US" sz="1150" dirty="0"/>
          </a:p>
        </p:txBody>
      </p:sp>
      <p:sp>
        <p:nvSpPr>
          <p:cNvPr id="35" name="Text 29"/>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36" name="Text 30"/>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2 / 12</a:t>
            </a:r>
            <a:endParaRPr lang="en-US" sz="85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SOLUTION ARCHITECTURE</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End-to-End Intelligence Pipeline</a:t>
            </a:r>
            <a:endParaRPr lang="en-US" sz="3000" dirty="0"/>
          </a:p>
        </p:txBody>
      </p:sp>
      <p:sp>
        <p:nvSpPr>
          <p:cNvPr id="7" name="Shape 5"/>
          <p:cNvSpPr/>
          <p:nvPr/>
        </p:nvSpPr>
        <p:spPr>
          <a:xfrm>
            <a:off x="457200" y="14173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621792" y="1751076"/>
            <a:ext cx="502920" cy="502920"/>
          </a:xfrm>
          <a:prstGeom prst="ellipse">
            <a:avLst/>
          </a:prstGeom>
          <a:solidFill>
            <a:srgbClr val="17233A"/>
          </a:solidFill>
          <a:ln w="15875">
            <a:solidFill>
              <a:srgbClr val="00E5C7"/>
            </a:solidFill>
            <a:prstDash val="solid"/>
          </a:ln>
        </p:spPr>
      </p:sp>
      <p:pic>
        <p:nvPicPr>
          <p:cNvPr id="9" name="Image 0" descr="/home/claude/lpie/assets/database_teal.png">    </p:cNvPr>
          <p:cNvPicPr>
            <a:picLocks noChangeAspect="1"/>
          </p:cNvPicPr>
          <p:nvPr/>
        </p:nvPicPr>
        <p:blipFill>
          <a:blip r:embed="rId1"/>
          <a:stretch>
            <a:fillRect/>
          </a:stretch>
        </p:blipFill>
        <p:spPr>
          <a:xfrm>
            <a:off x="734949" y="1864233"/>
            <a:ext cx="276606" cy="276606"/>
          </a:xfrm>
          <a:prstGeom prst="rect">
            <a:avLst/>
          </a:prstGeom>
        </p:spPr>
      </p:pic>
      <p:sp>
        <p:nvSpPr>
          <p:cNvPr id="10" name="Text 7"/>
          <p:cNvSpPr/>
          <p:nvPr/>
        </p:nvSpPr>
        <p:spPr>
          <a:xfrm>
            <a:off x="3477768" y="14904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01</a:t>
            </a:r>
            <a:endParaRPr lang="en-US" sz="1100" dirty="0"/>
          </a:p>
        </p:txBody>
      </p:sp>
      <p:sp>
        <p:nvSpPr>
          <p:cNvPr id="11" name="Text 8"/>
          <p:cNvSpPr/>
          <p:nvPr/>
        </p:nvSpPr>
        <p:spPr>
          <a:xfrm>
            <a:off x="1234440" y="15819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Raw Loan Tapes</a:t>
            </a:r>
            <a:endParaRPr lang="en-US" sz="1250" dirty="0"/>
          </a:p>
        </p:txBody>
      </p:sp>
      <p:sp>
        <p:nvSpPr>
          <p:cNvPr id="12" name="Text 9"/>
          <p:cNvSpPr/>
          <p:nvPr/>
        </p:nvSpPr>
        <p:spPr>
          <a:xfrm>
            <a:off x="1234440" y="20756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34,285 records</a:t>
            </a:r>
            <a:endParaRPr lang="en-US" sz="1000" dirty="0"/>
          </a:p>
        </p:txBody>
      </p:sp>
      <p:sp>
        <p:nvSpPr>
          <p:cNvPr id="13" name="Shape 10"/>
          <p:cNvSpPr/>
          <p:nvPr/>
        </p:nvSpPr>
        <p:spPr>
          <a:xfrm>
            <a:off x="4273296" y="14173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4" name="Shape 11"/>
          <p:cNvSpPr/>
          <p:nvPr/>
        </p:nvSpPr>
        <p:spPr>
          <a:xfrm>
            <a:off x="4437888" y="1751076"/>
            <a:ext cx="502920" cy="502920"/>
          </a:xfrm>
          <a:prstGeom prst="ellipse">
            <a:avLst/>
          </a:prstGeom>
          <a:solidFill>
            <a:srgbClr val="17233A"/>
          </a:solidFill>
          <a:ln w="15875">
            <a:solidFill>
              <a:srgbClr val="00E5C7"/>
            </a:solidFill>
            <a:prstDash val="solid"/>
          </a:ln>
        </p:spPr>
      </p:sp>
      <p:pic>
        <p:nvPicPr>
          <p:cNvPr id="15" name="Image 1" descr="/home/claude/lpie/assets/search_teal.png">    </p:cNvPr>
          <p:cNvPicPr>
            <a:picLocks noChangeAspect="1"/>
          </p:cNvPicPr>
          <p:nvPr/>
        </p:nvPicPr>
        <p:blipFill>
          <a:blip r:embed="rId2"/>
          <a:stretch>
            <a:fillRect/>
          </a:stretch>
        </p:blipFill>
        <p:spPr>
          <a:xfrm>
            <a:off x="4551045" y="1864233"/>
            <a:ext cx="276606" cy="276606"/>
          </a:xfrm>
          <a:prstGeom prst="rect">
            <a:avLst/>
          </a:prstGeom>
        </p:spPr>
      </p:pic>
      <p:sp>
        <p:nvSpPr>
          <p:cNvPr id="16" name="Text 12"/>
          <p:cNvSpPr/>
          <p:nvPr/>
        </p:nvSpPr>
        <p:spPr>
          <a:xfrm>
            <a:off x="7293864" y="14904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02</a:t>
            </a:r>
            <a:endParaRPr lang="en-US" sz="1100" dirty="0"/>
          </a:p>
        </p:txBody>
      </p:sp>
      <p:sp>
        <p:nvSpPr>
          <p:cNvPr id="17" name="Text 13"/>
          <p:cNvSpPr/>
          <p:nvPr/>
        </p:nvSpPr>
        <p:spPr>
          <a:xfrm>
            <a:off x="5050536" y="15819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Data Quality Profiler</a:t>
            </a:r>
            <a:endParaRPr lang="en-US" sz="1250" dirty="0"/>
          </a:p>
        </p:txBody>
      </p:sp>
      <p:sp>
        <p:nvSpPr>
          <p:cNvPr id="18" name="Text 14"/>
          <p:cNvSpPr/>
          <p:nvPr/>
        </p:nvSpPr>
        <p:spPr>
          <a:xfrm>
            <a:off x="5050536" y="20756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DQI 97.66 / 100</a:t>
            </a:r>
            <a:endParaRPr lang="en-US" sz="1000" dirty="0"/>
          </a:p>
        </p:txBody>
      </p:sp>
      <p:sp>
        <p:nvSpPr>
          <p:cNvPr id="19" name="Shape 15"/>
          <p:cNvSpPr/>
          <p:nvPr/>
        </p:nvSpPr>
        <p:spPr>
          <a:xfrm>
            <a:off x="8089392" y="14173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0" name="Shape 16"/>
          <p:cNvSpPr/>
          <p:nvPr/>
        </p:nvSpPr>
        <p:spPr>
          <a:xfrm>
            <a:off x="8253984" y="1751076"/>
            <a:ext cx="502920" cy="502920"/>
          </a:xfrm>
          <a:prstGeom prst="ellipse">
            <a:avLst/>
          </a:prstGeom>
          <a:solidFill>
            <a:srgbClr val="17233A"/>
          </a:solidFill>
          <a:ln w="15875">
            <a:solidFill>
              <a:srgbClr val="00E5C7"/>
            </a:solidFill>
            <a:prstDash val="solid"/>
          </a:ln>
        </p:spPr>
      </p:sp>
      <p:pic>
        <p:nvPicPr>
          <p:cNvPr id="21" name="Image 2" descr="/home/claude/lpie/assets/layers_teal.png">    </p:cNvPr>
          <p:cNvPicPr>
            <a:picLocks noChangeAspect="1"/>
          </p:cNvPicPr>
          <p:nvPr/>
        </p:nvPicPr>
        <p:blipFill>
          <a:blip r:embed="rId3"/>
          <a:stretch>
            <a:fillRect/>
          </a:stretch>
        </p:blipFill>
        <p:spPr>
          <a:xfrm>
            <a:off x="8367141" y="1864233"/>
            <a:ext cx="276606" cy="276606"/>
          </a:xfrm>
          <a:prstGeom prst="rect">
            <a:avLst/>
          </a:prstGeom>
        </p:spPr>
      </p:pic>
      <p:sp>
        <p:nvSpPr>
          <p:cNvPr id="22" name="Text 17"/>
          <p:cNvSpPr/>
          <p:nvPr/>
        </p:nvSpPr>
        <p:spPr>
          <a:xfrm>
            <a:off x="11109960" y="14904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03</a:t>
            </a:r>
            <a:endParaRPr lang="en-US" sz="1100" dirty="0"/>
          </a:p>
        </p:txBody>
      </p:sp>
      <p:sp>
        <p:nvSpPr>
          <p:cNvPr id="23" name="Text 18"/>
          <p:cNvSpPr/>
          <p:nvPr/>
        </p:nvSpPr>
        <p:spPr>
          <a:xfrm>
            <a:off x="8866632" y="15819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Feature Engineering</a:t>
            </a:r>
            <a:endParaRPr lang="en-US" sz="1250" dirty="0"/>
          </a:p>
        </p:txBody>
      </p:sp>
      <p:sp>
        <p:nvSpPr>
          <p:cNvPr id="24" name="Text 19"/>
          <p:cNvSpPr/>
          <p:nvPr/>
        </p:nvSpPr>
        <p:spPr>
          <a:xfrm>
            <a:off x="8866632" y="20756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12 features, leakage-safe</a:t>
            </a:r>
            <a:endParaRPr lang="en-US" sz="1000" dirty="0"/>
          </a:p>
        </p:txBody>
      </p:sp>
      <p:sp>
        <p:nvSpPr>
          <p:cNvPr id="25" name="Shape 20"/>
          <p:cNvSpPr/>
          <p:nvPr/>
        </p:nvSpPr>
        <p:spPr>
          <a:xfrm>
            <a:off x="457200" y="27889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6" name="Shape 21"/>
          <p:cNvSpPr/>
          <p:nvPr/>
        </p:nvSpPr>
        <p:spPr>
          <a:xfrm>
            <a:off x="621792" y="3122676"/>
            <a:ext cx="502920" cy="502920"/>
          </a:xfrm>
          <a:prstGeom prst="ellipse">
            <a:avLst/>
          </a:prstGeom>
          <a:solidFill>
            <a:srgbClr val="17233A"/>
          </a:solidFill>
          <a:ln w="15875">
            <a:solidFill>
              <a:srgbClr val="00E5C7"/>
            </a:solidFill>
            <a:prstDash val="solid"/>
          </a:ln>
        </p:spPr>
      </p:sp>
      <p:pic>
        <p:nvPicPr>
          <p:cNvPr id="27" name="Image 3" descr="/home/claude/lpie/assets/clock_teal.png">    </p:cNvPr>
          <p:cNvPicPr>
            <a:picLocks noChangeAspect="1"/>
          </p:cNvPicPr>
          <p:nvPr/>
        </p:nvPicPr>
        <p:blipFill>
          <a:blip r:embed="rId4"/>
          <a:stretch>
            <a:fillRect/>
          </a:stretch>
        </p:blipFill>
        <p:spPr>
          <a:xfrm>
            <a:off x="734949" y="3235833"/>
            <a:ext cx="276606" cy="276606"/>
          </a:xfrm>
          <a:prstGeom prst="rect">
            <a:avLst/>
          </a:prstGeom>
        </p:spPr>
      </p:pic>
      <p:sp>
        <p:nvSpPr>
          <p:cNvPr id="28" name="Text 22"/>
          <p:cNvSpPr/>
          <p:nvPr/>
        </p:nvSpPr>
        <p:spPr>
          <a:xfrm>
            <a:off x="3477768" y="28620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04</a:t>
            </a:r>
            <a:endParaRPr lang="en-US" sz="1100" dirty="0"/>
          </a:p>
        </p:txBody>
      </p:sp>
      <p:sp>
        <p:nvSpPr>
          <p:cNvPr id="29" name="Text 23"/>
          <p:cNvSpPr/>
          <p:nvPr/>
        </p:nvSpPr>
        <p:spPr>
          <a:xfrm>
            <a:off x="1234440" y="29535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Out-of-Time Validation</a:t>
            </a:r>
            <a:endParaRPr lang="en-US" sz="1250" dirty="0"/>
          </a:p>
        </p:txBody>
      </p:sp>
      <p:sp>
        <p:nvSpPr>
          <p:cNvPr id="30" name="Text 24"/>
          <p:cNvSpPr/>
          <p:nvPr/>
        </p:nvSpPr>
        <p:spPr>
          <a:xfrm>
            <a:off x="1234440" y="34472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'22-01–'23-10 | '23-11–'24-04</a:t>
            </a:r>
            <a:endParaRPr lang="en-US" sz="1000" dirty="0"/>
          </a:p>
        </p:txBody>
      </p:sp>
      <p:sp>
        <p:nvSpPr>
          <p:cNvPr id="31" name="Shape 25"/>
          <p:cNvSpPr/>
          <p:nvPr/>
        </p:nvSpPr>
        <p:spPr>
          <a:xfrm>
            <a:off x="4273296" y="27889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2" name="Shape 26"/>
          <p:cNvSpPr/>
          <p:nvPr/>
        </p:nvSpPr>
        <p:spPr>
          <a:xfrm>
            <a:off x="4437888" y="3122676"/>
            <a:ext cx="502920" cy="502920"/>
          </a:xfrm>
          <a:prstGeom prst="ellipse">
            <a:avLst/>
          </a:prstGeom>
          <a:solidFill>
            <a:srgbClr val="17233A"/>
          </a:solidFill>
          <a:ln w="15875">
            <a:solidFill>
              <a:srgbClr val="00E5C7"/>
            </a:solidFill>
            <a:prstDash val="solid"/>
          </a:ln>
        </p:spPr>
      </p:sp>
      <p:pic>
        <p:nvPicPr>
          <p:cNvPr id="33" name="Image 4" descr="/home/claude/lpie/assets/cpu_teal.png">    </p:cNvPr>
          <p:cNvPicPr>
            <a:picLocks noChangeAspect="1"/>
          </p:cNvPicPr>
          <p:nvPr/>
        </p:nvPicPr>
        <p:blipFill>
          <a:blip r:embed="rId5"/>
          <a:stretch>
            <a:fillRect/>
          </a:stretch>
        </p:blipFill>
        <p:spPr>
          <a:xfrm>
            <a:off x="4551045" y="3235833"/>
            <a:ext cx="276606" cy="276606"/>
          </a:xfrm>
          <a:prstGeom prst="rect">
            <a:avLst/>
          </a:prstGeom>
        </p:spPr>
      </p:pic>
      <p:sp>
        <p:nvSpPr>
          <p:cNvPr id="34" name="Text 27"/>
          <p:cNvSpPr/>
          <p:nvPr/>
        </p:nvSpPr>
        <p:spPr>
          <a:xfrm>
            <a:off x="7293864" y="28620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05</a:t>
            </a:r>
            <a:endParaRPr lang="en-US" sz="1100" dirty="0"/>
          </a:p>
        </p:txBody>
      </p:sp>
      <p:sp>
        <p:nvSpPr>
          <p:cNvPr id="35" name="Text 28"/>
          <p:cNvSpPr/>
          <p:nvPr/>
        </p:nvSpPr>
        <p:spPr>
          <a:xfrm>
            <a:off x="5050536" y="29535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XGBoost + LightGBM</a:t>
            </a:r>
            <a:endParaRPr lang="en-US" sz="1250" dirty="0"/>
          </a:p>
        </p:txBody>
      </p:sp>
      <p:sp>
        <p:nvSpPr>
          <p:cNvPr id="36" name="Text 29"/>
          <p:cNvSpPr/>
          <p:nvPr/>
        </p:nvSpPr>
        <p:spPr>
          <a:xfrm>
            <a:off x="5050536" y="34472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Calibrated ensemble</a:t>
            </a:r>
            <a:endParaRPr lang="en-US" sz="1000" dirty="0"/>
          </a:p>
        </p:txBody>
      </p:sp>
      <p:sp>
        <p:nvSpPr>
          <p:cNvPr id="37" name="Shape 30"/>
          <p:cNvSpPr/>
          <p:nvPr/>
        </p:nvSpPr>
        <p:spPr>
          <a:xfrm>
            <a:off x="8089392" y="27889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8" name="Shape 31"/>
          <p:cNvSpPr/>
          <p:nvPr/>
        </p:nvSpPr>
        <p:spPr>
          <a:xfrm>
            <a:off x="8253984" y="3122676"/>
            <a:ext cx="502920" cy="502920"/>
          </a:xfrm>
          <a:prstGeom prst="ellipse">
            <a:avLst/>
          </a:prstGeom>
          <a:solidFill>
            <a:srgbClr val="17233A"/>
          </a:solidFill>
          <a:ln w="15875">
            <a:solidFill>
              <a:srgbClr val="00E5C7"/>
            </a:solidFill>
            <a:prstDash val="solid"/>
          </a:ln>
        </p:spPr>
      </p:sp>
      <p:pic>
        <p:nvPicPr>
          <p:cNvPr id="39" name="Image 5" descr="/home/claude/lpie/assets/activity_teal.png">    </p:cNvPr>
          <p:cNvPicPr>
            <a:picLocks noChangeAspect="1"/>
          </p:cNvPicPr>
          <p:nvPr/>
        </p:nvPicPr>
        <p:blipFill>
          <a:blip r:embed="rId6"/>
          <a:stretch>
            <a:fillRect/>
          </a:stretch>
        </p:blipFill>
        <p:spPr>
          <a:xfrm>
            <a:off x="8367141" y="3235833"/>
            <a:ext cx="276606" cy="276606"/>
          </a:xfrm>
          <a:prstGeom prst="rect">
            <a:avLst/>
          </a:prstGeom>
        </p:spPr>
      </p:pic>
      <p:sp>
        <p:nvSpPr>
          <p:cNvPr id="40" name="Text 32"/>
          <p:cNvSpPr/>
          <p:nvPr/>
        </p:nvSpPr>
        <p:spPr>
          <a:xfrm>
            <a:off x="11109960" y="28620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06</a:t>
            </a:r>
            <a:endParaRPr lang="en-US" sz="1100" dirty="0"/>
          </a:p>
        </p:txBody>
      </p:sp>
      <p:sp>
        <p:nvSpPr>
          <p:cNvPr id="41" name="Text 33"/>
          <p:cNvSpPr/>
          <p:nvPr/>
        </p:nvSpPr>
        <p:spPr>
          <a:xfrm>
            <a:off x="8866632" y="29535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Competing-Risks Engine</a:t>
            </a:r>
            <a:endParaRPr lang="en-US" sz="1250" dirty="0"/>
          </a:p>
        </p:txBody>
      </p:sp>
      <p:sp>
        <p:nvSpPr>
          <p:cNvPr id="42" name="Text 34"/>
          <p:cNvSpPr/>
          <p:nvPr/>
        </p:nvSpPr>
        <p:spPr>
          <a:xfrm>
            <a:off x="8866632" y="34472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Cox PH + Weibull AFT</a:t>
            </a:r>
            <a:endParaRPr lang="en-US" sz="1000" dirty="0"/>
          </a:p>
        </p:txBody>
      </p:sp>
      <p:sp>
        <p:nvSpPr>
          <p:cNvPr id="43" name="Shape 35"/>
          <p:cNvSpPr/>
          <p:nvPr/>
        </p:nvSpPr>
        <p:spPr>
          <a:xfrm>
            <a:off x="457200" y="41605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44" name="Shape 36"/>
          <p:cNvSpPr/>
          <p:nvPr/>
        </p:nvSpPr>
        <p:spPr>
          <a:xfrm>
            <a:off x="621792" y="4494276"/>
            <a:ext cx="502920" cy="502920"/>
          </a:xfrm>
          <a:prstGeom prst="ellipse">
            <a:avLst/>
          </a:prstGeom>
          <a:solidFill>
            <a:srgbClr val="17233A"/>
          </a:solidFill>
          <a:ln w="15875">
            <a:solidFill>
              <a:srgbClr val="00E5C7"/>
            </a:solidFill>
            <a:prstDash val="solid"/>
          </a:ln>
        </p:spPr>
      </p:sp>
      <p:pic>
        <p:nvPicPr>
          <p:cNvPr id="45" name="Image 6" descr="/home/claude/lpie/assets/target_teal.png">    </p:cNvPr>
          <p:cNvPicPr>
            <a:picLocks noChangeAspect="1"/>
          </p:cNvPicPr>
          <p:nvPr/>
        </p:nvPicPr>
        <p:blipFill>
          <a:blip r:embed="rId7"/>
          <a:stretch>
            <a:fillRect/>
          </a:stretch>
        </p:blipFill>
        <p:spPr>
          <a:xfrm>
            <a:off x="734949" y="4607433"/>
            <a:ext cx="276606" cy="276606"/>
          </a:xfrm>
          <a:prstGeom prst="rect">
            <a:avLst/>
          </a:prstGeom>
        </p:spPr>
      </p:pic>
      <p:sp>
        <p:nvSpPr>
          <p:cNvPr id="46" name="Text 37"/>
          <p:cNvSpPr/>
          <p:nvPr/>
        </p:nvSpPr>
        <p:spPr>
          <a:xfrm>
            <a:off x="3477768" y="42336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07</a:t>
            </a:r>
            <a:endParaRPr lang="en-US" sz="1100" dirty="0"/>
          </a:p>
        </p:txBody>
      </p:sp>
      <p:sp>
        <p:nvSpPr>
          <p:cNvPr id="47" name="Text 38"/>
          <p:cNvSpPr/>
          <p:nvPr/>
        </p:nvSpPr>
        <p:spPr>
          <a:xfrm>
            <a:off x="1234440" y="43251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Hybrid Anomaly Detection</a:t>
            </a:r>
            <a:endParaRPr lang="en-US" sz="1250" dirty="0"/>
          </a:p>
        </p:txBody>
      </p:sp>
      <p:sp>
        <p:nvSpPr>
          <p:cNvPr id="48" name="Text 39"/>
          <p:cNvSpPr/>
          <p:nvPr/>
        </p:nvSpPr>
        <p:spPr>
          <a:xfrm>
            <a:off x="1234440" y="48188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10 rules + Isolation Forest</a:t>
            </a:r>
            <a:endParaRPr lang="en-US" sz="1000" dirty="0"/>
          </a:p>
        </p:txBody>
      </p:sp>
      <p:sp>
        <p:nvSpPr>
          <p:cNvPr id="49" name="Shape 40"/>
          <p:cNvSpPr/>
          <p:nvPr/>
        </p:nvSpPr>
        <p:spPr>
          <a:xfrm>
            <a:off x="4273296" y="41605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50" name="Shape 41"/>
          <p:cNvSpPr/>
          <p:nvPr/>
        </p:nvSpPr>
        <p:spPr>
          <a:xfrm>
            <a:off x="4437888" y="4494276"/>
            <a:ext cx="502920" cy="502920"/>
          </a:xfrm>
          <a:prstGeom prst="ellipse">
            <a:avLst/>
          </a:prstGeom>
          <a:solidFill>
            <a:srgbClr val="17233A"/>
          </a:solidFill>
          <a:ln w="15875">
            <a:solidFill>
              <a:srgbClr val="00E5C7"/>
            </a:solidFill>
            <a:prstDash val="solid"/>
          </a:ln>
        </p:spPr>
      </p:sp>
      <p:pic>
        <p:nvPicPr>
          <p:cNvPr id="51" name="Image 7" descr="/home/claude/lpie/assets/eye_teal.png">    </p:cNvPr>
          <p:cNvPicPr>
            <a:picLocks noChangeAspect="1"/>
          </p:cNvPicPr>
          <p:nvPr/>
        </p:nvPicPr>
        <p:blipFill>
          <a:blip r:embed="rId8"/>
          <a:stretch>
            <a:fillRect/>
          </a:stretch>
        </p:blipFill>
        <p:spPr>
          <a:xfrm>
            <a:off x="4551045" y="4607433"/>
            <a:ext cx="276606" cy="276606"/>
          </a:xfrm>
          <a:prstGeom prst="rect">
            <a:avLst/>
          </a:prstGeom>
        </p:spPr>
      </p:pic>
      <p:sp>
        <p:nvSpPr>
          <p:cNvPr id="52" name="Text 42"/>
          <p:cNvSpPr/>
          <p:nvPr/>
        </p:nvSpPr>
        <p:spPr>
          <a:xfrm>
            <a:off x="7293864" y="42336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08</a:t>
            </a:r>
            <a:endParaRPr lang="en-US" sz="1100" dirty="0"/>
          </a:p>
        </p:txBody>
      </p:sp>
      <p:sp>
        <p:nvSpPr>
          <p:cNvPr id="53" name="Text 43"/>
          <p:cNvSpPr/>
          <p:nvPr/>
        </p:nvSpPr>
        <p:spPr>
          <a:xfrm>
            <a:off x="5050536" y="43251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TreeSHAP Explainability</a:t>
            </a:r>
            <a:endParaRPr lang="en-US" sz="1250" dirty="0"/>
          </a:p>
        </p:txBody>
      </p:sp>
      <p:sp>
        <p:nvSpPr>
          <p:cNvPr id="54" name="Text 44"/>
          <p:cNvSpPr/>
          <p:nvPr/>
        </p:nvSpPr>
        <p:spPr>
          <a:xfrm>
            <a:off x="5050536" y="48188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Responsible AI</a:t>
            </a:r>
            <a:endParaRPr lang="en-US" sz="1000" dirty="0"/>
          </a:p>
        </p:txBody>
      </p:sp>
      <p:sp>
        <p:nvSpPr>
          <p:cNvPr id="55" name="Shape 45"/>
          <p:cNvSpPr/>
          <p:nvPr/>
        </p:nvSpPr>
        <p:spPr>
          <a:xfrm>
            <a:off x="8089392" y="4160520"/>
            <a:ext cx="3614928" cy="1170432"/>
          </a:xfrm>
          <a:prstGeom prst="roundRect">
            <a:avLst>
              <a:gd name="adj" fmla="val 703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56" name="Shape 46"/>
          <p:cNvSpPr/>
          <p:nvPr/>
        </p:nvSpPr>
        <p:spPr>
          <a:xfrm>
            <a:off x="8253984" y="4494276"/>
            <a:ext cx="502920" cy="502920"/>
          </a:xfrm>
          <a:prstGeom prst="ellipse">
            <a:avLst/>
          </a:prstGeom>
          <a:solidFill>
            <a:srgbClr val="17233A"/>
          </a:solidFill>
          <a:ln w="15875">
            <a:solidFill>
              <a:srgbClr val="00E5C7"/>
            </a:solidFill>
            <a:prstDash val="solid"/>
          </a:ln>
        </p:spPr>
      </p:sp>
      <p:pic>
        <p:nvPicPr>
          <p:cNvPr id="57" name="Image 8" descr="/home/claude/lpie/assets/message_teal.png">    </p:cNvPr>
          <p:cNvPicPr>
            <a:picLocks noChangeAspect="1"/>
          </p:cNvPicPr>
          <p:nvPr/>
        </p:nvPicPr>
        <p:blipFill>
          <a:blip r:embed="rId9"/>
          <a:stretch>
            <a:fillRect/>
          </a:stretch>
        </p:blipFill>
        <p:spPr>
          <a:xfrm>
            <a:off x="8367141" y="4607433"/>
            <a:ext cx="276606" cy="276606"/>
          </a:xfrm>
          <a:prstGeom prst="rect">
            <a:avLst/>
          </a:prstGeom>
        </p:spPr>
      </p:pic>
      <p:sp>
        <p:nvSpPr>
          <p:cNvPr id="58" name="Text 47"/>
          <p:cNvSpPr/>
          <p:nvPr/>
        </p:nvSpPr>
        <p:spPr>
          <a:xfrm>
            <a:off x="11109960" y="4233672"/>
            <a:ext cx="457200" cy="274320"/>
          </a:xfrm>
          <a:prstGeom prst="rect">
            <a:avLst/>
          </a:prstGeom>
          <a:noFill/>
          <a:ln/>
        </p:spPr>
        <p:txBody>
          <a:bodyPr wrap="square" rtlCol="0" anchor="ctr"/>
          <a:lstStyle/>
          <a:p>
            <a:pPr algn="r" indent="0" marL="0">
              <a:buNone/>
            </a:pPr>
            <a:r>
              <a:rPr lang="en-US" sz="1100" b="1" dirty="0">
                <a:solidFill>
                  <a:srgbClr val="6B7C93"/>
                </a:solidFill>
                <a:latin typeface="Calibri" pitchFamily="34" charset="0"/>
                <a:ea typeface="Calibri" pitchFamily="34" charset="-122"/>
                <a:cs typeface="Calibri" pitchFamily="34" charset="-120"/>
              </a:rPr>
              <a:t>09</a:t>
            </a:r>
            <a:endParaRPr lang="en-US" sz="1100" dirty="0"/>
          </a:p>
        </p:txBody>
      </p:sp>
      <p:sp>
        <p:nvSpPr>
          <p:cNvPr id="59" name="Text 48"/>
          <p:cNvSpPr/>
          <p:nvPr/>
        </p:nvSpPr>
        <p:spPr>
          <a:xfrm>
            <a:off x="8866632" y="4325112"/>
            <a:ext cx="2700528" cy="502920"/>
          </a:xfrm>
          <a:prstGeom prst="rect">
            <a:avLst/>
          </a:prstGeom>
          <a:noFill/>
          <a:ln/>
        </p:spPr>
        <p:txBody>
          <a:bodyPr wrap="square" rtlCol="0" anchor="t"/>
          <a:lstStyle/>
          <a:p>
            <a:pPr indent="0" marL="0">
              <a:lnSpc>
                <a:spcPct val="100000"/>
              </a:lnSpc>
              <a:buNone/>
            </a:pPr>
            <a:r>
              <a:rPr lang="en-US" sz="1250" b="1" dirty="0">
                <a:solidFill>
                  <a:srgbClr val="FFFFFF"/>
                </a:solidFill>
                <a:latin typeface="Calibri" pitchFamily="34" charset="0"/>
                <a:ea typeface="Calibri" pitchFamily="34" charset="-122"/>
                <a:cs typeface="Calibri" pitchFamily="34" charset="-120"/>
              </a:rPr>
              <a:t>Grounded Reviewer Copilot</a:t>
            </a:r>
            <a:endParaRPr lang="en-US" sz="1250" dirty="0"/>
          </a:p>
        </p:txBody>
      </p:sp>
      <p:sp>
        <p:nvSpPr>
          <p:cNvPr id="60" name="Text 49"/>
          <p:cNvSpPr/>
          <p:nvPr/>
        </p:nvSpPr>
        <p:spPr>
          <a:xfrm>
            <a:off x="8866632" y="4818888"/>
            <a:ext cx="2700528" cy="411480"/>
          </a:xfrm>
          <a:prstGeom prst="rect">
            <a:avLst/>
          </a:prstGeom>
          <a:noFill/>
          <a:ln/>
        </p:spPr>
        <p:txBody>
          <a:bodyPr wrap="square" rtlCol="0" anchor="t"/>
          <a:lstStyle/>
          <a:p>
            <a:pPr indent="0" marL="0">
              <a:buNone/>
            </a:pPr>
            <a:r>
              <a:rPr lang="en-US" sz="1000" dirty="0">
                <a:solidFill>
                  <a:srgbClr val="00E5C7"/>
                </a:solidFill>
                <a:latin typeface="Calibri" pitchFamily="34" charset="0"/>
                <a:ea typeface="Calibri" pitchFamily="34" charset="-122"/>
                <a:cs typeface="Calibri" pitchFamily="34" charset="-120"/>
              </a:rPr>
              <a:t>Zero-hallucination notes</a:t>
            </a:r>
            <a:endParaRPr lang="en-US" sz="1000" dirty="0"/>
          </a:p>
        </p:txBody>
      </p:sp>
      <p:sp>
        <p:nvSpPr>
          <p:cNvPr id="61" name="Shape 50"/>
          <p:cNvSpPr/>
          <p:nvPr/>
        </p:nvSpPr>
        <p:spPr>
          <a:xfrm>
            <a:off x="457200" y="5404104"/>
            <a:ext cx="11247120" cy="457200"/>
          </a:xfrm>
          <a:prstGeom prst="roundRect">
            <a:avLst>
              <a:gd name="adj" fmla="val 18000"/>
            </a:avLst>
          </a:prstGeom>
          <a:solidFill>
            <a:srgbClr val="17233A"/>
          </a:solidFill>
          <a:ln w="12700">
            <a:solidFill>
              <a:srgbClr val="0EA5A0"/>
            </a:solidFill>
            <a:prstDash val="solid"/>
          </a:ln>
        </p:spPr>
      </p:sp>
      <p:sp>
        <p:nvSpPr>
          <p:cNvPr id="62" name="Text 51"/>
          <p:cNvSpPr/>
          <p:nvPr/>
        </p:nvSpPr>
        <p:spPr>
          <a:xfrm>
            <a:off x="457200" y="5404104"/>
            <a:ext cx="11247120" cy="457200"/>
          </a:xfrm>
          <a:prstGeom prst="rect">
            <a:avLst/>
          </a:prstGeom>
          <a:noFill/>
          <a:ln/>
        </p:spPr>
        <p:txBody>
          <a:bodyPr wrap="square" rtlCol="0" anchor="ctr"/>
          <a:lstStyle/>
          <a:p>
            <a:pPr algn="ctr" indent="0" marL="0">
              <a:buNone/>
            </a:pPr>
            <a:r>
              <a:rPr lang="en-US" sz="1200" b="1" dirty="0">
                <a:solidFill>
                  <a:srgbClr val="00E5C7"/>
                </a:solidFill>
                <a:latin typeface="Courier New" pitchFamily="34" charset="0"/>
                <a:ea typeface="Courier New" pitchFamily="34" charset="-122"/>
                <a:cs typeface="Courier New" pitchFamily="34" charset="-120"/>
              </a:rPr>
              <a:t>ONE-COMMAND REPRODUCIBLE:  python run_pipeline.py   —   completes in 40 seconds</a:t>
            </a:r>
            <a:endParaRPr lang="en-US" sz="1200" dirty="0"/>
          </a:p>
        </p:txBody>
      </p:sp>
      <p:sp>
        <p:nvSpPr>
          <p:cNvPr id="63" name="Shape 52"/>
          <p:cNvSpPr/>
          <p:nvPr/>
        </p:nvSpPr>
        <p:spPr>
          <a:xfrm>
            <a:off x="457200" y="6025896"/>
            <a:ext cx="777240" cy="329184"/>
          </a:xfrm>
          <a:prstGeom prst="roundRect">
            <a:avLst>
              <a:gd name="adj" fmla="val 50000"/>
            </a:avLst>
          </a:prstGeom>
          <a:solidFill>
            <a:srgbClr val="121A29"/>
          </a:solidFill>
          <a:ln w="12700">
            <a:solidFill>
              <a:srgbClr val="223049"/>
            </a:solidFill>
            <a:prstDash val="solid"/>
          </a:ln>
        </p:spPr>
      </p:sp>
      <p:sp>
        <p:nvSpPr>
          <p:cNvPr id="64" name="Text 53"/>
          <p:cNvSpPr/>
          <p:nvPr/>
        </p:nvSpPr>
        <p:spPr>
          <a:xfrm>
            <a:off x="457200" y="6025896"/>
            <a:ext cx="777240"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Python</a:t>
            </a:r>
            <a:endParaRPr lang="en-US" sz="1050" dirty="0"/>
          </a:p>
        </p:txBody>
      </p:sp>
      <p:sp>
        <p:nvSpPr>
          <p:cNvPr id="65" name="Shape 54"/>
          <p:cNvSpPr/>
          <p:nvPr/>
        </p:nvSpPr>
        <p:spPr>
          <a:xfrm>
            <a:off x="1490472" y="6025896"/>
            <a:ext cx="873252" cy="329184"/>
          </a:xfrm>
          <a:prstGeom prst="roundRect">
            <a:avLst>
              <a:gd name="adj" fmla="val 50000"/>
            </a:avLst>
          </a:prstGeom>
          <a:solidFill>
            <a:srgbClr val="121A29"/>
          </a:solidFill>
          <a:ln w="12700">
            <a:solidFill>
              <a:srgbClr val="223049"/>
            </a:solidFill>
            <a:prstDash val="solid"/>
          </a:ln>
        </p:spPr>
      </p:sp>
      <p:sp>
        <p:nvSpPr>
          <p:cNvPr id="66" name="Text 55"/>
          <p:cNvSpPr/>
          <p:nvPr/>
        </p:nvSpPr>
        <p:spPr>
          <a:xfrm>
            <a:off x="1490472" y="6025896"/>
            <a:ext cx="873252"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XGBoost</a:t>
            </a:r>
            <a:endParaRPr lang="en-US" sz="1050" dirty="0"/>
          </a:p>
        </p:txBody>
      </p:sp>
      <p:sp>
        <p:nvSpPr>
          <p:cNvPr id="67" name="Shape 56"/>
          <p:cNvSpPr/>
          <p:nvPr/>
        </p:nvSpPr>
        <p:spPr>
          <a:xfrm>
            <a:off x="2619756" y="6025896"/>
            <a:ext cx="969264" cy="329184"/>
          </a:xfrm>
          <a:prstGeom prst="roundRect">
            <a:avLst>
              <a:gd name="adj" fmla="val 50000"/>
            </a:avLst>
          </a:prstGeom>
          <a:solidFill>
            <a:srgbClr val="121A29"/>
          </a:solidFill>
          <a:ln w="12700">
            <a:solidFill>
              <a:srgbClr val="223049"/>
            </a:solidFill>
            <a:prstDash val="solid"/>
          </a:ln>
        </p:spPr>
      </p:sp>
      <p:sp>
        <p:nvSpPr>
          <p:cNvPr id="68" name="Text 57"/>
          <p:cNvSpPr/>
          <p:nvPr/>
        </p:nvSpPr>
        <p:spPr>
          <a:xfrm>
            <a:off x="2619756" y="6025896"/>
            <a:ext cx="969264"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LightGBM</a:t>
            </a:r>
            <a:endParaRPr lang="en-US" sz="1050" dirty="0"/>
          </a:p>
        </p:txBody>
      </p:sp>
      <p:sp>
        <p:nvSpPr>
          <p:cNvPr id="69" name="Shape 58"/>
          <p:cNvSpPr/>
          <p:nvPr/>
        </p:nvSpPr>
        <p:spPr>
          <a:xfrm>
            <a:off x="3845052" y="6025896"/>
            <a:ext cx="1065276" cy="329184"/>
          </a:xfrm>
          <a:prstGeom prst="roundRect">
            <a:avLst>
              <a:gd name="adj" fmla="val 50000"/>
            </a:avLst>
          </a:prstGeom>
          <a:solidFill>
            <a:srgbClr val="121A29"/>
          </a:solidFill>
          <a:ln w="12700">
            <a:solidFill>
              <a:srgbClr val="223049"/>
            </a:solidFill>
            <a:prstDash val="solid"/>
          </a:ln>
        </p:spPr>
      </p:sp>
      <p:sp>
        <p:nvSpPr>
          <p:cNvPr id="70" name="Text 59"/>
          <p:cNvSpPr/>
          <p:nvPr/>
        </p:nvSpPr>
        <p:spPr>
          <a:xfrm>
            <a:off x="3845052" y="6025896"/>
            <a:ext cx="1065276"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Streamlit</a:t>
            </a:r>
            <a:endParaRPr lang="en-US" sz="1050" dirty="0"/>
          </a:p>
        </p:txBody>
      </p:sp>
      <p:sp>
        <p:nvSpPr>
          <p:cNvPr id="71" name="Shape 60"/>
          <p:cNvSpPr/>
          <p:nvPr/>
        </p:nvSpPr>
        <p:spPr>
          <a:xfrm>
            <a:off x="5166360" y="6025896"/>
            <a:ext cx="873252" cy="329184"/>
          </a:xfrm>
          <a:prstGeom prst="roundRect">
            <a:avLst>
              <a:gd name="adj" fmla="val 50000"/>
            </a:avLst>
          </a:prstGeom>
          <a:solidFill>
            <a:srgbClr val="121A29"/>
          </a:solidFill>
          <a:ln w="12700">
            <a:solidFill>
              <a:srgbClr val="223049"/>
            </a:solidFill>
            <a:prstDash val="solid"/>
          </a:ln>
        </p:spPr>
      </p:sp>
      <p:sp>
        <p:nvSpPr>
          <p:cNvPr id="72" name="Text 61"/>
          <p:cNvSpPr/>
          <p:nvPr/>
        </p:nvSpPr>
        <p:spPr>
          <a:xfrm>
            <a:off x="5166360" y="6025896"/>
            <a:ext cx="873252"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FastAPI</a:t>
            </a:r>
            <a:endParaRPr lang="en-US" sz="1050" dirty="0"/>
          </a:p>
        </p:txBody>
      </p:sp>
      <p:sp>
        <p:nvSpPr>
          <p:cNvPr id="73" name="Shape 62"/>
          <p:cNvSpPr/>
          <p:nvPr/>
        </p:nvSpPr>
        <p:spPr>
          <a:xfrm>
            <a:off x="6295644" y="6025896"/>
            <a:ext cx="585216" cy="329184"/>
          </a:xfrm>
          <a:prstGeom prst="roundRect">
            <a:avLst>
              <a:gd name="adj" fmla="val 50000"/>
            </a:avLst>
          </a:prstGeom>
          <a:solidFill>
            <a:srgbClr val="121A29"/>
          </a:solidFill>
          <a:ln w="12700">
            <a:solidFill>
              <a:srgbClr val="223049"/>
            </a:solidFill>
            <a:prstDash val="solid"/>
          </a:ln>
        </p:spPr>
      </p:sp>
      <p:sp>
        <p:nvSpPr>
          <p:cNvPr id="74" name="Text 63"/>
          <p:cNvSpPr/>
          <p:nvPr/>
        </p:nvSpPr>
        <p:spPr>
          <a:xfrm>
            <a:off x="6295644" y="6025896"/>
            <a:ext cx="585216"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SHAP</a:t>
            </a:r>
            <a:endParaRPr lang="en-US" sz="1050" dirty="0"/>
          </a:p>
        </p:txBody>
      </p:sp>
      <p:sp>
        <p:nvSpPr>
          <p:cNvPr id="75" name="Shape 64"/>
          <p:cNvSpPr/>
          <p:nvPr/>
        </p:nvSpPr>
        <p:spPr>
          <a:xfrm>
            <a:off x="7136892" y="6025896"/>
            <a:ext cx="1065276" cy="329184"/>
          </a:xfrm>
          <a:prstGeom prst="roundRect">
            <a:avLst>
              <a:gd name="adj" fmla="val 50000"/>
            </a:avLst>
          </a:prstGeom>
          <a:solidFill>
            <a:srgbClr val="121A29"/>
          </a:solidFill>
          <a:ln w="12700">
            <a:solidFill>
              <a:srgbClr val="223049"/>
            </a:solidFill>
            <a:prstDash val="solid"/>
          </a:ln>
        </p:spPr>
      </p:sp>
      <p:sp>
        <p:nvSpPr>
          <p:cNvPr id="76" name="Text 65"/>
          <p:cNvSpPr/>
          <p:nvPr/>
        </p:nvSpPr>
        <p:spPr>
          <a:xfrm>
            <a:off x="7136892" y="6025896"/>
            <a:ext cx="1065276" cy="329184"/>
          </a:xfrm>
          <a:prstGeom prst="rect">
            <a:avLst/>
          </a:prstGeom>
          <a:noFill/>
          <a:ln/>
        </p:spPr>
        <p:txBody>
          <a:bodyPr wrap="square" rtlCol="0" anchor="ctr"/>
          <a:lstStyle/>
          <a:p>
            <a:pPr algn="ctr" indent="0" marL="0">
              <a:buNone/>
            </a:pPr>
            <a:r>
              <a:rPr lang="en-US" sz="1050" dirty="0">
                <a:solidFill>
                  <a:srgbClr val="9FB2C8"/>
                </a:solidFill>
                <a:latin typeface="Calibri" pitchFamily="34" charset="0"/>
                <a:ea typeface="Calibri" pitchFamily="34" charset="-122"/>
                <a:cs typeface="Calibri" pitchFamily="34" charset="-120"/>
              </a:rPr>
              <a:t>Lifelines</a:t>
            </a:r>
            <a:endParaRPr lang="en-US" sz="1050" dirty="0"/>
          </a:p>
        </p:txBody>
      </p:sp>
      <p:sp>
        <p:nvSpPr>
          <p:cNvPr id="77" name="Text 66"/>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78" name="Text 67"/>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3 / 12</a:t>
            </a:r>
            <a:endParaRPr lang="en-US" sz="85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1</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Data Intelligence &amp; Profiling</a:t>
            </a:r>
            <a:endParaRPr lang="en-US" sz="3000" dirty="0"/>
          </a:p>
        </p:txBody>
      </p:sp>
      <p:sp>
        <p:nvSpPr>
          <p:cNvPr id="7" name="Shape 5"/>
          <p:cNvSpPr/>
          <p:nvPr/>
        </p:nvSpPr>
        <p:spPr>
          <a:xfrm>
            <a:off x="457200" y="1417320"/>
            <a:ext cx="36118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731520" y="1581912"/>
            <a:ext cx="3063240" cy="640080"/>
          </a:xfrm>
          <a:prstGeom prst="rect">
            <a:avLst/>
          </a:prstGeom>
          <a:noFill/>
          <a:ln/>
        </p:spPr>
        <p:txBody>
          <a:bodyPr wrap="square" rtlCol="0" anchor="ctr"/>
          <a:lstStyle/>
          <a:p>
            <a:pPr indent="0" marL="0">
              <a:buNone/>
            </a:pPr>
            <a:r>
              <a:rPr lang="en-US" sz="3400" b="1" dirty="0">
                <a:solidFill>
                  <a:srgbClr val="00E5C7"/>
                </a:solidFill>
                <a:latin typeface="Calibri" pitchFamily="34" charset="0"/>
                <a:ea typeface="Calibri" pitchFamily="34" charset="-122"/>
                <a:cs typeface="Calibri" pitchFamily="34" charset="-120"/>
              </a:rPr>
              <a:t>97.66</a:t>
            </a:r>
            <a:endParaRPr lang="en-US" sz="3400" dirty="0"/>
          </a:p>
        </p:txBody>
      </p:sp>
      <p:sp>
        <p:nvSpPr>
          <p:cNvPr id="9" name="Text 7"/>
          <p:cNvSpPr/>
          <p:nvPr/>
        </p:nvSpPr>
        <p:spPr>
          <a:xfrm>
            <a:off x="731520" y="2221992"/>
            <a:ext cx="30632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DQI Score / 100</a:t>
            </a:r>
            <a:endParaRPr lang="en-US" sz="1200" dirty="0"/>
          </a:p>
        </p:txBody>
      </p:sp>
      <p:sp>
        <p:nvSpPr>
          <p:cNvPr id="10" name="Text 8"/>
          <p:cNvSpPr/>
          <p:nvPr/>
        </p:nvSpPr>
        <p:spPr>
          <a:xfrm>
            <a:off x="731520" y="2478024"/>
            <a:ext cx="3063240" cy="274320"/>
          </a:xfrm>
          <a:prstGeom prst="rect">
            <a:avLst/>
          </a:prstGeom>
          <a:noFill/>
          <a:ln/>
        </p:spPr>
        <p:txBody>
          <a:bodyPr wrap="square" rtlCol="0" anchor="ctr"/>
          <a:lstStyle/>
          <a:p>
            <a:pPr indent="0" marL="0">
              <a:buNone/>
            </a:pPr>
            <a:r>
              <a:rPr lang="en-US" sz="1000" dirty="0">
                <a:solidFill>
                  <a:srgbClr val="6B7C93"/>
                </a:solidFill>
                <a:latin typeface="Calibri" pitchFamily="34" charset="0"/>
                <a:ea typeface="Calibri" pitchFamily="34" charset="-122"/>
                <a:cs typeface="Calibri" pitchFamily="34" charset="-120"/>
              </a:rPr>
              <a:t>Grade A</a:t>
            </a:r>
            <a:endParaRPr lang="en-US" sz="1000" dirty="0"/>
          </a:p>
        </p:txBody>
      </p:sp>
      <p:sp>
        <p:nvSpPr>
          <p:cNvPr id="11" name="Shape 9"/>
          <p:cNvSpPr/>
          <p:nvPr/>
        </p:nvSpPr>
        <p:spPr>
          <a:xfrm>
            <a:off x="4251960" y="1417320"/>
            <a:ext cx="36118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4526280" y="1581912"/>
            <a:ext cx="3063240" cy="640080"/>
          </a:xfrm>
          <a:prstGeom prst="rect">
            <a:avLst/>
          </a:prstGeom>
          <a:noFill/>
          <a:ln/>
        </p:spPr>
        <p:txBody>
          <a:bodyPr wrap="square" rtlCol="0" anchor="ctr"/>
          <a:lstStyle/>
          <a:p>
            <a:pPr indent="0" marL="0">
              <a:buNone/>
            </a:pPr>
            <a:r>
              <a:rPr lang="en-US" sz="3400" b="1" dirty="0">
                <a:solidFill>
                  <a:srgbClr val="00E5C7"/>
                </a:solidFill>
                <a:latin typeface="Calibri" pitchFamily="34" charset="0"/>
                <a:ea typeface="Calibri" pitchFamily="34" charset="-122"/>
                <a:cs typeface="Calibri" pitchFamily="34" charset="-120"/>
              </a:rPr>
              <a:t>97.4%</a:t>
            </a:r>
            <a:endParaRPr lang="en-US" sz="3400" dirty="0"/>
          </a:p>
        </p:txBody>
      </p:sp>
      <p:sp>
        <p:nvSpPr>
          <p:cNvPr id="13" name="Text 11"/>
          <p:cNvSpPr/>
          <p:nvPr/>
        </p:nvSpPr>
        <p:spPr>
          <a:xfrm>
            <a:off x="4526280" y="2221992"/>
            <a:ext cx="30632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Completeness</a:t>
            </a:r>
            <a:endParaRPr lang="en-US" sz="1200" dirty="0"/>
          </a:p>
        </p:txBody>
      </p:sp>
      <p:sp>
        <p:nvSpPr>
          <p:cNvPr id="14" name="Text 12"/>
          <p:cNvSpPr/>
          <p:nvPr/>
        </p:nvSpPr>
        <p:spPr>
          <a:xfrm>
            <a:off x="4526280" y="2478024"/>
            <a:ext cx="3063240" cy="274320"/>
          </a:xfrm>
          <a:prstGeom prst="rect">
            <a:avLst/>
          </a:prstGeom>
          <a:noFill/>
          <a:ln/>
        </p:spPr>
        <p:txBody>
          <a:bodyPr wrap="square" rtlCol="0" anchor="ctr"/>
          <a:lstStyle/>
          <a:p>
            <a:pPr indent="0" marL="0">
              <a:buNone/>
            </a:pPr>
            <a:r>
              <a:rPr lang="en-US" sz="1000" dirty="0">
                <a:solidFill>
                  <a:srgbClr val="6B7C93"/>
                </a:solidFill>
                <a:latin typeface="Calibri" pitchFamily="34" charset="0"/>
                <a:ea typeface="Calibri" pitchFamily="34" charset="-122"/>
                <a:cs typeface="Calibri" pitchFamily="34" charset="-120"/>
              </a:rPr>
              <a:t>Across all fields</a:t>
            </a:r>
            <a:endParaRPr lang="en-US" sz="1000" dirty="0"/>
          </a:p>
        </p:txBody>
      </p:sp>
      <p:sp>
        <p:nvSpPr>
          <p:cNvPr id="15" name="Shape 13"/>
          <p:cNvSpPr/>
          <p:nvPr/>
        </p:nvSpPr>
        <p:spPr>
          <a:xfrm>
            <a:off x="8046720" y="1417320"/>
            <a:ext cx="36118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6" name="Text 14"/>
          <p:cNvSpPr/>
          <p:nvPr/>
        </p:nvSpPr>
        <p:spPr>
          <a:xfrm>
            <a:off x="8321040" y="1581912"/>
            <a:ext cx="3063240" cy="640080"/>
          </a:xfrm>
          <a:prstGeom prst="rect">
            <a:avLst/>
          </a:prstGeom>
          <a:noFill/>
          <a:ln/>
        </p:spPr>
        <p:txBody>
          <a:bodyPr wrap="square" rtlCol="0" anchor="ctr"/>
          <a:lstStyle/>
          <a:p>
            <a:pPr indent="0" marL="0">
              <a:buNone/>
            </a:pPr>
            <a:r>
              <a:rPr lang="en-US" sz="3400" b="1" dirty="0">
                <a:solidFill>
                  <a:srgbClr val="00E5C7"/>
                </a:solidFill>
                <a:latin typeface="Calibri" pitchFamily="34" charset="0"/>
                <a:ea typeface="Calibri" pitchFamily="34" charset="-122"/>
                <a:cs typeface="Calibri" pitchFamily="34" charset="-120"/>
              </a:rPr>
              <a:t>&lt;0.04</a:t>
            </a:r>
            <a:endParaRPr lang="en-US" sz="3400" dirty="0"/>
          </a:p>
        </p:txBody>
      </p:sp>
      <p:sp>
        <p:nvSpPr>
          <p:cNvPr id="17" name="Text 15"/>
          <p:cNvSpPr/>
          <p:nvPr/>
        </p:nvSpPr>
        <p:spPr>
          <a:xfrm>
            <a:off x="8321040" y="2221992"/>
            <a:ext cx="30632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Population Stability Index</a:t>
            </a:r>
            <a:endParaRPr lang="en-US" sz="1200" dirty="0"/>
          </a:p>
        </p:txBody>
      </p:sp>
      <p:sp>
        <p:nvSpPr>
          <p:cNvPr id="18" name="Text 16"/>
          <p:cNvSpPr/>
          <p:nvPr/>
        </p:nvSpPr>
        <p:spPr>
          <a:xfrm>
            <a:off x="8321040" y="2478024"/>
            <a:ext cx="3063240" cy="274320"/>
          </a:xfrm>
          <a:prstGeom prst="rect">
            <a:avLst/>
          </a:prstGeom>
          <a:noFill/>
          <a:ln/>
        </p:spPr>
        <p:txBody>
          <a:bodyPr wrap="square" rtlCol="0" anchor="ctr"/>
          <a:lstStyle/>
          <a:p>
            <a:pPr indent="0" marL="0">
              <a:buNone/>
            </a:pPr>
            <a:r>
              <a:rPr lang="en-US" sz="1000" dirty="0">
                <a:solidFill>
                  <a:srgbClr val="6B7C93"/>
                </a:solidFill>
                <a:latin typeface="Calibri" pitchFamily="34" charset="0"/>
                <a:ea typeface="Calibri" pitchFamily="34" charset="-122"/>
                <a:cs typeface="Calibri" pitchFamily="34" charset="-120"/>
              </a:rPr>
              <a:t>No distribution drift</a:t>
            </a:r>
            <a:endParaRPr lang="en-US" sz="1000" dirty="0"/>
          </a:p>
        </p:txBody>
      </p:sp>
      <p:sp>
        <p:nvSpPr>
          <p:cNvPr id="19" name="Text 17"/>
          <p:cNvSpPr/>
          <p:nvPr/>
        </p:nvSpPr>
        <p:spPr>
          <a:xfrm>
            <a:off x="457200" y="3154680"/>
            <a:ext cx="5486400" cy="274320"/>
          </a:xfrm>
          <a:prstGeom prst="rect">
            <a:avLst/>
          </a:prstGeom>
          <a:noFill/>
          <a:ln/>
        </p:spPr>
        <p:txBody>
          <a:bodyPr wrap="square" rtlCol="0" anchor="ctr"/>
          <a:lstStyle/>
          <a:p>
            <a:pPr indent="0" marL="0">
              <a:buNone/>
            </a:pPr>
            <a:r>
              <a:rPr lang="en-US" sz="1200" b="1" spc="120" kern="0" dirty="0">
                <a:solidFill>
                  <a:srgbClr val="9FB2C8"/>
                </a:solidFill>
                <a:latin typeface="Calibri" pitchFamily="34" charset="0"/>
                <a:ea typeface="Calibri" pitchFamily="34" charset="-122"/>
                <a:cs typeface="Calibri" pitchFamily="34" charset="-120"/>
              </a:rPr>
              <a:t>KEY HIGHLIGHTS</a:t>
            </a:r>
            <a:endParaRPr lang="en-US" sz="1200" dirty="0"/>
          </a:p>
        </p:txBody>
      </p:sp>
      <p:sp>
        <p:nvSpPr>
          <p:cNvPr id="20" name="Shape 18"/>
          <p:cNvSpPr/>
          <p:nvPr/>
        </p:nvSpPr>
        <p:spPr>
          <a:xfrm>
            <a:off x="457200" y="3538728"/>
            <a:ext cx="365760" cy="365760"/>
          </a:xfrm>
          <a:prstGeom prst="ellipse">
            <a:avLst/>
          </a:prstGeom>
          <a:solidFill>
            <a:srgbClr val="17233A"/>
          </a:solidFill>
          <a:ln w="15875">
            <a:solidFill>
              <a:srgbClr val="00E5C7"/>
            </a:solidFill>
            <a:prstDash val="solid"/>
          </a:ln>
        </p:spPr>
      </p:sp>
      <p:pic>
        <p:nvPicPr>
          <p:cNvPr id="21" name="Image 0" descr="/home/claude/lpie/assets/check_teal.png">    </p:cNvPr>
          <p:cNvPicPr>
            <a:picLocks noChangeAspect="1"/>
          </p:cNvPicPr>
          <p:nvPr/>
        </p:nvPicPr>
        <p:blipFill>
          <a:blip r:embed="rId1"/>
          <a:stretch>
            <a:fillRect/>
          </a:stretch>
        </p:blipFill>
        <p:spPr>
          <a:xfrm>
            <a:off x="539496" y="3621024"/>
            <a:ext cx="201168" cy="201168"/>
          </a:xfrm>
          <a:prstGeom prst="rect">
            <a:avLst/>
          </a:prstGeom>
        </p:spPr>
      </p:pic>
      <p:sp>
        <p:nvSpPr>
          <p:cNvPr id="22" name="Text 19"/>
          <p:cNvSpPr/>
          <p:nvPr/>
        </p:nvSpPr>
        <p:spPr>
          <a:xfrm>
            <a:off x="960120" y="3483864"/>
            <a:ext cx="5577840" cy="502920"/>
          </a:xfrm>
          <a:prstGeom prst="rect">
            <a:avLst/>
          </a:prstGeom>
          <a:noFill/>
          <a:ln/>
        </p:spPr>
        <p:txBody>
          <a:bodyPr wrap="square" rtlCol="0" anchor="ctr"/>
          <a:lstStyle/>
          <a:p>
            <a:pPr indent="0" marL="0">
              <a:lnSpc>
                <a:spcPct val="110000"/>
              </a:lnSpc>
              <a:buNone/>
            </a:pPr>
            <a:r>
              <a:rPr lang="en-US" sz="1150" dirty="0">
                <a:solidFill>
                  <a:srgbClr val="9FB2C8"/>
                </a:solidFill>
                <a:latin typeface="Calibri" pitchFamily="34" charset="0"/>
                <a:ea typeface="Calibri" pitchFamily="34" charset="-122"/>
                <a:cs typeface="Calibri" pitchFamily="34" charset="-120"/>
              </a:rPr>
              <a:t>Automated missingness analysis with MCAR approximation testing</a:t>
            </a:r>
            <a:endParaRPr lang="en-US" sz="1150" dirty="0"/>
          </a:p>
        </p:txBody>
      </p:sp>
      <p:sp>
        <p:nvSpPr>
          <p:cNvPr id="23" name="Shape 20"/>
          <p:cNvSpPr/>
          <p:nvPr/>
        </p:nvSpPr>
        <p:spPr>
          <a:xfrm>
            <a:off x="457200" y="4105656"/>
            <a:ext cx="365760" cy="365760"/>
          </a:xfrm>
          <a:prstGeom prst="ellipse">
            <a:avLst/>
          </a:prstGeom>
          <a:solidFill>
            <a:srgbClr val="17233A"/>
          </a:solidFill>
          <a:ln w="15875">
            <a:solidFill>
              <a:srgbClr val="00E5C7"/>
            </a:solidFill>
            <a:prstDash val="solid"/>
          </a:ln>
        </p:spPr>
      </p:sp>
      <p:pic>
        <p:nvPicPr>
          <p:cNvPr id="24" name="Image 1" descr="/home/claude/lpie/assets/check_teal.png">    </p:cNvPr>
          <p:cNvPicPr>
            <a:picLocks noChangeAspect="1"/>
          </p:cNvPicPr>
          <p:nvPr/>
        </p:nvPicPr>
        <p:blipFill>
          <a:blip r:embed="rId2"/>
          <a:stretch>
            <a:fillRect/>
          </a:stretch>
        </p:blipFill>
        <p:spPr>
          <a:xfrm>
            <a:off x="539496" y="4187952"/>
            <a:ext cx="201168" cy="201168"/>
          </a:xfrm>
          <a:prstGeom prst="rect">
            <a:avLst/>
          </a:prstGeom>
        </p:spPr>
      </p:pic>
      <p:sp>
        <p:nvSpPr>
          <p:cNvPr id="25" name="Text 21"/>
          <p:cNvSpPr/>
          <p:nvPr/>
        </p:nvSpPr>
        <p:spPr>
          <a:xfrm>
            <a:off x="960120" y="4050792"/>
            <a:ext cx="5577840" cy="502920"/>
          </a:xfrm>
          <a:prstGeom prst="rect">
            <a:avLst/>
          </a:prstGeom>
          <a:noFill/>
          <a:ln/>
        </p:spPr>
        <p:txBody>
          <a:bodyPr wrap="square" rtlCol="0" anchor="ctr"/>
          <a:lstStyle/>
          <a:p>
            <a:pPr indent="0" marL="0">
              <a:lnSpc>
                <a:spcPct val="110000"/>
              </a:lnSpc>
              <a:buNone/>
            </a:pPr>
            <a:r>
              <a:rPr lang="en-US" sz="1150" dirty="0">
                <a:solidFill>
                  <a:srgbClr val="9FB2C8"/>
                </a:solidFill>
                <a:latin typeface="Calibri" pitchFamily="34" charset="0"/>
                <a:ea typeface="Calibri" pitchFamily="34" charset="-122"/>
                <a:cs typeface="Calibri" pitchFamily="34" charset="-120"/>
              </a:rPr>
              <a:t>IQR + Z-score + domain-specific outlier detection</a:t>
            </a:r>
            <a:endParaRPr lang="en-US" sz="1150" dirty="0"/>
          </a:p>
        </p:txBody>
      </p:sp>
      <p:sp>
        <p:nvSpPr>
          <p:cNvPr id="26" name="Shape 22"/>
          <p:cNvSpPr/>
          <p:nvPr/>
        </p:nvSpPr>
        <p:spPr>
          <a:xfrm>
            <a:off x="457200" y="4672584"/>
            <a:ext cx="365760" cy="365760"/>
          </a:xfrm>
          <a:prstGeom prst="ellipse">
            <a:avLst/>
          </a:prstGeom>
          <a:solidFill>
            <a:srgbClr val="17233A"/>
          </a:solidFill>
          <a:ln w="15875">
            <a:solidFill>
              <a:srgbClr val="00E5C7"/>
            </a:solidFill>
            <a:prstDash val="solid"/>
          </a:ln>
        </p:spPr>
      </p:sp>
      <p:pic>
        <p:nvPicPr>
          <p:cNvPr id="27" name="Image 2" descr="/home/claude/lpie/assets/check_teal.png">    </p:cNvPr>
          <p:cNvPicPr>
            <a:picLocks noChangeAspect="1"/>
          </p:cNvPicPr>
          <p:nvPr/>
        </p:nvPicPr>
        <p:blipFill>
          <a:blip r:embed="rId3"/>
          <a:stretch>
            <a:fillRect/>
          </a:stretch>
        </p:blipFill>
        <p:spPr>
          <a:xfrm>
            <a:off x="539496" y="4754880"/>
            <a:ext cx="201168" cy="201168"/>
          </a:xfrm>
          <a:prstGeom prst="rect">
            <a:avLst/>
          </a:prstGeom>
        </p:spPr>
      </p:pic>
      <p:sp>
        <p:nvSpPr>
          <p:cNvPr id="28" name="Text 23"/>
          <p:cNvSpPr/>
          <p:nvPr/>
        </p:nvSpPr>
        <p:spPr>
          <a:xfrm>
            <a:off x="960120" y="4617720"/>
            <a:ext cx="5577840" cy="502920"/>
          </a:xfrm>
          <a:prstGeom prst="rect">
            <a:avLst/>
          </a:prstGeom>
          <a:noFill/>
          <a:ln/>
        </p:spPr>
        <p:txBody>
          <a:bodyPr wrap="square" rtlCol="0" anchor="ctr"/>
          <a:lstStyle/>
          <a:p>
            <a:pPr indent="0" marL="0">
              <a:lnSpc>
                <a:spcPct val="110000"/>
              </a:lnSpc>
              <a:buNone/>
            </a:pPr>
            <a:r>
              <a:rPr lang="en-US" sz="1150" dirty="0">
                <a:solidFill>
                  <a:srgbClr val="9FB2C8"/>
                </a:solidFill>
                <a:latin typeface="Calibri" pitchFamily="34" charset="0"/>
                <a:ea typeface="Calibri" pitchFamily="34" charset="-122"/>
                <a:cs typeface="Calibri" pitchFamily="34" charset="-120"/>
              </a:rPr>
              <a:t>Pearson correlation matrix + Cramér's V categorical association analysis</a:t>
            </a:r>
            <a:endParaRPr lang="en-US" sz="1150" dirty="0"/>
          </a:p>
        </p:txBody>
      </p:sp>
      <p:sp>
        <p:nvSpPr>
          <p:cNvPr id="29" name="Shape 24"/>
          <p:cNvSpPr/>
          <p:nvPr/>
        </p:nvSpPr>
        <p:spPr>
          <a:xfrm>
            <a:off x="457200" y="5239512"/>
            <a:ext cx="365760" cy="365760"/>
          </a:xfrm>
          <a:prstGeom prst="ellipse">
            <a:avLst/>
          </a:prstGeom>
          <a:solidFill>
            <a:srgbClr val="17233A"/>
          </a:solidFill>
          <a:ln w="15875">
            <a:solidFill>
              <a:srgbClr val="00E5C7"/>
            </a:solidFill>
            <a:prstDash val="solid"/>
          </a:ln>
        </p:spPr>
      </p:sp>
      <p:pic>
        <p:nvPicPr>
          <p:cNvPr id="30" name="Image 3" descr="/home/claude/lpie/assets/check_teal.png">    </p:cNvPr>
          <p:cNvPicPr>
            <a:picLocks noChangeAspect="1"/>
          </p:cNvPicPr>
          <p:nvPr/>
        </p:nvPicPr>
        <p:blipFill>
          <a:blip r:embed="rId4"/>
          <a:stretch>
            <a:fillRect/>
          </a:stretch>
        </p:blipFill>
        <p:spPr>
          <a:xfrm>
            <a:off x="539496" y="5321808"/>
            <a:ext cx="201168" cy="201168"/>
          </a:xfrm>
          <a:prstGeom prst="rect">
            <a:avLst/>
          </a:prstGeom>
        </p:spPr>
      </p:pic>
      <p:sp>
        <p:nvSpPr>
          <p:cNvPr id="31" name="Text 25"/>
          <p:cNvSpPr/>
          <p:nvPr/>
        </p:nvSpPr>
        <p:spPr>
          <a:xfrm>
            <a:off x="960120" y="5184648"/>
            <a:ext cx="5577840" cy="502920"/>
          </a:xfrm>
          <a:prstGeom prst="rect">
            <a:avLst/>
          </a:prstGeom>
          <a:noFill/>
          <a:ln/>
        </p:spPr>
        <p:txBody>
          <a:bodyPr wrap="square" rtlCol="0" anchor="ctr"/>
          <a:lstStyle/>
          <a:p>
            <a:pPr indent="0" marL="0">
              <a:lnSpc>
                <a:spcPct val="110000"/>
              </a:lnSpc>
              <a:buNone/>
            </a:pPr>
            <a:r>
              <a:rPr lang="en-US" sz="1150" dirty="0">
                <a:solidFill>
                  <a:srgbClr val="9FB2C8"/>
                </a:solidFill>
                <a:latin typeface="Calibri" pitchFamily="34" charset="0"/>
                <a:ea typeface="Calibri" pitchFamily="34" charset="-122"/>
                <a:cs typeface="Calibri" pitchFamily="34" charset="-120"/>
              </a:rPr>
              <a:t>PSI drift monitoring confirms zero divergence between train and validation sets</a:t>
            </a:r>
            <a:endParaRPr lang="en-US" sz="1150" dirty="0"/>
          </a:p>
        </p:txBody>
      </p:sp>
      <p:sp>
        <p:nvSpPr>
          <p:cNvPr id="32" name="Shape 26"/>
          <p:cNvSpPr/>
          <p:nvPr/>
        </p:nvSpPr>
        <p:spPr>
          <a:xfrm>
            <a:off x="6766560" y="3154680"/>
            <a:ext cx="4937760" cy="3063240"/>
          </a:xfrm>
          <a:prstGeom prst="roundRect">
            <a:avLst>
              <a:gd name="adj" fmla="val 2687"/>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3" name="Text 27"/>
          <p:cNvSpPr/>
          <p:nvPr/>
        </p:nvSpPr>
        <p:spPr>
          <a:xfrm>
            <a:off x="7040880" y="3337560"/>
            <a:ext cx="4389120" cy="274320"/>
          </a:xfrm>
          <a:prstGeom prst="rect">
            <a:avLst/>
          </a:prstGeom>
          <a:noFill/>
          <a:ln/>
        </p:spPr>
        <p:txBody>
          <a:bodyPr wrap="square" rtlCol="0" anchor="ctr"/>
          <a:lstStyle/>
          <a:p>
            <a:pPr indent="0" marL="0">
              <a:buNone/>
            </a:pPr>
            <a:r>
              <a:rPr lang="en-US" sz="1100" b="1" spc="100" kern="0" dirty="0">
                <a:solidFill>
                  <a:srgbClr val="9FB2C8"/>
                </a:solidFill>
                <a:latin typeface="Calibri" pitchFamily="34" charset="0"/>
                <a:ea typeface="Calibri" pitchFamily="34" charset="-122"/>
                <a:cs typeface="Calibri" pitchFamily="34" charset="-120"/>
              </a:rPr>
              <a:t>DATA QUALITY DIMENSIONS</a:t>
            </a:r>
            <a:endParaRPr lang="en-US" sz="1100" dirty="0"/>
          </a:p>
        </p:txBody>
      </p:sp>
      <p:graphicFrame>
        <p:nvGraphicFramePr>
          <p:cNvPr id="34" name="Chart 0" descr=""/>
          <p:cNvGraphicFramePr/>
          <p:nvPr/>
        </p:nvGraphicFramePr>
        <p:xfrm>
          <a:off x="6903720" y="3657600"/>
          <a:ext cx="4663440" cy="2423160"/>
        </p:xfrm>
        <a:graphic xmlns:a="http://schemas.openxmlformats.org/drawingml/2006/main">
          <a:graphicData uri="http://schemas.openxmlformats.org/drawingml/2006/chart">
            <c:chart xmlns:c="http://schemas.openxmlformats.org/drawingml/2006/chart" r:id="rId5"/>
          </a:graphicData>
        </a:graphic>
      </p:graphicFrame>
      <p:sp>
        <p:nvSpPr>
          <p:cNvPr id="35" name="Text 28"/>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36" name="Text 29"/>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4 / 12</a:t>
            </a:r>
            <a:endParaRPr lang="en-US" sz="850" dirty="0"/>
          </a:p>
        </p:txBody>
      </p:sp>
      <p:pic>
        <p:nvPicPr>
          <p:cNvPr id="37" name="Picture 36" descr="drift_psi_summary.png"/>
          <p:cNvPicPr>
            <a:picLocks noChangeAspect="1"/>
          </p:cNvPicPr>
          <p:nvPr/>
        </p:nvPicPr>
        <p:blipFill>
          <a:blip r:embed="rId8"/>
          <a:stretch>
            <a:fillRect/>
          </a:stretch>
        </p:blipFill>
        <p:spPr>
          <a:xfrm>
            <a:off x="6903720" y="3657600"/>
            <a:ext cx="4663440" cy="2423160"/>
          </a:xfrm>
          <a:prstGeom prst="rect">
            <a:avLst/>
          </a:prstGeom>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2</a:t>
            </a:r>
            <a:endParaRPr lang="en-US" sz="1250" dirty="0"/>
          </a:p>
        </p:txBody>
      </p:sp>
      <p:sp>
        <p:nvSpPr>
          <p:cNvPr id="6" name="Text 4"/>
          <p:cNvSpPr/>
          <p:nvPr/>
        </p:nvSpPr>
        <p:spPr>
          <a:xfrm>
            <a:off x="457200" y="621792"/>
            <a:ext cx="7772400" cy="566928"/>
          </a:xfrm>
          <a:prstGeom prst="rect">
            <a:avLst/>
          </a:prstGeom>
          <a:noFill/>
          <a:ln/>
        </p:spPr>
        <p:txBody>
          <a:bodyPr wrap="square"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Multi-Horizon Calibrated Predictive Models</a:t>
            </a:r>
            <a:endParaRPr lang="en-US" sz="2700" dirty="0"/>
          </a:p>
        </p:txBody>
      </p:sp>
      <p:sp>
        <p:nvSpPr>
          <p:cNvPr id="7" name="Shape 5"/>
          <p:cNvSpPr/>
          <p:nvPr/>
        </p:nvSpPr>
        <p:spPr>
          <a:xfrm>
            <a:off x="8732520" y="502920"/>
            <a:ext cx="2971800" cy="1234440"/>
          </a:xfrm>
          <a:prstGeom prst="roundRect">
            <a:avLst>
              <a:gd name="adj" fmla="val 6667"/>
            </a:avLst>
          </a:prstGeom>
          <a:solidFill>
            <a:srgbClr val="17233A"/>
          </a:solidFill>
          <a:ln w="12700">
            <a:solidFill>
              <a:srgbClr val="0EA5A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8732520" y="566928"/>
            <a:ext cx="2971800" cy="594360"/>
          </a:xfrm>
          <a:prstGeom prst="rect">
            <a:avLst/>
          </a:prstGeom>
          <a:noFill/>
          <a:ln/>
        </p:spPr>
        <p:txBody>
          <a:bodyPr wrap="square" rtlCol="0" anchor="ctr"/>
          <a:lstStyle/>
          <a:p>
            <a:pPr algn="ctr" indent="0" marL="0">
              <a:buNone/>
            </a:pPr>
            <a:r>
              <a:rPr lang="en-US" sz="3000" b="1" dirty="0">
                <a:solidFill>
                  <a:srgbClr val="00E5C7"/>
                </a:solidFill>
                <a:latin typeface="Calibri" pitchFamily="34" charset="0"/>
                <a:ea typeface="Calibri" pitchFamily="34" charset="-122"/>
                <a:cs typeface="Calibri" pitchFamily="34" charset="-120"/>
              </a:rPr>
              <a:t>0.8168</a:t>
            </a:r>
            <a:endParaRPr lang="en-US" sz="3000" dirty="0"/>
          </a:p>
        </p:txBody>
      </p:sp>
      <p:sp>
        <p:nvSpPr>
          <p:cNvPr id="9" name="Text 7"/>
          <p:cNvSpPr/>
          <p:nvPr/>
        </p:nvSpPr>
        <p:spPr>
          <a:xfrm>
            <a:off x="8869680" y="1170432"/>
            <a:ext cx="2697480" cy="457200"/>
          </a:xfrm>
          <a:prstGeom prst="rect">
            <a:avLst/>
          </a:prstGeom>
          <a:noFill/>
          <a:ln/>
        </p:spPr>
        <p:txBody>
          <a:bodyPr wrap="square" rtlCol="0" anchor="ctr"/>
          <a:lstStyle/>
          <a:p>
            <a:pPr algn="ctr" indent="0" marL="0">
              <a:lnSpc>
                <a:spcPct val="110000"/>
              </a:lnSpc>
              <a:buNone/>
            </a:pPr>
            <a:r>
              <a:rPr lang="en-US" sz="900" b="1" dirty="0">
                <a:solidFill>
                  <a:srgbClr val="9FB2C8"/>
                </a:solidFill>
                <a:latin typeface="Calibri" pitchFamily="34" charset="0"/>
                <a:ea typeface="Calibri" pitchFamily="34" charset="-122"/>
                <a:cs typeface="Calibri" pitchFamily="34" charset="-120"/>
              </a:rPr>
              <a:t>12M DEFAULT ROC-AUC  ·  +12.6% vs BASELINE</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6949440" cy="1737360"/>
        </p:xfrm>
        <a:graphic>
          <a:graphicData uri="http://schemas.openxmlformats.org/drawingml/2006/table">
            <a:tbl>
              <a:tblPr/>
              <a:tblGrid>
                <a:gridCol w="1737360"/>
                <a:gridCol w="1737360"/>
                <a:gridCol w="1737360"/>
                <a:gridCol w="1737360"/>
              </a:tblGrid>
              <a:tr h="347472">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Baseline AUC</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Improved AUC</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Improvement</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347472">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3M Delinquency</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0.6514</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0.7350</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00E5C7"/>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347472">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6M Delinquency</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0.6130</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0.7082</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00E5C7"/>
                          </a:solidFill>
                          <a:latin typeface="Calibri" pitchFamily="34" charset="0"/>
                          <a:ea typeface="Calibri" pitchFamily="34" charset="-122"/>
                          <a:cs typeface="Calibri" pitchFamily="34" charset="-120"/>
                        </a:rPr>
                        <a:t>+15.5%</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347472">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12M Default</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0.7255</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0.8168</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00E5C7"/>
                          </a:solidFill>
                          <a:latin typeface="Calibri" pitchFamily="34" charset="0"/>
                          <a:ea typeface="Calibri" pitchFamily="34" charset="-122"/>
                          <a:cs typeface="Calibri" pitchFamily="34" charset="-120"/>
                        </a:rPr>
                        <a:t>+12.6%</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347472">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12M Prepayment</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0.5750</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0.7119</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00E5C7"/>
                          </a:solidFill>
                          <a:latin typeface="Calibri" pitchFamily="34" charset="0"/>
                          <a:ea typeface="Calibri" pitchFamily="34" charset="-122"/>
                          <a:cs typeface="Calibri" pitchFamily="34" charset="-120"/>
                        </a:rPr>
                        <a:t>+23.8%</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bl>
          </a:graphicData>
        </a:graphic>
      </p:graphicFrame>
      <p:sp>
        <p:nvSpPr>
          <p:cNvPr id="11" name="Shape 8"/>
          <p:cNvSpPr/>
          <p:nvPr/>
        </p:nvSpPr>
        <p:spPr>
          <a:xfrm>
            <a:off x="457200" y="3840480"/>
            <a:ext cx="329184" cy="329184"/>
          </a:xfrm>
          <a:prstGeom prst="ellipse">
            <a:avLst/>
          </a:prstGeom>
          <a:solidFill>
            <a:srgbClr val="17233A"/>
          </a:solidFill>
          <a:ln w="15875">
            <a:solidFill>
              <a:srgbClr val="00E5C7"/>
            </a:solidFill>
            <a:prstDash val="solid"/>
          </a:ln>
        </p:spPr>
      </p:sp>
      <p:pic>
        <p:nvPicPr>
          <p:cNvPr id="12" name="Image 0" descr="/home/claude/lpie/assets/check_teal.png">    </p:cNvPr>
          <p:cNvPicPr>
            <a:picLocks noChangeAspect="1"/>
          </p:cNvPicPr>
          <p:nvPr/>
        </p:nvPicPr>
        <p:blipFill>
          <a:blip r:embed="rId1"/>
          <a:stretch>
            <a:fillRect/>
          </a:stretch>
        </p:blipFill>
        <p:spPr>
          <a:xfrm>
            <a:off x="531266" y="3914546"/>
            <a:ext cx="181051" cy="181051"/>
          </a:xfrm>
          <a:prstGeom prst="rect">
            <a:avLst/>
          </a:prstGeom>
        </p:spPr>
      </p:pic>
      <p:sp>
        <p:nvSpPr>
          <p:cNvPr id="13" name="Text 9"/>
          <p:cNvSpPr/>
          <p:nvPr/>
        </p:nvSpPr>
        <p:spPr>
          <a:xfrm>
            <a:off x="914400" y="3794760"/>
            <a:ext cx="6492240" cy="420624"/>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Strict out-of-time chronological split — zero loan ID contamination</a:t>
            </a:r>
            <a:endParaRPr lang="en-US" sz="1150" dirty="0"/>
          </a:p>
        </p:txBody>
      </p:sp>
      <p:sp>
        <p:nvSpPr>
          <p:cNvPr id="14" name="Shape 10"/>
          <p:cNvSpPr/>
          <p:nvPr/>
        </p:nvSpPr>
        <p:spPr>
          <a:xfrm>
            <a:off x="457200" y="4297680"/>
            <a:ext cx="329184" cy="329184"/>
          </a:xfrm>
          <a:prstGeom prst="ellipse">
            <a:avLst/>
          </a:prstGeom>
          <a:solidFill>
            <a:srgbClr val="17233A"/>
          </a:solidFill>
          <a:ln w="15875">
            <a:solidFill>
              <a:srgbClr val="00E5C7"/>
            </a:solidFill>
            <a:prstDash val="solid"/>
          </a:ln>
        </p:spPr>
      </p:sp>
      <p:pic>
        <p:nvPicPr>
          <p:cNvPr id="15" name="Image 1" descr="/home/claude/lpie/assets/check_teal.png">    </p:cNvPr>
          <p:cNvPicPr>
            <a:picLocks noChangeAspect="1"/>
          </p:cNvPicPr>
          <p:nvPr/>
        </p:nvPicPr>
        <p:blipFill>
          <a:blip r:embed="rId2"/>
          <a:stretch>
            <a:fillRect/>
          </a:stretch>
        </p:blipFill>
        <p:spPr>
          <a:xfrm>
            <a:off x="531266" y="4371746"/>
            <a:ext cx="181051" cy="181051"/>
          </a:xfrm>
          <a:prstGeom prst="rect">
            <a:avLst/>
          </a:prstGeom>
        </p:spPr>
      </p:pic>
      <p:sp>
        <p:nvSpPr>
          <p:cNvPr id="16" name="Text 11"/>
          <p:cNvSpPr/>
          <p:nvPr/>
        </p:nvSpPr>
        <p:spPr>
          <a:xfrm>
            <a:off x="914400" y="4251960"/>
            <a:ext cx="6492240" cy="420624"/>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Isotonic calibration + class-weight balancing</a:t>
            </a:r>
            <a:endParaRPr lang="en-US" sz="1150" dirty="0"/>
          </a:p>
        </p:txBody>
      </p:sp>
      <p:sp>
        <p:nvSpPr>
          <p:cNvPr id="17" name="Shape 12"/>
          <p:cNvSpPr/>
          <p:nvPr/>
        </p:nvSpPr>
        <p:spPr>
          <a:xfrm>
            <a:off x="457200" y="4754880"/>
            <a:ext cx="329184" cy="329184"/>
          </a:xfrm>
          <a:prstGeom prst="ellipse">
            <a:avLst/>
          </a:prstGeom>
          <a:solidFill>
            <a:srgbClr val="17233A"/>
          </a:solidFill>
          <a:ln w="15875">
            <a:solidFill>
              <a:srgbClr val="00E5C7"/>
            </a:solidFill>
            <a:prstDash val="solid"/>
          </a:ln>
        </p:spPr>
      </p:sp>
      <p:pic>
        <p:nvPicPr>
          <p:cNvPr id="18" name="Image 2" descr="/home/claude/lpie/assets/check_teal.png">    </p:cNvPr>
          <p:cNvPicPr>
            <a:picLocks noChangeAspect="1"/>
          </p:cNvPicPr>
          <p:nvPr/>
        </p:nvPicPr>
        <p:blipFill>
          <a:blip r:embed="rId3"/>
          <a:stretch>
            <a:fillRect/>
          </a:stretch>
        </p:blipFill>
        <p:spPr>
          <a:xfrm>
            <a:off x="531266" y="4828946"/>
            <a:ext cx="181051" cy="181051"/>
          </a:xfrm>
          <a:prstGeom prst="rect">
            <a:avLst/>
          </a:prstGeom>
        </p:spPr>
      </p:pic>
      <p:sp>
        <p:nvSpPr>
          <p:cNvPr id="19" name="Text 13"/>
          <p:cNvSpPr/>
          <p:nvPr/>
        </p:nvSpPr>
        <p:spPr>
          <a:xfrm>
            <a:off x="914400" y="4709160"/>
            <a:ext cx="6492240" cy="420624"/>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Brier Score 0.1063 — 43% lower prediction error than baseline</a:t>
            </a:r>
            <a:endParaRPr lang="en-US" sz="1150" dirty="0"/>
          </a:p>
        </p:txBody>
      </p:sp>
      <p:sp>
        <p:nvSpPr>
          <p:cNvPr id="20" name="Shape 14"/>
          <p:cNvSpPr/>
          <p:nvPr/>
        </p:nvSpPr>
        <p:spPr>
          <a:xfrm>
            <a:off x="7635240" y="1874520"/>
            <a:ext cx="4069080" cy="3977640"/>
          </a:xfrm>
          <a:prstGeom prst="roundRect">
            <a:avLst>
              <a:gd name="adj" fmla="val 2069"/>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1" name="Text 15"/>
          <p:cNvSpPr/>
          <p:nvPr/>
        </p:nvSpPr>
        <p:spPr>
          <a:xfrm>
            <a:off x="7863840" y="2057400"/>
            <a:ext cx="3657600" cy="274320"/>
          </a:xfrm>
          <a:prstGeom prst="rect">
            <a:avLst/>
          </a:prstGeom>
          <a:noFill/>
          <a:ln/>
        </p:spPr>
        <p:txBody>
          <a:bodyPr wrap="square" rtlCol="0" anchor="ctr"/>
          <a:lstStyle/>
          <a:p>
            <a:pPr indent="0" marL="0">
              <a:buNone/>
            </a:pPr>
            <a:r>
              <a:rPr lang="en-US" sz="1100" b="1" spc="100" kern="0" dirty="0">
                <a:solidFill>
                  <a:srgbClr val="9FB2C8"/>
                </a:solidFill>
                <a:latin typeface="Calibri" pitchFamily="34" charset="0"/>
                <a:ea typeface="Calibri" pitchFamily="34" charset="-122"/>
                <a:cs typeface="Calibri" pitchFamily="34" charset="-120"/>
              </a:rPr>
              <a:t>AUC UPLIFT BY TARGET</a:t>
            </a:r>
            <a:endParaRPr lang="en-US" sz="1100" dirty="0"/>
          </a:p>
        </p:txBody>
      </p:sp>
      <p:graphicFrame>
        <p:nvGraphicFramePr>
          <p:cNvPr id="22" name="Chart 0" descr=""/>
          <p:cNvGraphicFramePr/>
          <p:nvPr/>
        </p:nvGraphicFramePr>
        <p:xfrm>
          <a:off x="7772400" y="2423160"/>
          <a:ext cx="3794760" cy="3291840"/>
        </p:xfrm>
        <a:graphic xmlns:a="http://schemas.openxmlformats.org/drawingml/2006/main">
          <a:graphicData uri="http://schemas.openxmlformats.org/drawingml/2006/chart">
            <c:chart xmlns:c="http://schemas.openxmlformats.org/drawingml/2006/chart" r:id="rId4"/>
          </a:graphicData>
        </a:graphic>
      </p:graphicFrame>
      <p:sp>
        <p:nvSpPr>
          <p:cNvPr id="23" name="Text 16"/>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24" name="Text 17"/>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5 / 12</a:t>
            </a:r>
            <a:endParaRPr lang="en-US" sz="850" dirty="0"/>
          </a:p>
        </p:txBody>
      </p:sp>
      <p:pic>
        <p:nvPicPr>
          <p:cNvPr id="25" name="Picture 24" descr="calibration_reliability_curves.png"/>
          <p:cNvPicPr>
            <a:picLocks noChangeAspect="1"/>
          </p:cNvPicPr>
          <p:nvPr/>
        </p:nvPicPr>
        <p:blipFill>
          <a:blip r:embed="rId7"/>
          <a:stretch>
            <a:fillRect/>
          </a:stretch>
        </p:blipFill>
        <p:spPr>
          <a:xfrm>
            <a:off x="7772400" y="2423160"/>
            <a:ext cx="3794760" cy="3291840"/>
          </a:xfrm>
          <a:prstGeom prst="rect">
            <a:avLst/>
          </a:prstGeom>
        </p:spPr>
      </p:pic>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3</a:t>
            </a:r>
            <a:endParaRPr lang="en-US" sz="1250" dirty="0"/>
          </a:p>
        </p:txBody>
      </p:sp>
      <p:sp>
        <p:nvSpPr>
          <p:cNvPr id="6" name="Text 4"/>
          <p:cNvSpPr/>
          <p:nvPr/>
        </p:nvSpPr>
        <p:spPr>
          <a:xfrm>
            <a:off x="457200" y="621792"/>
            <a:ext cx="10515600" cy="566928"/>
          </a:xfrm>
          <a:prstGeom prst="rect">
            <a:avLst/>
          </a:prstGeom>
          <a:noFill/>
          <a:ln/>
        </p:spPr>
        <p:txBody>
          <a:bodyPr wrap="square" rtlCol="0" anchor="ctr"/>
          <a:lstStyle/>
          <a:p>
            <a:pPr algn="l" indent="0" marL="0">
              <a:buNone/>
            </a:pPr>
            <a:r>
              <a:rPr lang="en-US" sz="2500" b="1" dirty="0">
                <a:solidFill>
                  <a:srgbClr val="FFFFFF"/>
                </a:solidFill>
                <a:latin typeface="Calibri" pitchFamily="34" charset="0"/>
                <a:ea typeface="Calibri" pitchFamily="34" charset="-122"/>
                <a:cs typeface="Calibri" pitchFamily="34" charset="-120"/>
              </a:rPr>
              <a:t>Time-to-Event &amp; Competing Risks Survival Modeling</a:t>
            </a:r>
            <a:endParaRPr lang="en-US" sz="2500" dirty="0"/>
          </a:p>
        </p:txBody>
      </p:sp>
      <p:sp>
        <p:nvSpPr>
          <p:cNvPr id="7" name="Shape 5"/>
          <p:cNvSpPr/>
          <p:nvPr/>
        </p:nvSpPr>
        <p:spPr>
          <a:xfrm>
            <a:off x="457200" y="1417320"/>
            <a:ext cx="3611880" cy="1234440"/>
          </a:xfrm>
          <a:prstGeom prst="roundRect">
            <a:avLst>
              <a:gd name="adj" fmla="val 6667"/>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731520" y="1554480"/>
            <a:ext cx="3063240" cy="502920"/>
          </a:xfrm>
          <a:prstGeom prst="rect">
            <a:avLst/>
          </a:prstGeom>
          <a:noFill/>
          <a:ln/>
        </p:spPr>
        <p:txBody>
          <a:bodyPr wrap="square" rtlCol="0" anchor="ctr"/>
          <a:lstStyle/>
          <a:p>
            <a:pPr indent="0" marL="0">
              <a:buNone/>
            </a:pPr>
            <a:r>
              <a:rPr lang="en-US" sz="2700" b="1" dirty="0">
                <a:solidFill>
                  <a:srgbClr val="FF6B6B"/>
                </a:solidFill>
                <a:latin typeface="Calibri" pitchFamily="34" charset="0"/>
                <a:ea typeface="Calibri" pitchFamily="34" charset="-122"/>
                <a:cs typeface="Calibri" pitchFamily="34" charset="-120"/>
              </a:rPr>
              <a:t>12.6%</a:t>
            </a:r>
            <a:endParaRPr lang="en-US" sz="2700" dirty="0"/>
          </a:p>
        </p:txBody>
      </p:sp>
      <p:sp>
        <p:nvSpPr>
          <p:cNvPr id="9" name="Text 7"/>
          <p:cNvSpPr/>
          <p:nvPr/>
        </p:nvSpPr>
        <p:spPr>
          <a:xfrm>
            <a:off x="731520" y="2075688"/>
            <a:ext cx="306324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Default Incidence</a:t>
            </a:r>
            <a:endParaRPr lang="en-US" sz="1150" dirty="0"/>
          </a:p>
        </p:txBody>
      </p:sp>
      <p:sp>
        <p:nvSpPr>
          <p:cNvPr id="10" name="Text 8"/>
          <p:cNvSpPr/>
          <p:nvPr/>
        </p:nvSpPr>
        <p:spPr>
          <a:xfrm>
            <a:off x="731520" y="2313432"/>
            <a:ext cx="3063240" cy="274320"/>
          </a:xfrm>
          <a:prstGeom prst="rect">
            <a:avLst/>
          </a:prstGeom>
          <a:noFill/>
          <a:ln/>
        </p:spPr>
        <p:txBody>
          <a:bodyPr wrap="square" rtlCol="0" anchor="ctr"/>
          <a:lstStyle/>
          <a:p>
            <a:pPr indent="0" marL="0">
              <a:buNone/>
            </a:pPr>
            <a:r>
              <a:rPr lang="en-US" sz="950" dirty="0">
                <a:solidFill>
                  <a:srgbClr val="6B7C93"/>
                </a:solidFill>
                <a:latin typeface="Calibri" pitchFamily="34" charset="0"/>
                <a:ea typeface="Calibri" pitchFamily="34" charset="-122"/>
                <a:cs typeface="Calibri" pitchFamily="34" charset="-120"/>
              </a:rPr>
              <a:t>378 / 3,000 loans</a:t>
            </a:r>
            <a:endParaRPr lang="en-US" sz="950" dirty="0"/>
          </a:p>
        </p:txBody>
      </p:sp>
      <p:sp>
        <p:nvSpPr>
          <p:cNvPr id="11" name="Shape 9"/>
          <p:cNvSpPr/>
          <p:nvPr/>
        </p:nvSpPr>
        <p:spPr>
          <a:xfrm>
            <a:off x="4251960" y="1417320"/>
            <a:ext cx="3611880" cy="1234440"/>
          </a:xfrm>
          <a:prstGeom prst="roundRect">
            <a:avLst>
              <a:gd name="adj" fmla="val 6667"/>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2" name="Text 10"/>
          <p:cNvSpPr/>
          <p:nvPr/>
        </p:nvSpPr>
        <p:spPr>
          <a:xfrm>
            <a:off x="4526280" y="1554480"/>
            <a:ext cx="3063240" cy="502920"/>
          </a:xfrm>
          <a:prstGeom prst="rect">
            <a:avLst/>
          </a:prstGeom>
          <a:noFill/>
          <a:ln/>
        </p:spPr>
        <p:txBody>
          <a:bodyPr wrap="square" rtlCol="0" anchor="ctr"/>
          <a:lstStyle/>
          <a:p>
            <a:pPr indent="0" marL="0">
              <a:buNone/>
            </a:pPr>
            <a:r>
              <a:rPr lang="en-US" sz="2700" b="1" dirty="0">
                <a:solidFill>
                  <a:srgbClr val="4CC3F0"/>
                </a:solidFill>
                <a:latin typeface="Calibri" pitchFamily="34" charset="0"/>
                <a:ea typeface="Calibri" pitchFamily="34" charset="-122"/>
                <a:cs typeface="Calibri" pitchFamily="34" charset="-120"/>
              </a:rPr>
              <a:t>55.7%</a:t>
            </a:r>
            <a:endParaRPr lang="en-US" sz="2700" dirty="0"/>
          </a:p>
        </p:txBody>
      </p:sp>
      <p:sp>
        <p:nvSpPr>
          <p:cNvPr id="13" name="Text 11"/>
          <p:cNvSpPr/>
          <p:nvPr/>
        </p:nvSpPr>
        <p:spPr>
          <a:xfrm>
            <a:off x="4526280" y="2075688"/>
            <a:ext cx="306324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Prepayment Incidence</a:t>
            </a:r>
            <a:endParaRPr lang="en-US" sz="1150" dirty="0"/>
          </a:p>
        </p:txBody>
      </p:sp>
      <p:sp>
        <p:nvSpPr>
          <p:cNvPr id="14" name="Text 12"/>
          <p:cNvSpPr/>
          <p:nvPr/>
        </p:nvSpPr>
        <p:spPr>
          <a:xfrm>
            <a:off x="4526280" y="2313432"/>
            <a:ext cx="3063240" cy="274320"/>
          </a:xfrm>
          <a:prstGeom prst="rect">
            <a:avLst/>
          </a:prstGeom>
          <a:noFill/>
          <a:ln/>
        </p:spPr>
        <p:txBody>
          <a:bodyPr wrap="square" rtlCol="0" anchor="ctr"/>
          <a:lstStyle/>
          <a:p>
            <a:pPr indent="0" marL="0">
              <a:buNone/>
            </a:pPr>
            <a:r>
              <a:rPr lang="en-US" sz="950" dirty="0">
                <a:solidFill>
                  <a:srgbClr val="6B7C93"/>
                </a:solidFill>
                <a:latin typeface="Calibri" pitchFamily="34" charset="0"/>
                <a:ea typeface="Calibri" pitchFamily="34" charset="-122"/>
                <a:cs typeface="Calibri" pitchFamily="34" charset="-120"/>
              </a:rPr>
              <a:t>1,672 / 3,000 loans</a:t>
            </a:r>
            <a:endParaRPr lang="en-US" sz="950" dirty="0"/>
          </a:p>
        </p:txBody>
      </p:sp>
      <p:sp>
        <p:nvSpPr>
          <p:cNvPr id="15" name="Shape 13"/>
          <p:cNvSpPr/>
          <p:nvPr/>
        </p:nvSpPr>
        <p:spPr>
          <a:xfrm>
            <a:off x="8046720" y="1417320"/>
            <a:ext cx="3611880" cy="1234440"/>
          </a:xfrm>
          <a:prstGeom prst="roundRect">
            <a:avLst>
              <a:gd name="adj" fmla="val 6667"/>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6" name="Text 14"/>
          <p:cNvSpPr/>
          <p:nvPr/>
        </p:nvSpPr>
        <p:spPr>
          <a:xfrm>
            <a:off x="8321040" y="1554480"/>
            <a:ext cx="3063240" cy="502920"/>
          </a:xfrm>
          <a:prstGeom prst="rect">
            <a:avLst/>
          </a:prstGeom>
          <a:noFill/>
          <a:ln/>
        </p:spPr>
        <p:txBody>
          <a:bodyPr wrap="square" rtlCol="0" anchor="ctr"/>
          <a:lstStyle/>
          <a:p>
            <a:pPr indent="0" marL="0">
              <a:buNone/>
            </a:pPr>
            <a:r>
              <a:rPr lang="en-US" sz="2700" b="1" dirty="0">
                <a:solidFill>
                  <a:srgbClr val="00E5C7"/>
                </a:solidFill>
                <a:latin typeface="Calibri" pitchFamily="34" charset="0"/>
                <a:ea typeface="Calibri" pitchFamily="34" charset="-122"/>
                <a:cs typeface="Calibri" pitchFamily="34" charset="-120"/>
              </a:rPr>
              <a:t>31.7%</a:t>
            </a:r>
            <a:endParaRPr lang="en-US" sz="2700" dirty="0"/>
          </a:p>
        </p:txBody>
      </p:sp>
      <p:sp>
        <p:nvSpPr>
          <p:cNvPr id="17" name="Text 15"/>
          <p:cNvSpPr/>
          <p:nvPr/>
        </p:nvSpPr>
        <p:spPr>
          <a:xfrm>
            <a:off x="8321040" y="2075688"/>
            <a:ext cx="306324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Right-Censored (Active)</a:t>
            </a:r>
            <a:endParaRPr lang="en-US" sz="1150" dirty="0"/>
          </a:p>
        </p:txBody>
      </p:sp>
      <p:sp>
        <p:nvSpPr>
          <p:cNvPr id="18" name="Text 16"/>
          <p:cNvSpPr/>
          <p:nvPr/>
        </p:nvSpPr>
        <p:spPr>
          <a:xfrm>
            <a:off x="8321040" y="2313432"/>
            <a:ext cx="3063240" cy="274320"/>
          </a:xfrm>
          <a:prstGeom prst="rect">
            <a:avLst/>
          </a:prstGeom>
          <a:noFill/>
          <a:ln/>
        </p:spPr>
        <p:txBody>
          <a:bodyPr wrap="square" rtlCol="0" anchor="ctr"/>
          <a:lstStyle/>
          <a:p>
            <a:pPr indent="0" marL="0">
              <a:buNone/>
            </a:pPr>
            <a:r>
              <a:rPr lang="en-US" sz="950" dirty="0">
                <a:solidFill>
                  <a:srgbClr val="6B7C93"/>
                </a:solidFill>
                <a:latin typeface="Calibri" pitchFamily="34" charset="0"/>
                <a:ea typeface="Calibri" pitchFamily="34" charset="-122"/>
                <a:cs typeface="Calibri" pitchFamily="34" charset="-120"/>
              </a:rPr>
              <a:t>Still performing at horizon</a:t>
            </a:r>
            <a:endParaRPr lang="en-US" sz="950" dirty="0"/>
          </a:p>
        </p:txBody>
      </p:sp>
      <p:sp>
        <p:nvSpPr>
          <p:cNvPr id="19" name="Text 17"/>
          <p:cNvSpPr/>
          <p:nvPr/>
        </p:nvSpPr>
        <p:spPr>
          <a:xfrm>
            <a:off x="457200" y="2926080"/>
            <a:ext cx="5486400" cy="274320"/>
          </a:xfrm>
          <a:prstGeom prst="rect">
            <a:avLst/>
          </a:prstGeom>
          <a:noFill/>
          <a:ln/>
        </p:spPr>
        <p:txBody>
          <a:bodyPr wrap="square" rtlCol="0" anchor="ctr"/>
          <a:lstStyle/>
          <a:p>
            <a:pPr indent="0" marL="0">
              <a:buNone/>
            </a:pPr>
            <a:r>
              <a:rPr lang="en-US" sz="1200" b="1" spc="120" kern="0" dirty="0">
                <a:solidFill>
                  <a:srgbClr val="9FB2C8"/>
                </a:solidFill>
                <a:latin typeface="Calibri" pitchFamily="34" charset="0"/>
                <a:ea typeface="Calibri" pitchFamily="34" charset="-122"/>
                <a:cs typeface="Calibri" pitchFamily="34" charset="-120"/>
              </a:rPr>
              <a:t>STATISTICAL RESULTS</a:t>
            </a:r>
            <a:endParaRPr lang="en-US" sz="1200" dirty="0"/>
          </a:p>
        </p:txBody>
      </p:sp>
      <p:sp>
        <p:nvSpPr>
          <p:cNvPr id="20" name="Shape 18"/>
          <p:cNvSpPr/>
          <p:nvPr/>
        </p:nvSpPr>
        <p:spPr>
          <a:xfrm>
            <a:off x="457200" y="3310128"/>
            <a:ext cx="365760" cy="365760"/>
          </a:xfrm>
          <a:prstGeom prst="ellipse">
            <a:avLst/>
          </a:prstGeom>
          <a:solidFill>
            <a:srgbClr val="17233A"/>
          </a:solidFill>
          <a:ln w="15875">
            <a:solidFill>
              <a:srgbClr val="00E5C7"/>
            </a:solidFill>
            <a:prstDash val="solid"/>
          </a:ln>
        </p:spPr>
      </p:sp>
      <p:pic>
        <p:nvPicPr>
          <p:cNvPr id="21" name="Image 0" descr="/home/claude/lpie/assets/activity_teal.png">    </p:cNvPr>
          <p:cNvPicPr>
            <a:picLocks noChangeAspect="1"/>
          </p:cNvPicPr>
          <p:nvPr/>
        </p:nvPicPr>
        <p:blipFill>
          <a:blip r:embed="rId1"/>
          <a:stretch>
            <a:fillRect/>
          </a:stretch>
        </p:blipFill>
        <p:spPr>
          <a:xfrm>
            <a:off x="539496" y="3392424"/>
            <a:ext cx="201168" cy="201168"/>
          </a:xfrm>
          <a:prstGeom prst="rect">
            <a:avLst/>
          </a:prstGeom>
        </p:spPr>
      </p:pic>
      <p:sp>
        <p:nvSpPr>
          <p:cNvPr id="22" name="Text 19"/>
          <p:cNvSpPr/>
          <p:nvPr/>
        </p:nvSpPr>
        <p:spPr>
          <a:xfrm>
            <a:off x="960120" y="3236976"/>
            <a:ext cx="5577840" cy="548640"/>
          </a:xfrm>
          <a:prstGeom prst="rect">
            <a:avLst/>
          </a:prstGeom>
          <a:noFill/>
          <a:ln/>
        </p:spPr>
        <p:txBody>
          <a:bodyPr wrap="square" rtlCol="0" anchor="ctr"/>
          <a:lstStyle/>
          <a:p>
            <a:pPr indent="0" marL="0">
              <a:lnSpc>
                <a:spcPct val="110000"/>
              </a:lnSpc>
              <a:buNone/>
            </a:pPr>
            <a:r>
              <a:rPr lang="en-US" sz="1100" dirty="0">
                <a:solidFill>
                  <a:srgbClr val="9FB2C8"/>
                </a:solidFill>
                <a:latin typeface="Calibri" pitchFamily="34" charset="0"/>
                <a:ea typeface="Calibri" pitchFamily="34" charset="-122"/>
                <a:cs typeface="Calibri" pitchFamily="34" charset="-120"/>
              </a:rPr>
              <a:t>Log-Rank Test: p = 2.83 × 10⁻¹³ — extremely significant Prime vs Subprime separation</a:t>
            </a:r>
            <a:endParaRPr lang="en-US" sz="1100" dirty="0"/>
          </a:p>
        </p:txBody>
      </p:sp>
      <p:sp>
        <p:nvSpPr>
          <p:cNvPr id="23" name="Shape 20"/>
          <p:cNvSpPr/>
          <p:nvPr/>
        </p:nvSpPr>
        <p:spPr>
          <a:xfrm>
            <a:off x="457200" y="3877056"/>
            <a:ext cx="365760" cy="365760"/>
          </a:xfrm>
          <a:prstGeom prst="ellipse">
            <a:avLst/>
          </a:prstGeom>
          <a:solidFill>
            <a:srgbClr val="17233A"/>
          </a:solidFill>
          <a:ln w="15875">
            <a:solidFill>
              <a:srgbClr val="00E5C7"/>
            </a:solidFill>
            <a:prstDash val="solid"/>
          </a:ln>
        </p:spPr>
      </p:sp>
      <p:pic>
        <p:nvPicPr>
          <p:cNvPr id="24" name="Image 1" descr="/home/claude/lpie/assets/activity_teal.png">    </p:cNvPr>
          <p:cNvPicPr>
            <a:picLocks noChangeAspect="1"/>
          </p:cNvPicPr>
          <p:nvPr/>
        </p:nvPicPr>
        <p:blipFill>
          <a:blip r:embed="rId2"/>
          <a:stretch>
            <a:fillRect/>
          </a:stretch>
        </p:blipFill>
        <p:spPr>
          <a:xfrm>
            <a:off x="539496" y="3959352"/>
            <a:ext cx="201168" cy="201168"/>
          </a:xfrm>
          <a:prstGeom prst="rect">
            <a:avLst/>
          </a:prstGeom>
        </p:spPr>
      </p:pic>
      <p:sp>
        <p:nvSpPr>
          <p:cNvPr id="25" name="Text 21"/>
          <p:cNvSpPr/>
          <p:nvPr/>
        </p:nvSpPr>
        <p:spPr>
          <a:xfrm>
            <a:off x="960120" y="3803904"/>
            <a:ext cx="5577840" cy="548640"/>
          </a:xfrm>
          <a:prstGeom prst="rect">
            <a:avLst/>
          </a:prstGeom>
          <a:noFill/>
          <a:ln/>
        </p:spPr>
        <p:txBody>
          <a:bodyPr wrap="square" rtlCol="0" anchor="ctr"/>
          <a:lstStyle/>
          <a:p>
            <a:pPr indent="0" marL="0">
              <a:lnSpc>
                <a:spcPct val="110000"/>
              </a:lnSpc>
              <a:buNone/>
            </a:pPr>
            <a:r>
              <a:rPr lang="en-US" sz="1100" dirty="0">
                <a:solidFill>
                  <a:srgbClr val="9FB2C8"/>
                </a:solidFill>
                <a:latin typeface="Calibri" pitchFamily="34" charset="0"/>
                <a:ea typeface="Calibri" pitchFamily="34" charset="-122"/>
                <a:cs typeface="Calibri" pitchFamily="34" charset="-120"/>
              </a:rPr>
              <a:t>Cox PH: Prime borrowers show 26.9% lower default hazard (HR = 0.731)</a:t>
            </a:r>
            <a:endParaRPr lang="en-US" sz="1100" dirty="0"/>
          </a:p>
        </p:txBody>
      </p:sp>
      <p:sp>
        <p:nvSpPr>
          <p:cNvPr id="26" name="Shape 22"/>
          <p:cNvSpPr/>
          <p:nvPr/>
        </p:nvSpPr>
        <p:spPr>
          <a:xfrm>
            <a:off x="457200" y="4443984"/>
            <a:ext cx="365760" cy="365760"/>
          </a:xfrm>
          <a:prstGeom prst="ellipse">
            <a:avLst/>
          </a:prstGeom>
          <a:solidFill>
            <a:srgbClr val="17233A"/>
          </a:solidFill>
          <a:ln w="15875">
            <a:solidFill>
              <a:srgbClr val="00E5C7"/>
            </a:solidFill>
            <a:prstDash val="solid"/>
          </a:ln>
        </p:spPr>
      </p:sp>
      <p:pic>
        <p:nvPicPr>
          <p:cNvPr id="27" name="Image 2" descr="/home/claude/lpie/assets/activity_teal.png">    </p:cNvPr>
          <p:cNvPicPr>
            <a:picLocks noChangeAspect="1"/>
          </p:cNvPicPr>
          <p:nvPr/>
        </p:nvPicPr>
        <p:blipFill>
          <a:blip r:embed="rId3"/>
          <a:stretch>
            <a:fillRect/>
          </a:stretch>
        </p:blipFill>
        <p:spPr>
          <a:xfrm>
            <a:off x="539496" y="4526280"/>
            <a:ext cx="201168" cy="201168"/>
          </a:xfrm>
          <a:prstGeom prst="rect">
            <a:avLst/>
          </a:prstGeom>
        </p:spPr>
      </p:pic>
      <p:sp>
        <p:nvSpPr>
          <p:cNvPr id="28" name="Text 23"/>
          <p:cNvSpPr/>
          <p:nvPr/>
        </p:nvSpPr>
        <p:spPr>
          <a:xfrm>
            <a:off x="960120" y="4370832"/>
            <a:ext cx="5577840" cy="548640"/>
          </a:xfrm>
          <a:prstGeom prst="rect">
            <a:avLst/>
          </a:prstGeom>
          <a:noFill/>
          <a:ln/>
        </p:spPr>
        <p:txBody>
          <a:bodyPr wrap="square" rtlCol="0" anchor="ctr"/>
          <a:lstStyle/>
          <a:p>
            <a:pPr indent="0" marL="0">
              <a:lnSpc>
                <a:spcPct val="110000"/>
              </a:lnSpc>
              <a:buNone/>
            </a:pPr>
            <a:r>
              <a:rPr lang="en-US" sz="1100" dirty="0">
                <a:solidFill>
                  <a:srgbClr val="9FB2C8"/>
                </a:solidFill>
                <a:latin typeface="Calibri" pitchFamily="34" charset="0"/>
                <a:ea typeface="Calibri" pitchFamily="34" charset="-122"/>
                <a:cs typeface="Calibri" pitchFamily="34" charset="-120"/>
              </a:rPr>
              <a:t>Cox PH: +1% interest rate increases default hazard by 57.8% (HR = 1.578)</a:t>
            </a:r>
            <a:endParaRPr lang="en-US" sz="1100" dirty="0"/>
          </a:p>
        </p:txBody>
      </p:sp>
      <p:sp>
        <p:nvSpPr>
          <p:cNvPr id="29" name="Shape 24"/>
          <p:cNvSpPr/>
          <p:nvPr/>
        </p:nvSpPr>
        <p:spPr>
          <a:xfrm>
            <a:off x="457200" y="5010912"/>
            <a:ext cx="365760" cy="365760"/>
          </a:xfrm>
          <a:prstGeom prst="ellipse">
            <a:avLst/>
          </a:prstGeom>
          <a:solidFill>
            <a:srgbClr val="17233A"/>
          </a:solidFill>
          <a:ln w="15875">
            <a:solidFill>
              <a:srgbClr val="00E5C7"/>
            </a:solidFill>
            <a:prstDash val="solid"/>
          </a:ln>
        </p:spPr>
      </p:sp>
      <p:pic>
        <p:nvPicPr>
          <p:cNvPr id="30" name="Image 3" descr="/home/claude/lpie/assets/activity_teal.png">    </p:cNvPr>
          <p:cNvPicPr>
            <a:picLocks noChangeAspect="1"/>
          </p:cNvPicPr>
          <p:nvPr/>
        </p:nvPicPr>
        <p:blipFill>
          <a:blip r:embed="rId4"/>
          <a:stretch>
            <a:fillRect/>
          </a:stretch>
        </p:blipFill>
        <p:spPr>
          <a:xfrm>
            <a:off x="539496" y="5093208"/>
            <a:ext cx="201168" cy="201168"/>
          </a:xfrm>
          <a:prstGeom prst="rect">
            <a:avLst/>
          </a:prstGeom>
        </p:spPr>
      </p:pic>
      <p:sp>
        <p:nvSpPr>
          <p:cNvPr id="31" name="Text 25"/>
          <p:cNvSpPr/>
          <p:nvPr/>
        </p:nvSpPr>
        <p:spPr>
          <a:xfrm>
            <a:off x="960120" y="4937760"/>
            <a:ext cx="5577840" cy="548640"/>
          </a:xfrm>
          <a:prstGeom prst="rect">
            <a:avLst/>
          </a:prstGeom>
          <a:noFill/>
          <a:ln/>
        </p:spPr>
        <p:txBody>
          <a:bodyPr wrap="square" rtlCol="0" anchor="ctr"/>
          <a:lstStyle/>
          <a:p>
            <a:pPr indent="0" marL="0">
              <a:lnSpc>
                <a:spcPct val="110000"/>
              </a:lnSpc>
              <a:buNone/>
            </a:pPr>
            <a:r>
              <a:rPr lang="en-US" sz="1100" dirty="0">
                <a:solidFill>
                  <a:srgbClr val="9FB2C8"/>
                </a:solidFill>
                <a:latin typeface="Calibri" pitchFamily="34" charset="0"/>
                <a:ea typeface="Calibri" pitchFamily="34" charset="-122"/>
                <a:cs typeface="Calibri" pitchFamily="34" charset="-120"/>
              </a:rPr>
              <a:t>Weibull AFT outperforms constant hazard by ΔAIC = 149.8</a:t>
            </a:r>
            <a:endParaRPr lang="en-US" sz="1100" dirty="0"/>
          </a:p>
        </p:txBody>
      </p:sp>
      <p:sp>
        <p:nvSpPr>
          <p:cNvPr id="32" name="Shape 26"/>
          <p:cNvSpPr/>
          <p:nvPr/>
        </p:nvSpPr>
        <p:spPr>
          <a:xfrm>
            <a:off x="6766560" y="2926080"/>
            <a:ext cx="4937760" cy="3520440"/>
          </a:xfrm>
          <a:prstGeom prst="roundRect">
            <a:avLst>
              <a:gd name="adj" fmla="val 2338"/>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3" name="Text 27"/>
          <p:cNvSpPr/>
          <p:nvPr/>
        </p:nvSpPr>
        <p:spPr>
          <a:xfrm>
            <a:off x="7040880" y="3108960"/>
            <a:ext cx="4480560" cy="365760"/>
          </a:xfrm>
          <a:prstGeom prst="rect">
            <a:avLst/>
          </a:prstGeom>
          <a:noFill/>
          <a:ln/>
        </p:spPr>
        <p:txBody>
          <a:bodyPr wrap="square" rtlCol="0" anchor="ctr"/>
          <a:lstStyle/>
          <a:p>
            <a:pPr indent="0" marL="0">
              <a:buNone/>
            </a:pPr>
            <a:r>
              <a:rPr lang="en-US" sz="1050" b="1" spc="50" kern="0" dirty="0">
                <a:solidFill>
                  <a:srgbClr val="9FB2C8"/>
                </a:solidFill>
                <a:latin typeface="Calibri" pitchFamily="34" charset="0"/>
                <a:ea typeface="Calibri" pitchFamily="34" charset="-122"/>
                <a:cs typeface="Calibri" pitchFamily="34" charset="-120"/>
              </a:rPr>
              <a:t>CUMULATIVE INCIDENCE — DEFAULT vs PREPAYMENT</a:t>
            </a:r>
            <a:endParaRPr lang="en-US" sz="1050" dirty="0"/>
          </a:p>
        </p:txBody>
      </p:sp>
      <p:graphicFrame>
        <p:nvGraphicFramePr>
          <p:cNvPr id="34" name="Chart 0" descr=""/>
          <p:cNvGraphicFramePr/>
          <p:nvPr/>
        </p:nvGraphicFramePr>
        <p:xfrm>
          <a:off x="6903720" y="3520440"/>
          <a:ext cx="4663440" cy="2788920"/>
        </p:xfrm>
        <a:graphic xmlns:a="http://schemas.openxmlformats.org/drawingml/2006/main">
          <a:graphicData uri="http://schemas.openxmlformats.org/drawingml/2006/chart">
            <c:chart xmlns:c="http://schemas.openxmlformats.org/drawingml/2006/chart" r:id="rId5"/>
          </a:graphicData>
        </a:graphic>
      </p:graphicFrame>
      <p:sp>
        <p:nvSpPr>
          <p:cNvPr id="35" name="Text 28"/>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36" name="Text 29"/>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6 / 12</a:t>
            </a:r>
            <a:endParaRPr lang="en-US" sz="850" dirty="0"/>
          </a:p>
        </p:txBody>
      </p:sp>
      <p:pic>
        <p:nvPicPr>
          <p:cNvPr id="37" name="Picture 36" descr="survival_cif_competing_risks.png"/>
          <p:cNvPicPr>
            <a:picLocks noChangeAspect="1"/>
          </p:cNvPicPr>
          <p:nvPr/>
        </p:nvPicPr>
        <p:blipFill>
          <a:blip r:embed="rId8"/>
          <a:stretch>
            <a:fillRect/>
          </a:stretch>
        </p:blipFill>
        <p:spPr>
          <a:xfrm>
            <a:off x="6766560" y="3291840"/>
            <a:ext cx="4846320" cy="2834640"/>
          </a:xfrm>
          <a:prstGeom prst="rect">
            <a:avLst/>
          </a:prstGeom>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4</a:t>
            </a:r>
            <a:endParaRPr lang="en-US" sz="1250" dirty="0"/>
          </a:p>
        </p:txBody>
      </p:sp>
      <p:sp>
        <p:nvSpPr>
          <p:cNvPr id="6" name="Text 4"/>
          <p:cNvSpPr/>
          <p:nvPr/>
        </p:nvSpPr>
        <p:spPr>
          <a:xfrm>
            <a:off x="457200" y="621792"/>
            <a:ext cx="10515600" cy="566928"/>
          </a:xfrm>
          <a:prstGeom prst="rect">
            <a:avLst/>
          </a:prstGeom>
          <a:noFill/>
          <a:ln/>
        </p:spPr>
        <p:txBody>
          <a:bodyPr wrap="square" rtlCol="0" anchor="ctr"/>
          <a:lstStyle/>
          <a:p>
            <a:pPr algn="l" indent="0" marL="0">
              <a:buNone/>
            </a:pPr>
            <a:r>
              <a:rPr lang="en-US" sz="2500" b="1" dirty="0">
                <a:solidFill>
                  <a:srgbClr val="FFFFFF"/>
                </a:solidFill>
                <a:latin typeface="Calibri" pitchFamily="34" charset="0"/>
                <a:ea typeface="Calibri" pitchFamily="34" charset="-122"/>
                <a:cs typeface="Calibri" pitchFamily="34" charset="-120"/>
              </a:rPr>
              <a:t>Hybrid Anomaly &amp; Exception Intelligence Scanner</a:t>
            </a:r>
            <a:endParaRPr lang="en-US" sz="2500" dirty="0"/>
          </a:p>
        </p:txBody>
      </p:sp>
      <p:sp>
        <p:nvSpPr>
          <p:cNvPr id="7" name="Shape 5"/>
          <p:cNvSpPr/>
          <p:nvPr/>
        </p:nvSpPr>
        <p:spPr>
          <a:xfrm>
            <a:off x="457200" y="1508760"/>
            <a:ext cx="5486400" cy="2926080"/>
          </a:xfrm>
          <a:prstGeom prst="roundRect">
            <a:avLst>
              <a:gd name="adj" fmla="val 2813"/>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731520" y="1783080"/>
            <a:ext cx="502920" cy="502920"/>
          </a:xfrm>
          <a:prstGeom prst="ellipse">
            <a:avLst/>
          </a:prstGeom>
          <a:solidFill>
            <a:srgbClr val="17233A"/>
          </a:solidFill>
          <a:ln w="15875">
            <a:solidFill>
              <a:srgbClr val="00E5C7"/>
            </a:solidFill>
            <a:prstDash val="solid"/>
          </a:ln>
        </p:spPr>
      </p:sp>
      <p:pic>
        <p:nvPicPr>
          <p:cNvPr id="9" name="Image 0" descr="/home/claude/lpie/assets/target_teal.png">    </p:cNvPr>
          <p:cNvPicPr>
            <a:picLocks noChangeAspect="1"/>
          </p:cNvPicPr>
          <p:nvPr/>
        </p:nvPicPr>
        <p:blipFill>
          <a:blip r:embed="rId1"/>
          <a:stretch>
            <a:fillRect/>
          </a:stretch>
        </p:blipFill>
        <p:spPr>
          <a:xfrm>
            <a:off x="844677" y="1896237"/>
            <a:ext cx="276606" cy="276606"/>
          </a:xfrm>
          <a:prstGeom prst="rect">
            <a:avLst/>
          </a:prstGeom>
        </p:spPr>
      </p:pic>
      <p:sp>
        <p:nvSpPr>
          <p:cNvPr id="10" name="Text 7"/>
          <p:cNvSpPr/>
          <p:nvPr/>
        </p:nvSpPr>
        <p:spPr>
          <a:xfrm>
            <a:off x="1371600" y="1828800"/>
            <a:ext cx="393192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DETERMINISTIC RULES · 10 CHECKS</a:t>
            </a:r>
            <a:endParaRPr lang="en-US" sz="1250" dirty="0"/>
          </a:p>
        </p:txBody>
      </p:sp>
      <p:sp>
        <p:nvSpPr>
          <p:cNvPr id="11" name="Text 8"/>
          <p:cNvSpPr/>
          <p:nvPr/>
        </p:nvSpPr>
        <p:spPr>
          <a:xfrm>
            <a:off x="777240" y="2468880"/>
            <a:ext cx="44805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Negative balance detection</a:t>
            </a:r>
            <a:endParaRPr lang="en-US" sz="1150" dirty="0"/>
          </a:p>
        </p:txBody>
      </p:sp>
      <p:sp>
        <p:nvSpPr>
          <p:cNvPr id="12" name="Text 9"/>
          <p:cNvSpPr/>
          <p:nvPr/>
        </p:nvSpPr>
        <p:spPr>
          <a:xfrm>
            <a:off x="777240" y="2852928"/>
            <a:ext cx="44805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Balance exceeds original amount</a:t>
            </a:r>
            <a:endParaRPr lang="en-US" sz="1150" dirty="0"/>
          </a:p>
        </p:txBody>
      </p:sp>
      <p:sp>
        <p:nvSpPr>
          <p:cNvPr id="13" name="Text 10"/>
          <p:cNvSpPr/>
          <p:nvPr/>
        </p:nvSpPr>
        <p:spPr>
          <a:xfrm>
            <a:off x="777240" y="3236976"/>
            <a:ext cx="44805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Impossible delinquency transitions</a:t>
            </a:r>
            <a:endParaRPr lang="en-US" sz="1150" dirty="0"/>
          </a:p>
        </p:txBody>
      </p:sp>
      <p:sp>
        <p:nvSpPr>
          <p:cNvPr id="14" name="Text 11"/>
          <p:cNvSpPr/>
          <p:nvPr/>
        </p:nvSpPr>
        <p:spPr>
          <a:xfrm>
            <a:off x="777240" y="3621024"/>
            <a:ext cx="44805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Status–DPD inconsistency</a:t>
            </a:r>
            <a:endParaRPr lang="en-US" sz="1150" dirty="0"/>
          </a:p>
        </p:txBody>
      </p:sp>
      <p:sp>
        <p:nvSpPr>
          <p:cNvPr id="15" name="Text 12"/>
          <p:cNvSpPr/>
          <p:nvPr/>
        </p:nvSpPr>
        <p:spPr>
          <a:xfrm>
            <a:off x="777240" y="4005072"/>
            <a:ext cx="44805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Stale record detection</a:t>
            </a:r>
            <a:endParaRPr lang="en-US" sz="1150" dirty="0"/>
          </a:p>
        </p:txBody>
      </p:sp>
      <p:sp>
        <p:nvSpPr>
          <p:cNvPr id="16" name="Shape 13"/>
          <p:cNvSpPr/>
          <p:nvPr/>
        </p:nvSpPr>
        <p:spPr>
          <a:xfrm>
            <a:off x="6217920" y="1508760"/>
            <a:ext cx="5486400" cy="2926080"/>
          </a:xfrm>
          <a:prstGeom prst="roundRect">
            <a:avLst>
              <a:gd name="adj" fmla="val 2813"/>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7" name="Shape 14"/>
          <p:cNvSpPr/>
          <p:nvPr/>
        </p:nvSpPr>
        <p:spPr>
          <a:xfrm>
            <a:off x="6492240" y="1783080"/>
            <a:ext cx="502920" cy="502920"/>
          </a:xfrm>
          <a:prstGeom prst="ellipse">
            <a:avLst/>
          </a:prstGeom>
          <a:solidFill>
            <a:srgbClr val="17233A"/>
          </a:solidFill>
          <a:ln w="15875">
            <a:solidFill>
              <a:srgbClr val="00E5C7"/>
            </a:solidFill>
            <a:prstDash val="solid"/>
          </a:ln>
        </p:spPr>
      </p:sp>
      <p:pic>
        <p:nvPicPr>
          <p:cNvPr id="18" name="Image 1" descr="/home/claude/lpie/assets/cpu_teal.png">    </p:cNvPr>
          <p:cNvPicPr>
            <a:picLocks noChangeAspect="1"/>
          </p:cNvPicPr>
          <p:nvPr/>
        </p:nvPicPr>
        <p:blipFill>
          <a:blip r:embed="rId2"/>
          <a:stretch>
            <a:fillRect/>
          </a:stretch>
        </p:blipFill>
        <p:spPr>
          <a:xfrm>
            <a:off x="6605397" y="1896237"/>
            <a:ext cx="276606" cy="276606"/>
          </a:xfrm>
          <a:prstGeom prst="rect">
            <a:avLst/>
          </a:prstGeom>
        </p:spPr>
      </p:pic>
      <p:sp>
        <p:nvSpPr>
          <p:cNvPr id="19" name="Text 15"/>
          <p:cNvSpPr/>
          <p:nvPr/>
        </p:nvSpPr>
        <p:spPr>
          <a:xfrm>
            <a:off x="7132320" y="1828800"/>
            <a:ext cx="438912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UNSUPERVISED ML</a:t>
            </a:r>
            <a:endParaRPr lang="en-US" sz="1250" dirty="0"/>
          </a:p>
        </p:txBody>
      </p:sp>
      <p:sp>
        <p:nvSpPr>
          <p:cNvPr id="20" name="Text 16"/>
          <p:cNvSpPr/>
          <p:nvPr/>
        </p:nvSpPr>
        <p:spPr>
          <a:xfrm>
            <a:off x="6537960" y="2468880"/>
            <a:ext cx="49377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Isolation Forest spatial density estimation</a:t>
            </a:r>
            <a:endParaRPr lang="en-US" sz="1150" dirty="0"/>
          </a:p>
        </p:txBody>
      </p:sp>
      <p:sp>
        <p:nvSpPr>
          <p:cNvPr id="21" name="Text 17"/>
          <p:cNvSpPr/>
          <p:nvPr/>
        </p:nvSpPr>
        <p:spPr>
          <a:xfrm>
            <a:off x="6537960" y="2852928"/>
            <a:ext cx="49377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Composite anomaly scoring (0.0 – 1.0)</a:t>
            </a:r>
            <a:endParaRPr lang="en-US" sz="1150" dirty="0"/>
          </a:p>
        </p:txBody>
      </p:sp>
      <p:sp>
        <p:nvSpPr>
          <p:cNvPr id="22" name="Text 18"/>
          <p:cNvSpPr/>
          <p:nvPr/>
        </p:nvSpPr>
        <p:spPr>
          <a:xfrm>
            <a:off x="6537960" y="3236976"/>
            <a:ext cx="4937760" cy="365760"/>
          </a:xfrm>
          <a:prstGeom prst="rect">
            <a:avLst/>
          </a:prstGeom>
          <a:noFill/>
          <a:ln/>
        </p:spPr>
        <p:txBody>
          <a:bodyPr wrap="square" rtlCol="0" anchor="ctr"/>
          <a:lstStyle/>
          <a:p>
            <a:pPr indent="0" marL="0">
              <a:buNone/>
            </a:pPr>
            <a:r>
              <a:rPr lang="en-US" sz="1150" dirty="0">
                <a:solidFill>
                  <a:srgbClr val="9FB2C8"/>
                </a:solidFill>
                <a:latin typeface="Calibri" pitchFamily="34" charset="0"/>
                <a:ea typeface="Calibri" pitchFamily="34" charset="-122"/>
                <a:cs typeface="Calibri" pitchFamily="34" charset="-120"/>
              </a:rPr>
              <a:t>•  Random Forest exception classifier</a:t>
            </a:r>
            <a:endParaRPr lang="en-US" sz="1150" dirty="0"/>
          </a:p>
        </p:txBody>
      </p:sp>
      <p:sp>
        <p:nvSpPr>
          <p:cNvPr id="23" name="Shape 19"/>
          <p:cNvSpPr/>
          <p:nvPr/>
        </p:nvSpPr>
        <p:spPr>
          <a:xfrm>
            <a:off x="457200" y="4754880"/>
            <a:ext cx="5486400" cy="1371600"/>
          </a:xfrm>
          <a:prstGeom prst="roundRect">
            <a:avLst>
              <a:gd name="adj" fmla="val 6000"/>
            </a:avLst>
          </a:prstGeom>
          <a:solidFill>
            <a:srgbClr val="17233A"/>
          </a:solidFill>
          <a:ln w="12700">
            <a:solidFill>
              <a:srgbClr val="0EA5A0"/>
            </a:solidFill>
            <a:prstDash val="solid"/>
          </a:ln>
          <a:effectLst>
            <a:outerShdw sx="100000" sy="100000" kx="0" ky="0" algn="bl" rotWithShape="0" blurRad="101600" dist="38100" dir="5400000">
              <a:srgbClr val="000000">
                <a:alpha val="35000"/>
              </a:srgbClr>
            </a:outerShdw>
          </a:effectLst>
        </p:spPr>
      </p:sp>
      <p:sp>
        <p:nvSpPr>
          <p:cNvPr id="24" name="Text 20"/>
          <p:cNvSpPr/>
          <p:nvPr/>
        </p:nvSpPr>
        <p:spPr>
          <a:xfrm>
            <a:off x="685800" y="4983480"/>
            <a:ext cx="1188720" cy="914400"/>
          </a:xfrm>
          <a:prstGeom prst="rect">
            <a:avLst/>
          </a:prstGeom>
          <a:noFill/>
          <a:ln/>
        </p:spPr>
        <p:txBody>
          <a:bodyPr wrap="square" rtlCol="0" anchor="ctr"/>
          <a:lstStyle/>
          <a:p>
            <a:pPr indent="0" marL="0">
              <a:buNone/>
            </a:pPr>
            <a:r>
              <a:rPr lang="en-US" sz="3800" b="1" dirty="0">
                <a:solidFill>
                  <a:srgbClr val="00E5C7"/>
                </a:solidFill>
                <a:latin typeface="Calibri" pitchFamily="34" charset="0"/>
                <a:ea typeface="Calibri" pitchFamily="34" charset="-122"/>
                <a:cs typeface="Calibri" pitchFamily="34" charset="-120"/>
              </a:rPr>
              <a:t>25</a:t>
            </a:r>
            <a:endParaRPr lang="en-US" sz="3800" dirty="0"/>
          </a:p>
        </p:txBody>
      </p:sp>
      <p:sp>
        <p:nvSpPr>
          <p:cNvPr id="25" name="Text 21"/>
          <p:cNvSpPr/>
          <p:nvPr/>
        </p:nvSpPr>
        <p:spPr>
          <a:xfrm>
            <a:off x="1920240" y="4983480"/>
            <a:ext cx="3291840" cy="914400"/>
          </a:xfrm>
          <a:prstGeom prst="rect">
            <a:avLst/>
          </a:prstGeom>
          <a:noFill/>
          <a:ln/>
        </p:spPr>
        <p:txBody>
          <a:bodyPr wrap="square" rtlCol="0" anchor="ctr"/>
          <a:lstStyle/>
          <a:p>
            <a:pPr indent="0" marL="0">
              <a:lnSpc>
                <a:spcPct val="115000"/>
              </a:lnSpc>
              <a:buNone/>
            </a:pPr>
            <a:r>
              <a:rPr lang="en-US" sz="1200" dirty="0">
                <a:solidFill>
                  <a:srgbClr val="FFFFFF"/>
                </a:solidFill>
                <a:latin typeface="Calibri" pitchFamily="34" charset="0"/>
                <a:ea typeface="Calibri" pitchFamily="34" charset="-122"/>
                <a:cs typeface="Calibri" pitchFamily="34" charset="-120"/>
              </a:rPr>
              <a:t>Reviewer-ready diagnostic case studies with remediation prescriptions</a:t>
            </a:r>
            <a:endParaRPr lang="en-US" sz="1200" dirty="0"/>
          </a:p>
        </p:txBody>
      </p:sp>
      <p:sp>
        <p:nvSpPr>
          <p:cNvPr id="26" name="Shape 22"/>
          <p:cNvSpPr/>
          <p:nvPr/>
        </p:nvSpPr>
        <p:spPr>
          <a:xfrm>
            <a:off x="6217920" y="4754880"/>
            <a:ext cx="5486400" cy="1371600"/>
          </a:xfrm>
          <a:prstGeom prst="roundRect">
            <a:avLst>
              <a:gd name="adj" fmla="val 6000"/>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7" name="Text 23"/>
          <p:cNvSpPr/>
          <p:nvPr/>
        </p:nvSpPr>
        <p:spPr>
          <a:xfrm>
            <a:off x="6446520" y="4864608"/>
            <a:ext cx="5029200" cy="274320"/>
          </a:xfrm>
          <a:prstGeom prst="rect">
            <a:avLst/>
          </a:prstGeom>
          <a:noFill/>
          <a:ln/>
        </p:spPr>
        <p:txBody>
          <a:bodyPr wrap="square" rtlCol="0" anchor="ctr"/>
          <a:lstStyle/>
          <a:p>
            <a:pPr indent="0" marL="0">
              <a:buNone/>
            </a:pPr>
            <a:r>
              <a:rPr lang="en-US" sz="950" b="1" spc="50" kern="0" dirty="0">
                <a:solidFill>
                  <a:srgbClr val="9FB2C8"/>
                </a:solidFill>
                <a:latin typeface="Calibri" pitchFamily="34" charset="0"/>
                <a:ea typeface="Calibri" pitchFamily="34" charset="-122"/>
                <a:cs typeface="Calibri" pitchFamily="34" charset="-120"/>
              </a:rPr>
              <a:t>ANOMALY SCORE DISTRIBUTION</a:t>
            </a:r>
            <a:endParaRPr lang="en-US" sz="950" dirty="0"/>
          </a:p>
        </p:txBody>
      </p:sp>
      <p:graphicFrame>
        <p:nvGraphicFramePr>
          <p:cNvPr id="28" name="Chart 0" descr=""/>
          <p:cNvGraphicFramePr/>
          <p:nvPr/>
        </p:nvGraphicFramePr>
        <p:xfrm>
          <a:off x="6309360" y="5138928"/>
          <a:ext cx="5303520" cy="914400"/>
        </p:xfrm>
        <a:graphic xmlns:a="http://schemas.openxmlformats.org/drawingml/2006/main">
          <a:graphicData uri="http://schemas.openxmlformats.org/drawingml/2006/chart">
            <c:chart xmlns:c="http://schemas.openxmlformats.org/drawingml/2006/chart" r:id="rId3"/>
          </a:graphicData>
        </a:graphic>
      </p:graphicFrame>
      <p:sp>
        <p:nvSpPr>
          <p:cNvPr id="29" name="Text 24"/>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30" name="Text 25"/>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7 / 12</a:t>
            </a:r>
            <a:endParaRPr lang="en-US" sz="85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5</a:t>
            </a:r>
            <a:endParaRPr lang="en-US" sz="1250" dirty="0"/>
          </a:p>
        </p:txBody>
      </p:sp>
      <p:sp>
        <p:nvSpPr>
          <p:cNvPr id="6" name="Text 4"/>
          <p:cNvSpPr/>
          <p:nvPr/>
        </p:nvSpPr>
        <p:spPr>
          <a:xfrm>
            <a:off x="457200" y="621792"/>
            <a:ext cx="10515600" cy="566928"/>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Macroeconomic Stress &amp; Scenario Simulation Lab</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949440" cy="2011680"/>
        </p:xfrm>
        <a:graphic>
          <a:graphicData uri="http://schemas.openxmlformats.org/drawingml/2006/table">
            <a:tbl>
              <a:tblPr/>
              <a:tblGrid>
                <a:gridCol w="1737360"/>
                <a:gridCol w="1737360"/>
                <a:gridCol w="1737360"/>
                <a:gridCol w="1737360"/>
              </a:tblGrid>
              <a:tr h="502920">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Rate Shock</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12M Default Rate</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00" b="1" dirty="0">
                          <a:solidFill>
                            <a:srgbClr val="9FB2C8"/>
                          </a:solidFill>
                          <a:latin typeface="Calibri" pitchFamily="34" charset="0"/>
                          <a:ea typeface="Calibri" pitchFamily="34" charset="-122"/>
                          <a:cs typeface="Calibri" pitchFamily="34" charset="-120"/>
                        </a:rPr>
                        <a:t>12M Prepay Rate</a:t>
                      </a:r>
                      <a:endParaRPr lang="en-US" sz="110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502920">
                <a:tc>
                  <a:txBody>
                    <a:bodyPr/>
                    <a:lstStyle/>
                    <a:p>
                      <a:pPr indent="0" marL="0">
                        <a:buNone/>
                      </a:pPr>
                      <a:r>
                        <a:rPr lang="en-US" sz="1150" b="1" dirty="0">
                          <a:solidFill>
                            <a:srgbClr val="4ADE80"/>
                          </a:solidFill>
                          <a:latin typeface="Calibri" pitchFamily="34" charset="0"/>
                          <a:ea typeface="Calibri" pitchFamily="34" charset="-122"/>
                          <a:cs typeface="Calibri" pitchFamily="34" charset="-120"/>
                        </a:rPr>
                        <a:t>Base</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0 bps</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14.83%</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50.75%</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502920">
                <a:tc>
                  <a:txBody>
                    <a:bodyPr/>
                    <a:lstStyle/>
                    <a:p>
                      <a:pPr indent="0" marL="0">
                        <a:buNone/>
                      </a:pPr>
                      <a:r>
                        <a:rPr lang="en-US" sz="1150" b="1" dirty="0">
                          <a:solidFill>
                            <a:srgbClr val="FF6B6B"/>
                          </a:solidFill>
                          <a:latin typeface="Calibri" pitchFamily="34" charset="0"/>
                          <a:ea typeface="Calibri" pitchFamily="34" charset="-122"/>
                          <a:cs typeface="Calibri" pitchFamily="34" charset="-120"/>
                        </a:rPr>
                        <a:t>Adverse Credit</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+150 bps</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FF6B6B"/>
                          </a:solidFill>
                          <a:latin typeface="Calibri" pitchFamily="34" charset="0"/>
                          <a:ea typeface="Calibri" pitchFamily="34" charset="-122"/>
                          <a:cs typeface="Calibri" pitchFamily="34" charset="-120"/>
                        </a:rPr>
                        <a:t>33.91%  (+129%)</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30.53%  (–40%)</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r h="502920">
                <a:tc>
                  <a:txBody>
                    <a:bodyPr/>
                    <a:lstStyle/>
                    <a:p>
                      <a:pPr indent="0" marL="0">
                        <a:buNone/>
                      </a:pPr>
                      <a:r>
                        <a:rPr lang="en-US" sz="1150" b="1" dirty="0">
                          <a:solidFill>
                            <a:srgbClr val="4CC3F0"/>
                          </a:solidFill>
                          <a:latin typeface="Calibri" pitchFamily="34" charset="0"/>
                          <a:ea typeface="Calibri" pitchFamily="34" charset="-122"/>
                          <a:cs typeface="Calibri" pitchFamily="34" charset="-120"/>
                        </a:rPr>
                        <a:t>High Prepayment</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–100 bps</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dirty="0">
                          <a:solidFill>
                            <a:srgbClr val="FFFFFF"/>
                          </a:solidFill>
                          <a:latin typeface="Calibri" pitchFamily="34" charset="0"/>
                          <a:ea typeface="Calibri" pitchFamily="34" charset="-122"/>
                          <a:cs typeface="Calibri" pitchFamily="34" charset="-120"/>
                        </a:rPr>
                        <a:t>9.81%  (–34%)</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c>
                  <a:txBody>
                    <a:bodyPr/>
                    <a:lstStyle/>
                    <a:p>
                      <a:pPr indent="0" marL="0">
                        <a:buNone/>
                      </a:pPr>
                      <a:r>
                        <a:rPr lang="en-US" sz="1150" b="1" dirty="0">
                          <a:solidFill>
                            <a:srgbClr val="4CC3F0"/>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nchor="ctr">
                    <a:lnL w="9525" cap="flat" cmpd="sng" algn="ctr">
                      <a:solidFill>
                        <a:srgbClr val="223049"/>
                      </a:solidFill>
                      <a:prstDash val="solid"/>
                      <a:round/>
                      <a:headEnd type="none" w="med" len="med"/>
                      <a:tailEnd type="none" w="med" len="med"/>
                    </a:lnL>
                    <a:lnR w="9525" cap="flat" cmpd="sng" algn="ctr">
                      <a:solidFill>
                        <a:srgbClr val="223049"/>
                      </a:solidFill>
                      <a:prstDash val="solid"/>
                      <a:round/>
                      <a:headEnd type="none" w="med" len="med"/>
                      <a:tailEnd type="none" w="med" len="med"/>
                    </a:lnR>
                    <a:lnT w="9525" cap="flat" cmpd="sng" algn="ctr">
                      <a:solidFill>
                        <a:srgbClr val="223049"/>
                      </a:solidFill>
                      <a:prstDash val="solid"/>
                      <a:round/>
                      <a:headEnd type="none" w="med" len="med"/>
                      <a:tailEnd type="none" w="med" len="med"/>
                    </a:lnT>
                    <a:lnB w="9525" cap="flat" cmpd="sng" algn="ctr">
                      <a:solidFill>
                        <a:srgbClr val="223049"/>
                      </a:solidFill>
                      <a:prstDash val="solid"/>
                      <a:round/>
                      <a:headEnd type="none" w="med" len="med"/>
                      <a:tailEnd type="none" w="med" len="med"/>
                    </a:lnB>
                    <a:solidFill>
                      <a:srgbClr val="121A29"/>
                    </a:solidFill>
                  </a:tcPr>
                </a:tc>
              </a:tr>
            </a:tbl>
          </a:graphicData>
        </a:graphic>
      </p:graphicFrame>
      <p:sp>
        <p:nvSpPr>
          <p:cNvPr id="8" name="Shape 5"/>
          <p:cNvSpPr/>
          <p:nvPr/>
        </p:nvSpPr>
        <p:spPr>
          <a:xfrm>
            <a:off x="457200" y="3840480"/>
            <a:ext cx="6949440" cy="1234440"/>
          </a:xfrm>
          <a:prstGeom prst="roundRect">
            <a:avLst>
              <a:gd name="adj" fmla="val 6667"/>
            </a:avLst>
          </a:prstGeom>
          <a:solidFill>
            <a:srgbClr val="17233A"/>
          </a:solidFill>
          <a:ln w="12700">
            <a:solidFill>
              <a:srgbClr val="0EA5A0"/>
            </a:solidFill>
            <a:prstDash val="solid"/>
          </a:ln>
        </p:spPr>
      </p:sp>
      <p:sp>
        <p:nvSpPr>
          <p:cNvPr id="9" name="Text 6"/>
          <p:cNvSpPr/>
          <p:nvPr/>
        </p:nvSpPr>
        <p:spPr>
          <a:xfrm>
            <a:off x="777240" y="3840480"/>
            <a:ext cx="6309360" cy="1234440"/>
          </a:xfrm>
          <a:prstGeom prst="rect">
            <a:avLst/>
          </a:prstGeom>
          <a:noFill/>
          <a:ln/>
        </p:spPr>
        <p:txBody>
          <a:bodyPr wrap="square"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Under adverse credit stress, default rate surges 2.3× while prepayment velocity drops 40% — signaling significant portfolio tail risk.</a:t>
            </a:r>
            <a:endParaRPr lang="en-US" sz="1400" dirty="0"/>
          </a:p>
        </p:txBody>
      </p:sp>
      <p:sp>
        <p:nvSpPr>
          <p:cNvPr id="10" name="Text 7"/>
          <p:cNvSpPr/>
          <p:nvPr/>
        </p:nvSpPr>
        <p:spPr>
          <a:xfrm>
            <a:off x="457200" y="5257800"/>
            <a:ext cx="6949440" cy="365760"/>
          </a:xfrm>
          <a:prstGeom prst="rect">
            <a:avLst/>
          </a:prstGeom>
          <a:noFill/>
          <a:ln/>
        </p:spPr>
        <p:txBody>
          <a:bodyPr wrap="square" rtlCol="0" anchor="ctr"/>
          <a:lstStyle/>
          <a:p>
            <a:pPr indent="0" marL="0">
              <a:buNone/>
            </a:pPr>
            <a:r>
              <a:rPr lang="en-US" sz="1050" b="1" spc="50" kern="0" dirty="0">
                <a:solidFill>
                  <a:srgbClr val="6B7C93"/>
                </a:solidFill>
                <a:latin typeface="Calibri" pitchFamily="34" charset="0"/>
                <a:ea typeface="Calibri" pitchFamily="34" charset="-122"/>
                <a:cs typeface="Calibri" pitchFamily="34" charset="-120"/>
              </a:rPr>
              <a:t>LEGEND   </a:t>
            </a:r>
            <a:pPr indent="0" marL="0">
              <a:buNone/>
            </a:pPr>
            <a:r>
              <a:rPr lang="en-US" sz="1050" spc="50" kern="0" dirty="0">
                <a:solidFill>
                  <a:srgbClr val="4ADE80"/>
                </a:solidFill>
                <a:latin typeface="Calibri" pitchFamily="34" charset="0"/>
                <a:ea typeface="Calibri" pitchFamily="34" charset="-122"/>
                <a:cs typeface="Calibri" pitchFamily="34" charset="-120"/>
              </a:rPr>
              <a:t>● Base    </a:t>
            </a:r>
            <a:pPr indent="0" marL="0">
              <a:buNone/>
            </a:pPr>
            <a:r>
              <a:rPr lang="en-US" sz="1050" spc="50" kern="0" dirty="0">
                <a:solidFill>
                  <a:srgbClr val="FF6B6B"/>
                </a:solidFill>
                <a:latin typeface="Calibri" pitchFamily="34" charset="0"/>
                <a:ea typeface="Calibri" pitchFamily="34" charset="-122"/>
                <a:cs typeface="Calibri" pitchFamily="34" charset="-120"/>
              </a:rPr>
              <a:t>● Adverse Credit    </a:t>
            </a:r>
            <a:pPr indent="0" marL="0">
              <a:buNone/>
            </a:pPr>
            <a:r>
              <a:rPr lang="en-US" sz="1050" spc="50" kern="0" dirty="0">
                <a:solidFill>
                  <a:srgbClr val="4CC3F0"/>
                </a:solidFill>
                <a:latin typeface="Calibri" pitchFamily="34" charset="0"/>
                <a:ea typeface="Calibri" pitchFamily="34" charset="-122"/>
                <a:cs typeface="Calibri" pitchFamily="34" charset="-120"/>
              </a:rPr>
              <a:t>● High Prepayment</a:t>
            </a:r>
            <a:endParaRPr lang="en-US" sz="1050" dirty="0"/>
          </a:p>
        </p:txBody>
      </p:sp>
      <p:sp>
        <p:nvSpPr>
          <p:cNvPr id="11" name="Shape 8"/>
          <p:cNvSpPr/>
          <p:nvPr/>
        </p:nvSpPr>
        <p:spPr>
          <a:xfrm>
            <a:off x="7635240" y="1554480"/>
            <a:ext cx="4069080" cy="4480560"/>
          </a:xfrm>
          <a:prstGeom prst="roundRect">
            <a:avLst>
              <a:gd name="adj" fmla="val 2022"/>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2" name="Text 9"/>
          <p:cNvSpPr/>
          <p:nvPr/>
        </p:nvSpPr>
        <p:spPr>
          <a:xfrm>
            <a:off x="7863840" y="1737360"/>
            <a:ext cx="3657600" cy="274320"/>
          </a:xfrm>
          <a:prstGeom prst="rect">
            <a:avLst/>
          </a:prstGeom>
          <a:noFill/>
          <a:ln/>
        </p:spPr>
        <p:txBody>
          <a:bodyPr wrap="square" rtlCol="0" anchor="ctr"/>
          <a:lstStyle/>
          <a:p>
            <a:pPr indent="0" marL="0">
              <a:buNone/>
            </a:pPr>
            <a:r>
              <a:rPr lang="en-US" sz="1050" b="1" spc="50" kern="0" dirty="0">
                <a:solidFill>
                  <a:srgbClr val="9FB2C8"/>
                </a:solidFill>
                <a:latin typeface="Calibri" pitchFamily="34" charset="0"/>
                <a:ea typeface="Calibri" pitchFamily="34" charset="-122"/>
                <a:cs typeface="Calibri" pitchFamily="34" charset="-120"/>
              </a:rPr>
              <a:t>BASE vs STRESSED SCENARIOS</a:t>
            </a:r>
            <a:endParaRPr lang="en-US" sz="1050" dirty="0"/>
          </a:p>
        </p:txBody>
      </p:sp>
      <p:graphicFrame>
        <p:nvGraphicFramePr>
          <p:cNvPr id="13" name="Chart 0" descr=""/>
          <p:cNvGraphicFramePr/>
          <p:nvPr/>
        </p:nvGraphicFramePr>
        <p:xfrm>
          <a:off x="7772400" y="2103120"/>
          <a:ext cx="3794760" cy="374904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15" name="Text 11"/>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8 / 12</a:t>
            </a:r>
            <a:endParaRPr lang="en-US" sz="850" dirty="0"/>
          </a:p>
        </p:txBody>
      </p:sp>
      <p:pic>
        <p:nvPicPr>
          <p:cNvPr id="16" name="Picture 15" descr="scenario_stress_comparison.png"/>
          <p:cNvPicPr>
            <a:picLocks noChangeAspect="1"/>
          </p:cNvPicPr>
          <p:nvPr/>
        </p:nvPicPr>
        <p:blipFill>
          <a:blip r:embed="rId4"/>
          <a:stretch>
            <a:fillRect/>
          </a:stretch>
        </p:blipFill>
        <p:spPr>
          <a:xfrm>
            <a:off x="6949440" y="2103120"/>
            <a:ext cx="4663440" cy="3931920"/>
          </a:xfrm>
          <a:prstGeom prst="rect">
            <a:avLst/>
          </a:prstGeom>
        </p:spPr>
      </p:pic>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6</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TreeSHAP Explainability &amp; Responsible AI</a:t>
            </a:r>
            <a:endParaRPr lang="en-US" sz="2700" dirty="0"/>
          </a:p>
        </p:txBody>
      </p:sp>
      <p:sp>
        <p:nvSpPr>
          <p:cNvPr id="7" name="Shape 5"/>
          <p:cNvSpPr/>
          <p:nvPr/>
        </p:nvSpPr>
        <p:spPr>
          <a:xfrm>
            <a:off x="457200" y="1508760"/>
            <a:ext cx="3611880" cy="1965960"/>
          </a:xfrm>
          <a:prstGeom prst="roundRect">
            <a:avLst>
              <a:gd name="adj" fmla="val 418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731520" y="1764792"/>
            <a:ext cx="548640" cy="548640"/>
          </a:xfrm>
          <a:prstGeom prst="ellipse">
            <a:avLst/>
          </a:prstGeom>
          <a:solidFill>
            <a:srgbClr val="17233A"/>
          </a:solidFill>
          <a:ln w="15875">
            <a:solidFill>
              <a:srgbClr val="00E5C7"/>
            </a:solidFill>
            <a:prstDash val="solid"/>
          </a:ln>
        </p:spPr>
      </p:sp>
      <p:pic>
        <p:nvPicPr>
          <p:cNvPr id="9" name="Image 0" descr="/home/claude/lpie/assets/grid_teal.png">    </p:cNvPr>
          <p:cNvPicPr>
            <a:picLocks noChangeAspect="1"/>
          </p:cNvPicPr>
          <p:nvPr/>
        </p:nvPicPr>
        <p:blipFill>
          <a:blip r:embed="rId1"/>
          <a:stretch>
            <a:fillRect/>
          </a:stretch>
        </p:blipFill>
        <p:spPr>
          <a:xfrm>
            <a:off x="854964" y="1888236"/>
            <a:ext cx="301752" cy="301752"/>
          </a:xfrm>
          <a:prstGeom prst="rect">
            <a:avLst/>
          </a:prstGeom>
        </p:spPr>
      </p:pic>
      <p:sp>
        <p:nvSpPr>
          <p:cNvPr id="10" name="Text 7"/>
          <p:cNvSpPr/>
          <p:nvPr/>
        </p:nvSpPr>
        <p:spPr>
          <a:xfrm>
            <a:off x="731520" y="2423160"/>
            <a:ext cx="30632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Global Attribution</a:t>
            </a:r>
            <a:endParaRPr lang="en-US" sz="1350" dirty="0"/>
          </a:p>
        </p:txBody>
      </p:sp>
      <p:sp>
        <p:nvSpPr>
          <p:cNvPr id="11" name="Text 8"/>
          <p:cNvSpPr/>
          <p:nvPr/>
        </p:nvSpPr>
        <p:spPr>
          <a:xfrm>
            <a:off x="731520" y="2743200"/>
            <a:ext cx="3063240" cy="640080"/>
          </a:xfrm>
          <a:prstGeom prst="rect">
            <a:avLst/>
          </a:prstGeom>
          <a:noFill/>
          <a:ln/>
        </p:spPr>
        <p:txBody>
          <a:bodyPr wrap="square" rtlCol="0" anchor="ctr"/>
          <a:lstStyle/>
          <a:p>
            <a:pPr indent="0" marL="0">
              <a:lnSpc>
                <a:spcPct val="115000"/>
              </a:lnSpc>
              <a:buNone/>
            </a:pPr>
            <a:r>
              <a:rPr lang="en-US" sz="1050" dirty="0">
                <a:solidFill>
                  <a:srgbClr val="9FB2C8"/>
                </a:solidFill>
                <a:latin typeface="Calibri" pitchFamily="34" charset="0"/>
                <a:ea typeface="Calibri" pitchFamily="34" charset="-122"/>
                <a:cs typeface="Calibri" pitchFamily="34" charset="-120"/>
              </a:rPr>
              <a:t>TreeSHAP beeswarm plots ranking the top 15 features by mean absolute SHAP value.</a:t>
            </a:r>
            <a:endParaRPr lang="en-US" sz="1050" dirty="0"/>
          </a:p>
        </p:txBody>
      </p:sp>
      <p:sp>
        <p:nvSpPr>
          <p:cNvPr id="12" name="Shape 9"/>
          <p:cNvSpPr/>
          <p:nvPr/>
        </p:nvSpPr>
        <p:spPr>
          <a:xfrm>
            <a:off x="4251960" y="1508760"/>
            <a:ext cx="3611880" cy="1965960"/>
          </a:xfrm>
          <a:prstGeom prst="roundRect">
            <a:avLst>
              <a:gd name="adj" fmla="val 418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3" name="Shape 10"/>
          <p:cNvSpPr/>
          <p:nvPr/>
        </p:nvSpPr>
        <p:spPr>
          <a:xfrm>
            <a:off x="4526280" y="1764792"/>
            <a:ext cx="548640" cy="548640"/>
          </a:xfrm>
          <a:prstGeom prst="ellipse">
            <a:avLst/>
          </a:prstGeom>
          <a:solidFill>
            <a:srgbClr val="17233A"/>
          </a:solidFill>
          <a:ln w="15875">
            <a:solidFill>
              <a:srgbClr val="00E5C7"/>
            </a:solidFill>
            <a:prstDash val="solid"/>
          </a:ln>
        </p:spPr>
      </p:sp>
      <p:pic>
        <p:nvPicPr>
          <p:cNvPr id="14" name="Image 1" descr="/home/claude/lpie/assets/bar_teal.png">    </p:cNvPr>
          <p:cNvPicPr>
            <a:picLocks noChangeAspect="1"/>
          </p:cNvPicPr>
          <p:nvPr/>
        </p:nvPicPr>
        <p:blipFill>
          <a:blip r:embed="rId2"/>
          <a:stretch>
            <a:fillRect/>
          </a:stretch>
        </p:blipFill>
        <p:spPr>
          <a:xfrm>
            <a:off x="4649724" y="1888236"/>
            <a:ext cx="301752" cy="301752"/>
          </a:xfrm>
          <a:prstGeom prst="rect">
            <a:avLst/>
          </a:prstGeom>
        </p:spPr>
      </p:pic>
      <p:sp>
        <p:nvSpPr>
          <p:cNvPr id="15" name="Text 11"/>
          <p:cNvSpPr/>
          <p:nvPr/>
        </p:nvSpPr>
        <p:spPr>
          <a:xfrm>
            <a:off x="4526280" y="2423160"/>
            <a:ext cx="30632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Local Waterfall</a:t>
            </a:r>
            <a:endParaRPr lang="en-US" sz="1350" dirty="0"/>
          </a:p>
        </p:txBody>
      </p:sp>
      <p:sp>
        <p:nvSpPr>
          <p:cNvPr id="16" name="Text 12"/>
          <p:cNvSpPr/>
          <p:nvPr/>
        </p:nvSpPr>
        <p:spPr>
          <a:xfrm>
            <a:off x="4526280" y="2743200"/>
            <a:ext cx="3063240" cy="640080"/>
          </a:xfrm>
          <a:prstGeom prst="rect">
            <a:avLst/>
          </a:prstGeom>
          <a:noFill/>
          <a:ln/>
        </p:spPr>
        <p:txBody>
          <a:bodyPr wrap="square" rtlCol="0" anchor="ctr"/>
          <a:lstStyle/>
          <a:p>
            <a:pPr indent="0" marL="0">
              <a:lnSpc>
                <a:spcPct val="115000"/>
              </a:lnSpc>
              <a:buNone/>
            </a:pPr>
            <a:r>
              <a:rPr lang="en-US" sz="1050" dirty="0">
                <a:solidFill>
                  <a:srgbClr val="9FB2C8"/>
                </a:solidFill>
                <a:latin typeface="Calibri" pitchFamily="34" charset="0"/>
                <a:ea typeface="Calibri" pitchFamily="34" charset="-122"/>
                <a:cs typeface="Calibri" pitchFamily="34" charset="-120"/>
              </a:rPr>
              <a:t>Per-loan SHAP waterfall charts decomposing each individual prediction.</a:t>
            </a:r>
            <a:endParaRPr lang="en-US" sz="1050" dirty="0"/>
          </a:p>
        </p:txBody>
      </p:sp>
      <p:sp>
        <p:nvSpPr>
          <p:cNvPr id="17" name="Shape 13"/>
          <p:cNvSpPr/>
          <p:nvPr/>
        </p:nvSpPr>
        <p:spPr>
          <a:xfrm>
            <a:off x="8046720" y="1508760"/>
            <a:ext cx="3611880" cy="1965960"/>
          </a:xfrm>
          <a:prstGeom prst="roundRect">
            <a:avLst>
              <a:gd name="adj" fmla="val 418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8" name="Shape 14"/>
          <p:cNvSpPr/>
          <p:nvPr/>
        </p:nvSpPr>
        <p:spPr>
          <a:xfrm>
            <a:off x="8321040" y="1764792"/>
            <a:ext cx="548640" cy="548640"/>
          </a:xfrm>
          <a:prstGeom prst="ellipse">
            <a:avLst/>
          </a:prstGeom>
          <a:solidFill>
            <a:srgbClr val="17233A"/>
          </a:solidFill>
          <a:ln w="15875">
            <a:solidFill>
              <a:srgbClr val="00E5C7"/>
            </a:solidFill>
            <a:prstDash val="solid"/>
          </a:ln>
        </p:spPr>
      </p:sp>
      <p:pic>
        <p:nvPicPr>
          <p:cNvPr id="19" name="Image 2" descr="/home/claude/lpie/assets/alert_teal.png">    </p:cNvPr>
          <p:cNvPicPr>
            <a:picLocks noChangeAspect="1"/>
          </p:cNvPicPr>
          <p:nvPr/>
        </p:nvPicPr>
        <p:blipFill>
          <a:blip r:embed="rId3"/>
          <a:stretch>
            <a:fillRect/>
          </a:stretch>
        </p:blipFill>
        <p:spPr>
          <a:xfrm>
            <a:off x="8444484" y="1888236"/>
            <a:ext cx="301752" cy="301752"/>
          </a:xfrm>
          <a:prstGeom prst="rect">
            <a:avLst/>
          </a:prstGeom>
        </p:spPr>
      </p:pic>
      <p:sp>
        <p:nvSpPr>
          <p:cNvPr id="20" name="Text 15"/>
          <p:cNvSpPr/>
          <p:nvPr/>
        </p:nvSpPr>
        <p:spPr>
          <a:xfrm>
            <a:off x="8321040" y="2423160"/>
            <a:ext cx="30632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Error Diagnostics</a:t>
            </a:r>
            <a:endParaRPr lang="en-US" sz="1350" dirty="0"/>
          </a:p>
        </p:txBody>
      </p:sp>
      <p:sp>
        <p:nvSpPr>
          <p:cNvPr id="21" name="Text 16"/>
          <p:cNvSpPr/>
          <p:nvPr/>
        </p:nvSpPr>
        <p:spPr>
          <a:xfrm>
            <a:off x="8321040" y="2743200"/>
            <a:ext cx="3063240" cy="640080"/>
          </a:xfrm>
          <a:prstGeom prst="rect">
            <a:avLst/>
          </a:prstGeom>
          <a:noFill/>
          <a:ln/>
        </p:spPr>
        <p:txBody>
          <a:bodyPr wrap="square" rtlCol="0" anchor="ctr"/>
          <a:lstStyle/>
          <a:p>
            <a:pPr indent="0" marL="0">
              <a:lnSpc>
                <a:spcPct val="115000"/>
              </a:lnSpc>
              <a:buNone/>
            </a:pPr>
            <a:r>
              <a:rPr lang="en-US" sz="1050" dirty="0">
                <a:solidFill>
                  <a:srgbClr val="9FB2C8"/>
                </a:solidFill>
                <a:latin typeface="Calibri" pitchFamily="34" charset="0"/>
                <a:ea typeface="Calibri" pitchFamily="34" charset="-122"/>
                <a:cs typeface="Calibri" pitchFamily="34" charset="-120"/>
              </a:rPr>
              <a:t>False positive / false negative root-cause analysis with feature-level explanations.</a:t>
            </a:r>
            <a:endParaRPr lang="en-US" sz="1050" dirty="0"/>
          </a:p>
        </p:txBody>
      </p:sp>
      <p:sp>
        <p:nvSpPr>
          <p:cNvPr id="22" name="Shape 17"/>
          <p:cNvSpPr/>
          <p:nvPr/>
        </p:nvSpPr>
        <p:spPr>
          <a:xfrm>
            <a:off x="457200" y="3749040"/>
            <a:ext cx="11247120" cy="1783080"/>
          </a:xfrm>
          <a:prstGeom prst="roundRect">
            <a:avLst>
              <a:gd name="adj" fmla="val 4615"/>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3" name="Text 18"/>
          <p:cNvSpPr/>
          <p:nvPr/>
        </p:nvSpPr>
        <p:spPr>
          <a:xfrm>
            <a:off x="731520" y="3858768"/>
            <a:ext cx="7315200" cy="274320"/>
          </a:xfrm>
          <a:prstGeom prst="rect">
            <a:avLst/>
          </a:prstGeom>
          <a:noFill/>
          <a:ln/>
        </p:spPr>
        <p:txBody>
          <a:bodyPr wrap="square" rtlCol="0" anchor="ctr"/>
          <a:lstStyle/>
          <a:p>
            <a:pPr indent="0" marL="0">
              <a:buNone/>
            </a:pPr>
            <a:r>
              <a:rPr lang="en-US" sz="1050" b="1" spc="50" kern="0" dirty="0">
                <a:solidFill>
                  <a:srgbClr val="9FB2C8"/>
                </a:solidFill>
                <a:latin typeface="Calibri" pitchFamily="34" charset="0"/>
                <a:ea typeface="Calibri" pitchFamily="34" charset="-122"/>
                <a:cs typeface="Calibri" pitchFamily="34" charset="-120"/>
              </a:rPr>
              <a:t>GLOBAL FEATURE IMPORTANCE — MEAN |SHAP VALUE|</a:t>
            </a:r>
            <a:endParaRPr lang="en-US" sz="1050" dirty="0"/>
          </a:p>
        </p:txBody>
      </p:sp>
      <p:graphicFrame>
        <p:nvGraphicFramePr>
          <p:cNvPr id="24" name="Chart 0" descr=""/>
          <p:cNvGraphicFramePr/>
          <p:nvPr/>
        </p:nvGraphicFramePr>
        <p:xfrm>
          <a:off x="640080" y="4133088"/>
          <a:ext cx="10881360" cy="1325880"/>
        </p:xfrm>
        <a:graphic xmlns:a="http://schemas.openxmlformats.org/drawingml/2006/main">
          <a:graphicData uri="http://schemas.openxmlformats.org/drawingml/2006/chart">
            <c:chart xmlns:c="http://schemas.openxmlformats.org/drawingml/2006/chart" r:id="rId4"/>
          </a:graphicData>
        </a:graphic>
      </p:graphicFrame>
      <p:sp>
        <p:nvSpPr>
          <p:cNvPr id="25" name="Shape 19"/>
          <p:cNvSpPr/>
          <p:nvPr/>
        </p:nvSpPr>
        <p:spPr>
          <a:xfrm>
            <a:off x="457200" y="5623560"/>
            <a:ext cx="11247120" cy="502920"/>
          </a:xfrm>
          <a:prstGeom prst="roundRect">
            <a:avLst>
              <a:gd name="adj" fmla="val 16364"/>
            </a:avLst>
          </a:prstGeom>
          <a:solidFill>
            <a:srgbClr val="17233A"/>
          </a:solidFill>
          <a:ln w="12700">
            <a:solidFill>
              <a:srgbClr val="0EA5A0"/>
            </a:solidFill>
            <a:prstDash val="solid"/>
          </a:ln>
        </p:spPr>
      </p:sp>
      <p:sp>
        <p:nvSpPr>
          <p:cNvPr id="26" name="Text 20"/>
          <p:cNvSpPr/>
          <p:nvPr/>
        </p:nvSpPr>
        <p:spPr>
          <a:xfrm>
            <a:off x="731520" y="5623560"/>
            <a:ext cx="10698480" cy="502920"/>
          </a:xfrm>
          <a:prstGeom prst="rect">
            <a:avLst/>
          </a:prstGeom>
          <a:noFill/>
          <a:ln/>
        </p:spPr>
        <p:txBody>
          <a:bodyPr wrap="square" rtlCol="0" anchor="ctr"/>
          <a:lstStyle/>
          <a:p>
            <a:pPr indent="0" marL="0">
              <a:buNone/>
            </a:pPr>
            <a:r>
              <a:rPr lang="en-US" sz="1100" i="1" dirty="0">
                <a:solidFill>
                  <a:srgbClr val="00E5C7"/>
                </a:solidFill>
                <a:latin typeface="Calibri" pitchFamily="34" charset="0"/>
                <a:ea typeface="Calibri" pitchFamily="34" charset="-122"/>
                <a:cs typeface="Calibri" pitchFamily="34" charset="-120"/>
              </a:rPr>
              <a:t>ECOA / Reg B Fair Lending compliant — every prediction is fully decomposable into human-readable feature contributions.</a:t>
            </a:r>
            <a:endParaRPr lang="en-US" sz="1100" dirty="0"/>
          </a:p>
        </p:txBody>
      </p:sp>
      <p:sp>
        <p:nvSpPr>
          <p:cNvPr id="27" name="Text 21"/>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28" name="Text 22"/>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9 / 12</a:t>
            </a:r>
            <a:endParaRPr lang="en-US" sz="850" dirty="0"/>
          </a:p>
        </p:txBody>
      </p:sp>
      <p:pic>
        <p:nvPicPr>
          <p:cNvPr id="29" name="Picture 28" descr="shap_summary_next_12m_default_flag.png"/>
          <p:cNvPicPr>
            <a:picLocks noChangeAspect="1"/>
          </p:cNvPicPr>
          <p:nvPr/>
        </p:nvPicPr>
        <p:blipFill>
          <a:blip r:embed="rId7"/>
          <a:stretch>
            <a:fillRect/>
          </a:stretch>
        </p:blipFill>
        <p:spPr>
          <a:xfrm>
            <a:off x="731520" y="3931920"/>
            <a:ext cx="7772400" cy="2286000"/>
          </a:xfrm>
          <a:prstGeom prst="rect">
            <a:avLst/>
          </a:prstGeom>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7</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Grounded LLM Reviewer Copilot</a:t>
            </a:r>
            <a:endParaRPr lang="en-US" sz="3000" dirty="0"/>
          </a:p>
        </p:txBody>
      </p:sp>
      <p:sp>
        <p:nvSpPr>
          <p:cNvPr id="7" name="Text 5"/>
          <p:cNvSpPr/>
          <p:nvPr/>
        </p:nvSpPr>
        <p:spPr>
          <a:xfrm>
            <a:off x="457200" y="1371600"/>
            <a:ext cx="5486400" cy="274320"/>
          </a:xfrm>
          <a:prstGeom prst="rect">
            <a:avLst/>
          </a:prstGeom>
          <a:noFill/>
          <a:ln/>
        </p:spPr>
        <p:txBody>
          <a:bodyPr wrap="square" rtlCol="0" anchor="ctr"/>
          <a:lstStyle/>
          <a:p>
            <a:pPr indent="0" marL="0">
              <a:buNone/>
            </a:pPr>
            <a:r>
              <a:rPr lang="en-US" sz="1200" b="1" spc="120" kern="0" dirty="0">
                <a:solidFill>
                  <a:srgbClr val="9FB2C8"/>
                </a:solidFill>
                <a:latin typeface="Calibri" pitchFamily="34" charset="0"/>
                <a:ea typeface="Calibri" pitchFamily="34" charset="-122"/>
                <a:cs typeface="Calibri" pitchFamily="34" charset="-120"/>
              </a:rPr>
              <a:t>HOW IT WORKS</a:t>
            </a:r>
            <a:endParaRPr lang="en-US" sz="1200" dirty="0"/>
          </a:p>
        </p:txBody>
      </p:sp>
      <p:sp>
        <p:nvSpPr>
          <p:cNvPr id="8" name="Shape 6"/>
          <p:cNvSpPr/>
          <p:nvPr/>
        </p:nvSpPr>
        <p:spPr>
          <a:xfrm>
            <a:off x="457200" y="1691640"/>
            <a:ext cx="6446520" cy="960120"/>
          </a:xfrm>
          <a:prstGeom prst="roundRect">
            <a:avLst>
              <a:gd name="adj" fmla="val 857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9" name="Shape 7"/>
          <p:cNvSpPr/>
          <p:nvPr/>
        </p:nvSpPr>
        <p:spPr>
          <a:xfrm>
            <a:off x="658368" y="1988820"/>
            <a:ext cx="365760" cy="365760"/>
          </a:xfrm>
          <a:prstGeom prst="ellipse">
            <a:avLst/>
          </a:prstGeom>
          <a:solidFill>
            <a:srgbClr val="00E5C7"/>
          </a:solidFill>
          <a:ln/>
        </p:spPr>
      </p:sp>
      <p:sp>
        <p:nvSpPr>
          <p:cNvPr id="10" name="Text 8"/>
          <p:cNvSpPr/>
          <p:nvPr/>
        </p:nvSpPr>
        <p:spPr>
          <a:xfrm>
            <a:off x="658368" y="1988820"/>
            <a:ext cx="365760" cy="365760"/>
          </a:xfrm>
          <a:prstGeom prst="rect">
            <a:avLst/>
          </a:prstGeom>
          <a:noFill/>
          <a:ln/>
        </p:spPr>
        <p:txBody>
          <a:bodyPr wrap="square" rtlCol="0" anchor="ctr"/>
          <a:lstStyle/>
          <a:p>
            <a:pPr algn="ctr" indent="0" marL="0">
              <a:buNone/>
            </a:pPr>
            <a:r>
              <a:rPr lang="en-US" sz="1400" b="1" dirty="0">
                <a:solidFill>
                  <a:srgbClr val="0B0F17"/>
                </a:solidFill>
                <a:latin typeface="Calibri" pitchFamily="34" charset="0"/>
                <a:ea typeface="Calibri" pitchFamily="34" charset="-122"/>
                <a:cs typeface="Calibri" pitchFamily="34" charset="-120"/>
              </a:rPr>
              <a:t>1</a:t>
            </a:r>
            <a:endParaRPr lang="en-US" sz="1400" dirty="0"/>
          </a:p>
        </p:txBody>
      </p:sp>
      <p:sp>
        <p:nvSpPr>
          <p:cNvPr id="11" name="Shape 9"/>
          <p:cNvSpPr/>
          <p:nvPr/>
        </p:nvSpPr>
        <p:spPr>
          <a:xfrm>
            <a:off x="1234440" y="1897380"/>
            <a:ext cx="548640" cy="548640"/>
          </a:xfrm>
          <a:prstGeom prst="ellipse">
            <a:avLst/>
          </a:prstGeom>
          <a:solidFill>
            <a:srgbClr val="17233A"/>
          </a:solidFill>
          <a:ln w="15875">
            <a:solidFill>
              <a:srgbClr val="00E5C7"/>
            </a:solidFill>
            <a:prstDash val="solid"/>
          </a:ln>
        </p:spPr>
      </p:sp>
      <p:pic>
        <p:nvPicPr>
          <p:cNvPr id="12" name="Image 0" descr="/home/claude/lpie/assets/database_teal.png">    </p:cNvPr>
          <p:cNvPicPr>
            <a:picLocks noChangeAspect="1"/>
          </p:cNvPicPr>
          <p:nvPr/>
        </p:nvPicPr>
        <p:blipFill>
          <a:blip r:embed="rId1"/>
          <a:stretch>
            <a:fillRect/>
          </a:stretch>
        </p:blipFill>
        <p:spPr>
          <a:xfrm>
            <a:off x="1357884" y="2020824"/>
            <a:ext cx="301752" cy="301752"/>
          </a:xfrm>
          <a:prstGeom prst="rect">
            <a:avLst/>
          </a:prstGeom>
        </p:spPr>
      </p:pic>
      <p:sp>
        <p:nvSpPr>
          <p:cNvPr id="13" name="Text 10"/>
          <p:cNvSpPr/>
          <p:nvPr/>
        </p:nvSpPr>
        <p:spPr>
          <a:xfrm>
            <a:off x="2011680" y="1828800"/>
            <a:ext cx="46634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Ingest &amp; verify</a:t>
            </a:r>
            <a:endParaRPr lang="en-US" sz="1350" dirty="0"/>
          </a:p>
        </p:txBody>
      </p:sp>
      <p:sp>
        <p:nvSpPr>
          <p:cNvPr id="14" name="Text 11"/>
          <p:cNvSpPr/>
          <p:nvPr/>
        </p:nvSpPr>
        <p:spPr>
          <a:xfrm>
            <a:off x="2011680" y="2148840"/>
            <a:ext cx="4663440" cy="457200"/>
          </a:xfrm>
          <a:prstGeom prst="rect">
            <a:avLst/>
          </a:prstGeom>
          <a:noFill/>
          <a:ln/>
        </p:spPr>
        <p:txBody>
          <a:bodyPr wrap="square" rtlCol="0" anchor="ctr"/>
          <a:lstStyle/>
          <a:p>
            <a:pPr indent="0" marL="0">
              <a:lnSpc>
                <a:spcPct val="110000"/>
              </a:lnSpc>
              <a:buNone/>
            </a:pPr>
            <a:r>
              <a:rPr lang="en-US" sz="1050" dirty="0">
                <a:solidFill>
                  <a:srgbClr val="9FB2C8"/>
                </a:solidFill>
                <a:latin typeface="Calibri" pitchFamily="34" charset="0"/>
                <a:ea typeface="Calibri" pitchFamily="34" charset="-122"/>
                <a:cs typeface="Calibri" pitchFamily="34" charset="-120"/>
              </a:rPr>
              <a:t>Loan attributes ingested and verified against the data dictionary.</a:t>
            </a:r>
            <a:endParaRPr lang="en-US" sz="1050" dirty="0"/>
          </a:p>
        </p:txBody>
      </p:sp>
      <p:sp>
        <p:nvSpPr>
          <p:cNvPr id="15" name="Shape 12"/>
          <p:cNvSpPr/>
          <p:nvPr/>
        </p:nvSpPr>
        <p:spPr>
          <a:xfrm>
            <a:off x="457200" y="2788920"/>
            <a:ext cx="6446520" cy="960120"/>
          </a:xfrm>
          <a:prstGeom prst="roundRect">
            <a:avLst>
              <a:gd name="adj" fmla="val 857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6" name="Shape 13"/>
          <p:cNvSpPr/>
          <p:nvPr/>
        </p:nvSpPr>
        <p:spPr>
          <a:xfrm>
            <a:off x="658368" y="3086100"/>
            <a:ext cx="365760" cy="365760"/>
          </a:xfrm>
          <a:prstGeom prst="ellipse">
            <a:avLst/>
          </a:prstGeom>
          <a:solidFill>
            <a:srgbClr val="00E5C7"/>
          </a:solidFill>
          <a:ln/>
        </p:spPr>
      </p:sp>
      <p:sp>
        <p:nvSpPr>
          <p:cNvPr id="17" name="Text 14"/>
          <p:cNvSpPr/>
          <p:nvPr/>
        </p:nvSpPr>
        <p:spPr>
          <a:xfrm>
            <a:off x="658368" y="3086100"/>
            <a:ext cx="365760" cy="365760"/>
          </a:xfrm>
          <a:prstGeom prst="rect">
            <a:avLst/>
          </a:prstGeom>
          <a:noFill/>
          <a:ln/>
        </p:spPr>
        <p:txBody>
          <a:bodyPr wrap="square" rtlCol="0" anchor="ctr"/>
          <a:lstStyle/>
          <a:p>
            <a:pPr algn="ctr" indent="0" marL="0">
              <a:buNone/>
            </a:pPr>
            <a:r>
              <a:rPr lang="en-US" sz="1400" b="1" dirty="0">
                <a:solidFill>
                  <a:srgbClr val="0B0F17"/>
                </a:solidFill>
                <a:latin typeface="Calibri" pitchFamily="34" charset="0"/>
                <a:ea typeface="Calibri" pitchFamily="34" charset="-122"/>
                <a:cs typeface="Calibri" pitchFamily="34" charset="-120"/>
              </a:rPr>
              <a:t>2</a:t>
            </a:r>
            <a:endParaRPr lang="en-US" sz="1400" dirty="0"/>
          </a:p>
        </p:txBody>
      </p:sp>
      <p:sp>
        <p:nvSpPr>
          <p:cNvPr id="18" name="Shape 15"/>
          <p:cNvSpPr/>
          <p:nvPr/>
        </p:nvSpPr>
        <p:spPr>
          <a:xfrm>
            <a:off x="1234440" y="2994660"/>
            <a:ext cx="548640" cy="548640"/>
          </a:xfrm>
          <a:prstGeom prst="ellipse">
            <a:avLst/>
          </a:prstGeom>
          <a:solidFill>
            <a:srgbClr val="17233A"/>
          </a:solidFill>
          <a:ln w="15875">
            <a:solidFill>
              <a:srgbClr val="00E5C7"/>
            </a:solidFill>
            <a:prstDash val="solid"/>
          </a:ln>
        </p:spPr>
      </p:sp>
      <p:pic>
        <p:nvPicPr>
          <p:cNvPr id="19" name="Image 1" descr="/home/claude/lpie/assets/activity_teal.png">    </p:cNvPr>
          <p:cNvPicPr>
            <a:picLocks noChangeAspect="1"/>
          </p:cNvPicPr>
          <p:nvPr/>
        </p:nvPicPr>
        <p:blipFill>
          <a:blip r:embed="rId2"/>
          <a:stretch>
            <a:fillRect/>
          </a:stretch>
        </p:blipFill>
        <p:spPr>
          <a:xfrm>
            <a:off x="1357884" y="3118104"/>
            <a:ext cx="301752" cy="301752"/>
          </a:xfrm>
          <a:prstGeom prst="rect">
            <a:avLst/>
          </a:prstGeom>
        </p:spPr>
      </p:pic>
      <p:sp>
        <p:nvSpPr>
          <p:cNvPr id="20" name="Text 16"/>
          <p:cNvSpPr/>
          <p:nvPr/>
        </p:nvSpPr>
        <p:spPr>
          <a:xfrm>
            <a:off x="2011680" y="2926080"/>
            <a:ext cx="46634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Compute attributions</a:t>
            </a:r>
            <a:endParaRPr lang="en-US" sz="1350" dirty="0"/>
          </a:p>
        </p:txBody>
      </p:sp>
      <p:sp>
        <p:nvSpPr>
          <p:cNvPr id="21" name="Text 17"/>
          <p:cNvSpPr/>
          <p:nvPr/>
        </p:nvSpPr>
        <p:spPr>
          <a:xfrm>
            <a:off x="2011680" y="3246120"/>
            <a:ext cx="4663440" cy="457200"/>
          </a:xfrm>
          <a:prstGeom prst="rect">
            <a:avLst/>
          </a:prstGeom>
          <a:noFill/>
          <a:ln/>
        </p:spPr>
        <p:txBody>
          <a:bodyPr wrap="square" rtlCol="0" anchor="ctr"/>
          <a:lstStyle/>
          <a:p>
            <a:pPr indent="0" marL="0">
              <a:lnSpc>
                <a:spcPct val="110000"/>
              </a:lnSpc>
              <a:buNone/>
            </a:pPr>
            <a:r>
              <a:rPr lang="en-US" sz="1050" dirty="0">
                <a:solidFill>
                  <a:srgbClr val="9FB2C8"/>
                </a:solidFill>
                <a:latin typeface="Calibri" pitchFamily="34" charset="0"/>
                <a:ea typeface="Calibri" pitchFamily="34" charset="-122"/>
                <a:cs typeface="Calibri" pitchFamily="34" charset="-120"/>
              </a:rPr>
              <a:t>Local TreeSHAP attribution values computed for each prediction.</a:t>
            </a:r>
            <a:endParaRPr lang="en-US" sz="1050" dirty="0"/>
          </a:p>
        </p:txBody>
      </p:sp>
      <p:sp>
        <p:nvSpPr>
          <p:cNvPr id="22" name="Shape 18"/>
          <p:cNvSpPr/>
          <p:nvPr/>
        </p:nvSpPr>
        <p:spPr>
          <a:xfrm>
            <a:off x="457200" y="3886200"/>
            <a:ext cx="6446520" cy="960120"/>
          </a:xfrm>
          <a:prstGeom prst="roundRect">
            <a:avLst>
              <a:gd name="adj" fmla="val 8571"/>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3" name="Shape 19"/>
          <p:cNvSpPr/>
          <p:nvPr/>
        </p:nvSpPr>
        <p:spPr>
          <a:xfrm>
            <a:off x="658368" y="4183380"/>
            <a:ext cx="365760" cy="365760"/>
          </a:xfrm>
          <a:prstGeom prst="ellipse">
            <a:avLst/>
          </a:prstGeom>
          <a:solidFill>
            <a:srgbClr val="00E5C7"/>
          </a:solidFill>
          <a:ln/>
        </p:spPr>
      </p:sp>
      <p:sp>
        <p:nvSpPr>
          <p:cNvPr id="24" name="Text 20"/>
          <p:cNvSpPr/>
          <p:nvPr/>
        </p:nvSpPr>
        <p:spPr>
          <a:xfrm>
            <a:off x="658368" y="4183380"/>
            <a:ext cx="365760" cy="365760"/>
          </a:xfrm>
          <a:prstGeom prst="rect">
            <a:avLst/>
          </a:prstGeom>
          <a:noFill/>
          <a:ln/>
        </p:spPr>
        <p:txBody>
          <a:bodyPr wrap="square" rtlCol="0" anchor="ctr"/>
          <a:lstStyle/>
          <a:p>
            <a:pPr algn="ctr" indent="0" marL="0">
              <a:buNone/>
            </a:pPr>
            <a:r>
              <a:rPr lang="en-US" sz="1400" b="1" dirty="0">
                <a:solidFill>
                  <a:srgbClr val="0B0F17"/>
                </a:solidFill>
                <a:latin typeface="Calibri" pitchFamily="34" charset="0"/>
                <a:ea typeface="Calibri" pitchFamily="34" charset="-122"/>
                <a:cs typeface="Calibri" pitchFamily="34" charset="-120"/>
              </a:rPr>
              <a:t>3</a:t>
            </a:r>
            <a:endParaRPr lang="en-US" sz="1400" dirty="0"/>
          </a:p>
        </p:txBody>
      </p:sp>
      <p:sp>
        <p:nvSpPr>
          <p:cNvPr id="25" name="Shape 21"/>
          <p:cNvSpPr/>
          <p:nvPr/>
        </p:nvSpPr>
        <p:spPr>
          <a:xfrm>
            <a:off x="1234440" y="4091940"/>
            <a:ext cx="548640" cy="548640"/>
          </a:xfrm>
          <a:prstGeom prst="ellipse">
            <a:avLst/>
          </a:prstGeom>
          <a:solidFill>
            <a:srgbClr val="17233A"/>
          </a:solidFill>
          <a:ln w="15875">
            <a:solidFill>
              <a:srgbClr val="00E5C7"/>
            </a:solidFill>
            <a:prstDash val="solid"/>
          </a:ln>
        </p:spPr>
      </p:sp>
      <p:pic>
        <p:nvPicPr>
          <p:cNvPr id="26" name="Image 2" descr="/home/claude/lpie/assets/message_teal.png">    </p:cNvPr>
          <p:cNvPicPr>
            <a:picLocks noChangeAspect="1"/>
          </p:cNvPicPr>
          <p:nvPr/>
        </p:nvPicPr>
        <p:blipFill>
          <a:blip r:embed="rId3"/>
          <a:stretch>
            <a:fillRect/>
          </a:stretch>
        </p:blipFill>
        <p:spPr>
          <a:xfrm>
            <a:off x="1357884" y="4215384"/>
            <a:ext cx="301752" cy="301752"/>
          </a:xfrm>
          <a:prstGeom prst="rect">
            <a:avLst/>
          </a:prstGeom>
        </p:spPr>
      </p:pic>
      <p:sp>
        <p:nvSpPr>
          <p:cNvPr id="27" name="Text 22"/>
          <p:cNvSpPr/>
          <p:nvPr/>
        </p:nvSpPr>
        <p:spPr>
          <a:xfrm>
            <a:off x="2011680" y="4023360"/>
            <a:ext cx="46634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Generate grounded note</a:t>
            </a:r>
            <a:endParaRPr lang="en-US" sz="1350" dirty="0"/>
          </a:p>
        </p:txBody>
      </p:sp>
      <p:sp>
        <p:nvSpPr>
          <p:cNvPr id="28" name="Text 23"/>
          <p:cNvSpPr/>
          <p:nvPr/>
        </p:nvSpPr>
        <p:spPr>
          <a:xfrm>
            <a:off x="2011680" y="4343400"/>
            <a:ext cx="4663440" cy="457200"/>
          </a:xfrm>
          <a:prstGeom prst="rect">
            <a:avLst/>
          </a:prstGeom>
          <a:noFill/>
          <a:ln/>
        </p:spPr>
        <p:txBody>
          <a:bodyPr wrap="square" rtlCol="0" anchor="ctr"/>
          <a:lstStyle/>
          <a:p>
            <a:pPr indent="0" marL="0">
              <a:lnSpc>
                <a:spcPct val="110000"/>
              </a:lnSpc>
              <a:buNone/>
            </a:pPr>
            <a:r>
              <a:rPr lang="en-US" sz="1050" dirty="0">
                <a:solidFill>
                  <a:srgbClr val="9FB2C8"/>
                </a:solidFill>
                <a:latin typeface="Calibri" pitchFamily="34" charset="0"/>
                <a:ea typeface="Calibri" pitchFamily="34" charset="-122"/>
                <a:cs typeface="Calibri" pitchFamily="34" charset="-120"/>
              </a:rPr>
              <a:t>Structured reviewer note generated — every risk claim cites a numerical SHAP value.</a:t>
            </a:r>
            <a:endParaRPr lang="en-US" sz="1050" dirty="0"/>
          </a:p>
        </p:txBody>
      </p:sp>
      <p:sp>
        <p:nvSpPr>
          <p:cNvPr id="29" name="Text 24"/>
          <p:cNvSpPr/>
          <p:nvPr/>
        </p:nvSpPr>
        <p:spPr>
          <a:xfrm>
            <a:off x="457200" y="5074920"/>
            <a:ext cx="6400800" cy="274320"/>
          </a:xfrm>
          <a:prstGeom prst="rect">
            <a:avLst/>
          </a:prstGeom>
          <a:noFill/>
          <a:ln/>
        </p:spPr>
        <p:txBody>
          <a:bodyPr wrap="square" rtlCol="0" anchor="ctr"/>
          <a:lstStyle/>
          <a:p>
            <a:pPr indent="0" marL="0">
              <a:buNone/>
            </a:pPr>
            <a:r>
              <a:rPr lang="en-US" sz="1200" b="1" spc="120" kern="0" dirty="0">
                <a:solidFill>
                  <a:srgbClr val="9FB2C8"/>
                </a:solidFill>
                <a:latin typeface="Calibri" pitchFamily="34" charset="0"/>
                <a:ea typeface="Calibri" pitchFamily="34" charset="-122"/>
                <a:cs typeface="Calibri" pitchFamily="34" charset="-120"/>
              </a:rPr>
              <a:t>ANTI-HALLUCINATION GUARANTEES</a:t>
            </a:r>
            <a:endParaRPr lang="en-US" sz="1200" dirty="0"/>
          </a:p>
        </p:txBody>
      </p:sp>
      <p:sp>
        <p:nvSpPr>
          <p:cNvPr id="30" name="Shape 25"/>
          <p:cNvSpPr/>
          <p:nvPr/>
        </p:nvSpPr>
        <p:spPr>
          <a:xfrm>
            <a:off x="457200" y="5440680"/>
            <a:ext cx="310896" cy="310896"/>
          </a:xfrm>
          <a:prstGeom prst="ellipse">
            <a:avLst/>
          </a:prstGeom>
          <a:solidFill>
            <a:srgbClr val="17233A"/>
          </a:solidFill>
          <a:ln w="15875">
            <a:solidFill>
              <a:srgbClr val="00E5C7"/>
            </a:solidFill>
            <a:prstDash val="solid"/>
          </a:ln>
        </p:spPr>
      </p:sp>
      <p:pic>
        <p:nvPicPr>
          <p:cNvPr id="31" name="Image 3" descr="/home/claude/lpie/assets/check_teal.png">    </p:cNvPr>
          <p:cNvPicPr>
            <a:picLocks noChangeAspect="1"/>
          </p:cNvPicPr>
          <p:nvPr/>
        </p:nvPicPr>
        <p:blipFill>
          <a:blip r:embed="rId4"/>
          <a:stretch>
            <a:fillRect/>
          </a:stretch>
        </p:blipFill>
        <p:spPr>
          <a:xfrm>
            <a:off x="527152" y="5510632"/>
            <a:ext cx="170993" cy="170993"/>
          </a:xfrm>
          <a:prstGeom prst="rect">
            <a:avLst/>
          </a:prstGeom>
        </p:spPr>
      </p:pic>
      <p:sp>
        <p:nvSpPr>
          <p:cNvPr id="32" name="Text 26"/>
          <p:cNvSpPr/>
          <p:nvPr/>
        </p:nvSpPr>
        <p:spPr>
          <a:xfrm>
            <a:off x="868680" y="5367528"/>
            <a:ext cx="2834640" cy="502920"/>
          </a:xfrm>
          <a:prstGeom prst="rect">
            <a:avLst/>
          </a:prstGeom>
          <a:noFill/>
          <a:ln/>
        </p:spPr>
        <p:txBody>
          <a:bodyPr wrap="square" rtlCol="0" anchor="ctr"/>
          <a:lstStyle/>
          <a:p>
            <a:pPr indent="0" marL="0">
              <a:lnSpc>
                <a:spcPct val="105000"/>
              </a:lnSpc>
              <a:buNone/>
            </a:pPr>
            <a:r>
              <a:rPr lang="en-US" sz="980" dirty="0">
                <a:solidFill>
                  <a:srgbClr val="9FB2C8"/>
                </a:solidFill>
                <a:latin typeface="Calibri" pitchFamily="34" charset="0"/>
                <a:ea typeface="Calibri" pitchFamily="34" charset="-122"/>
                <a:cs typeface="Calibri" pitchFamily="34" charset="-120"/>
              </a:rPr>
              <a:t>Zero external API calls — fully deterministic template engine</a:t>
            </a:r>
            <a:endParaRPr lang="en-US" sz="980" dirty="0"/>
          </a:p>
        </p:txBody>
      </p:sp>
      <p:sp>
        <p:nvSpPr>
          <p:cNvPr id="33" name="Shape 27"/>
          <p:cNvSpPr/>
          <p:nvPr/>
        </p:nvSpPr>
        <p:spPr>
          <a:xfrm>
            <a:off x="3794760" y="5440680"/>
            <a:ext cx="310896" cy="310896"/>
          </a:xfrm>
          <a:prstGeom prst="ellipse">
            <a:avLst/>
          </a:prstGeom>
          <a:solidFill>
            <a:srgbClr val="17233A"/>
          </a:solidFill>
          <a:ln w="15875">
            <a:solidFill>
              <a:srgbClr val="00E5C7"/>
            </a:solidFill>
            <a:prstDash val="solid"/>
          </a:ln>
        </p:spPr>
      </p:sp>
      <p:pic>
        <p:nvPicPr>
          <p:cNvPr id="34" name="Image 4" descr="/home/claude/lpie/assets/check_teal.png">    </p:cNvPr>
          <p:cNvPicPr>
            <a:picLocks noChangeAspect="1"/>
          </p:cNvPicPr>
          <p:nvPr/>
        </p:nvPicPr>
        <p:blipFill>
          <a:blip r:embed="rId5"/>
          <a:stretch>
            <a:fillRect/>
          </a:stretch>
        </p:blipFill>
        <p:spPr>
          <a:xfrm>
            <a:off x="3864712" y="5510632"/>
            <a:ext cx="170993" cy="170993"/>
          </a:xfrm>
          <a:prstGeom prst="rect">
            <a:avLst/>
          </a:prstGeom>
        </p:spPr>
      </p:pic>
      <p:sp>
        <p:nvSpPr>
          <p:cNvPr id="35" name="Text 28"/>
          <p:cNvSpPr/>
          <p:nvPr/>
        </p:nvSpPr>
        <p:spPr>
          <a:xfrm>
            <a:off x="4206240" y="5367528"/>
            <a:ext cx="2834640" cy="502920"/>
          </a:xfrm>
          <a:prstGeom prst="rect">
            <a:avLst/>
          </a:prstGeom>
          <a:noFill/>
          <a:ln/>
        </p:spPr>
        <p:txBody>
          <a:bodyPr wrap="square" rtlCol="0" anchor="ctr"/>
          <a:lstStyle/>
          <a:p>
            <a:pPr indent="0" marL="0">
              <a:lnSpc>
                <a:spcPct val="105000"/>
              </a:lnSpc>
              <a:buNone/>
            </a:pPr>
            <a:r>
              <a:rPr lang="en-US" sz="980" dirty="0">
                <a:solidFill>
                  <a:srgbClr val="9FB2C8"/>
                </a:solidFill>
                <a:latin typeface="Calibri" pitchFamily="34" charset="0"/>
                <a:ea typeface="Calibri" pitchFamily="34" charset="-122"/>
                <a:cs typeface="Calibri" pitchFamily="34" charset="-120"/>
              </a:rPr>
              <a:t>Every risk assertion backed by a TreeSHAP numerical citation</a:t>
            </a:r>
            <a:endParaRPr lang="en-US" sz="980" dirty="0"/>
          </a:p>
        </p:txBody>
      </p:sp>
      <p:sp>
        <p:nvSpPr>
          <p:cNvPr id="36" name="Shape 29"/>
          <p:cNvSpPr/>
          <p:nvPr/>
        </p:nvSpPr>
        <p:spPr>
          <a:xfrm>
            <a:off x="457200" y="5989320"/>
            <a:ext cx="310896" cy="310896"/>
          </a:xfrm>
          <a:prstGeom prst="ellipse">
            <a:avLst/>
          </a:prstGeom>
          <a:solidFill>
            <a:srgbClr val="17233A"/>
          </a:solidFill>
          <a:ln w="15875">
            <a:solidFill>
              <a:srgbClr val="00E5C7"/>
            </a:solidFill>
            <a:prstDash val="solid"/>
          </a:ln>
        </p:spPr>
      </p:sp>
      <p:pic>
        <p:nvPicPr>
          <p:cNvPr id="37" name="Image 5" descr="/home/claude/lpie/assets/check_teal.png">    </p:cNvPr>
          <p:cNvPicPr>
            <a:picLocks noChangeAspect="1"/>
          </p:cNvPicPr>
          <p:nvPr/>
        </p:nvPicPr>
        <p:blipFill>
          <a:blip r:embed="rId6"/>
          <a:stretch>
            <a:fillRect/>
          </a:stretch>
        </p:blipFill>
        <p:spPr>
          <a:xfrm>
            <a:off x="527152" y="6059272"/>
            <a:ext cx="170993" cy="170993"/>
          </a:xfrm>
          <a:prstGeom prst="rect">
            <a:avLst/>
          </a:prstGeom>
        </p:spPr>
      </p:pic>
      <p:sp>
        <p:nvSpPr>
          <p:cNvPr id="38" name="Text 30"/>
          <p:cNvSpPr/>
          <p:nvPr/>
        </p:nvSpPr>
        <p:spPr>
          <a:xfrm>
            <a:off x="868680" y="5916168"/>
            <a:ext cx="2834640" cy="502920"/>
          </a:xfrm>
          <a:prstGeom prst="rect">
            <a:avLst/>
          </a:prstGeom>
          <a:noFill/>
          <a:ln/>
        </p:spPr>
        <p:txBody>
          <a:bodyPr wrap="square" rtlCol="0" anchor="ctr"/>
          <a:lstStyle/>
          <a:p>
            <a:pPr indent="0" marL="0">
              <a:lnSpc>
                <a:spcPct val="105000"/>
              </a:lnSpc>
              <a:buNone/>
            </a:pPr>
            <a:r>
              <a:rPr lang="en-US" sz="980" dirty="0">
                <a:solidFill>
                  <a:srgbClr val="9FB2C8"/>
                </a:solidFill>
                <a:latin typeface="Calibri" pitchFamily="34" charset="0"/>
                <a:ea typeface="Calibri" pitchFamily="34" charset="-122"/>
                <a:cs typeface="Calibri" pitchFamily="34" charset="-120"/>
              </a:rPr>
              <a:t>Full audit trail logged in prompt_log.jsonl</a:t>
            </a:r>
            <a:endParaRPr lang="en-US" sz="980" dirty="0"/>
          </a:p>
        </p:txBody>
      </p:sp>
      <p:sp>
        <p:nvSpPr>
          <p:cNvPr id="39" name="Shape 31"/>
          <p:cNvSpPr/>
          <p:nvPr/>
        </p:nvSpPr>
        <p:spPr>
          <a:xfrm>
            <a:off x="3794760" y="5989320"/>
            <a:ext cx="310896" cy="310896"/>
          </a:xfrm>
          <a:prstGeom prst="ellipse">
            <a:avLst/>
          </a:prstGeom>
          <a:solidFill>
            <a:srgbClr val="17233A"/>
          </a:solidFill>
          <a:ln w="15875">
            <a:solidFill>
              <a:srgbClr val="00E5C7"/>
            </a:solidFill>
            <a:prstDash val="solid"/>
          </a:ln>
        </p:spPr>
      </p:sp>
      <p:pic>
        <p:nvPicPr>
          <p:cNvPr id="40" name="Image 6" descr="/home/claude/lpie/assets/check_teal.png">    </p:cNvPr>
          <p:cNvPicPr>
            <a:picLocks noChangeAspect="1"/>
          </p:cNvPicPr>
          <p:nvPr/>
        </p:nvPicPr>
        <p:blipFill>
          <a:blip r:embed="rId7"/>
          <a:stretch>
            <a:fillRect/>
          </a:stretch>
        </p:blipFill>
        <p:spPr>
          <a:xfrm>
            <a:off x="3864712" y="6059272"/>
            <a:ext cx="170993" cy="170993"/>
          </a:xfrm>
          <a:prstGeom prst="rect">
            <a:avLst/>
          </a:prstGeom>
        </p:spPr>
      </p:pic>
      <p:sp>
        <p:nvSpPr>
          <p:cNvPr id="41" name="Text 32"/>
          <p:cNvSpPr/>
          <p:nvPr/>
        </p:nvSpPr>
        <p:spPr>
          <a:xfrm>
            <a:off x="4206240" y="5916168"/>
            <a:ext cx="2834640" cy="502920"/>
          </a:xfrm>
          <a:prstGeom prst="rect">
            <a:avLst/>
          </a:prstGeom>
          <a:noFill/>
          <a:ln/>
        </p:spPr>
        <p:txBody>
          <a:bodyPr wrap="square" rtlCol="0" anchor="ctr"/>
          <a:lstStyle/>
          <a:p>
            <a:pPr indent="0" marL="0">
              <a:lnSpc>
                <a:spcPct val="105000"/>
              </a:lnSpc>
              <a:buNone/>
            </a:pPr>
            <a:r>
              <a:rPr lang="en-US" sz="980" dirty="0">
                <a:solidFill>
                  <a:srgbClr val="9FB2C8"/>
                </a:solidFill>
                <a:latin typeface="Calibri" pitchFamily="34" charset="0"/>
                <a:ea typeface="Calibri" pitchFamily="34" charset="-122"/>
                <a:cs typeface="Calibri" pitchFamily="34" charset="-120"/>
              </a:rPr>
              <a:t>3 explicit rejection / correction examples demonstrate guardrail enforcement</a:t>
            </a:r>
            <a:endParaRPr lang="en-US" sz="980" dirty="0"/>
          </a:p>
        </p:txBody>
      </p:sp>
      <p:sp>
        <p:nvSpPr>
          <p:cNvPr id="42" name="Shape 33"/>
          <p:cNvSpPr/>
          <p:nvPr/>
        </p:nvSpPr>
        <p:spPr>
          <a:xfrm>
            <a:off x="7223760" y="1691640"/>
            <a:ext cx="4480560" cy="4617720"/>
          </a:xfrm>
          <a:prstGeom prst="roundRect">
            <a:avLst>
              <a:gd name="adj" fmla="val 1837"/>
            </a:avLst>
          </a:prstGeom>
          <a:solidFill>
            <a:srgbClr val="17233A"/>
          </a:solidFill>
          <a:ln w="12700">
            <a:solidFill>
              <a:srgbClr val="0EA5A0"/>
            </a:solidFill>
            <a:prstDash val="solid"/>
          </a:ln>
          <a:effectLst>
            <a:outerShdw sx="100000" sy="100000" kx="0" ky="0" algn="bl" rotWithShape="0" blurRad="101600" dist="38100" dir="5400000">
              <a:srgbClr val="000000">
                <a:alpha val="35000"/>
              </a:srgbClr>
            </a:outerShdw>
          </a:effectLst>
        </p:spPr>
      </p:sp>
      <p:sp>
        <p:nvSpPr>
          <p:cNvPr id="43" name="Text 34"/>
          <p:cNvSpPr/>
          <p:nvPr/>
        </p:nvSpPr>
        <p:spPr>
          <a:xfrm>
            <a:off x="7543800" y="1920240"/>
            <a:ext cx="3840480" cy="274320"/>
          </a:xfrm>
          <a:prstGeom prst="rect">
            <a:avLst/>
          </a:prstGeom>
          <a:noFill/>
          <a:ln/>
        </p:spPr>
        <p:txBody>
          <a:bodyPr wrap="square" rtlCol="0" anchor="ctr"/>
          <a:lstStyle/>
          <a:p>
            <a:pPr indent="0" marL="0">
              <a:buNone/>
            </a:pPr>
            <a:r>
              <a:rPr lang="en-US" sz="1050" b="1" spc="100" kern="0" dirty="0">
                <a:solidFill>
                  <a:srgbClr val="00E5C7"/>
                </a:solidFill>
                <a:latin typeface="Calibri" pitchFamily="34" charset="0"/>
                <a:ea typeface="Calibri" pitchFamily="34" charset="-122"/>
                <a:cs typeface="Calibri" pitchFamily="34" charset="-120"/>
              </a:rPr>
              <a:t>SAMPLE REVIEWER NOTE</a:t>
            </a:r>
            <a:endParaRPr lang="en-US" sz="1050" dirty="0"/>
          </a:p>
        </p:txBody>
      </p:sp>
      <p:sp>
        <p:nvSpPr>
          <p:cNvPr id="44" name="Text 35"/>
          <p:cNvSpPr/>
          <p:nvPr/>
        </p:nvSpPr>
        <p:spPr>
          <a:xfrm>
            <a:off x="7543800" y="2331720"/>
            <a:ext cx="3840480" cy="3703320"/>
          </a:xfrm>
          <a:prstGeom prst="rect">
            <a:avLst/>
          </a:prstGeom>
          <a:noFill/>
          <a:ln/>
        </p:spPr>
        <p:txBody>
          <a:bodyPr wrap="square" rtlCol="0" anchor="ctr"/>
          <a:lstStyle/>
          <a:p>
            <a:pPr indent="0" marL="0">
              <a:lnSpc>
                <a:spcPct val="135000"/>
              </a:lnSpc>
              <a:buNone/>
            </a:pPr>
            <a:r>
              <a:rPr lang="en-US" sz="1100" dirty="0">
                <a:solidFill>
                  <a:srgbClr val="FFFFFF"/>
                </a:solidFill>
                <a:latin typeface="Courier New" pitchFamily="34" charset="0"/>
                <a:ea typeface="Courier New" pitchFamily="34" charset="-122"/>
                <a:cs typeface="Courier New" pitchFamily="34" charset="-120"/>
              </a:rPr>
              <a:t>Loan #A19284 flagged Medium Risk.</a:t>
            </a:r>
            <a:endParaRPr lang="en-US" sz="1100" dirty="0"/>
          </a:p>
          <a:p>
            <a:pPr indent="0" marL="0">
              <a:lnSpc>
                <a:spcPct val="135000"/>
              </a:lnSpc>
              <a:buNone/>
            </a:pPr>
            <a:endParaRPr lang="en-US" sz="1100" dirty="0"/>
          </a:p>
          <a:p>
            <a:pPr indent="0" marL="0">
              <a:lnSpc>
                <a:spcPct val="135000"/>
              </a:lnSpc>
              <a:buNone/>
            </a:pPr>
            <a:r>
              <a:rPr lang="en-US" sz="1100" dirty="0">
                <a:solidFill>
                  <a:srgbClr val="FFFFFF"/>
                </a:solidFill>
                <a:latin typeface="Courier New" pitchFamily="34" charset="0"/>
                <a:ea typeface="Courier New" pitchFamily="34" charset="-122"/>
                <a:cs typeface="Courier New" pitchFamily="34" charset="-120"/>
              </a:rPr>
              <a:t>Credit score contributes +0.14 to default probability (SHAP); DTI ratio contributes +0.09; 3 consecutive on-time payments contribute –0.05.</a:t>
            </a:r>
            <a:endParaRPr lang="en-US" sz="1100" dirty="0"/>
          </a:p>
          <a:p>
            <a:pPr indent="0" marL="0">
              <a:lnSpc>
                <a:spcPct val="135000"/>
              </a:lnSpc>
              <a:buNone/>
            </a:pPr>
            <a:endParaRPr lang="en-US" sz="1100" dirty="0"/>
          </a:p>
          <a:p>
            <a:pPr indent="0" marL="0">
              <a:lnSpc>
                <a:spcPct val="135000"/>
              </a:lnSpc>
              <a:buNone/>
            </a:pPr>
            <a:r>
              <a:rPr lang="en-US" sz="1100" dirty="0">
                <a:solidFill>
                  <a:srgbClr val="FFFFFF"/>
                </a:solidFill>
                <a:latin typeface="Courier New" pitchFamily="34" charset="0"/>
                <a:ea typeface="Courier New" pitchFamily="34" charset="-122"/>
                <a:cs typeface="Courier New" pitchFamily="34" charset="-120"/>
              </a:rPr>
              <a:t>Net model output: 0.31.</a:t>
            </a:r>
            <a:endParaRPr lang="en-US" sz="1100" dirty="0"/>
          </a:p>
        </p:txBody>
      </p:sp>
      <p:sp>
        <p:nvSpPr>
          <p:cNvPr id="45" name="Text 36"/>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46" name="Text 37"/>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10 / 12</a:t>
            </a:r>
            <a:endParaRPr lang="en-US" sz="850" dirty="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PHASE 8</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Production-Ready Cloud Deployment</a:t>
            </a:r>
            <a:endParaRPr lang="en-US" sz="3000" dirty="0"/>
          </a:p>
        </p:txBody>
      </p:sp>
      <p:sp>
        <p:nvSpPr>
          <p:cNvPr id="7" name="Shape 5"/>
          <p:cNvSpPr/>
          <p:nvPr/>
        </p:nvSpPr>
        <p:spPr>
          <a:xfrm>
            <a:off x="457200" y="1463040"/>
            <a:ext cx="5486400" cy="731520"/>
          </a:xfrm>
          <a:prstGeom prst="roundRect">
            <a:avLst>
              <a:gd name="adj" fmla="val 11250"/>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621792" y="1581912"/>
            <a:ext cx="493776" cy="493776"/>
          </a:xfrm>
          <a:prstGeom prst="ellipse">
            <a:avLst/>
          </a:prstGeom>
          <a:solidFill>
            <a:srgbClr val="17233A"/>
          </a:solidFill>
          <a:ln w="15875">
            <a:solidFill>
              <a:srgbClr val="00E5C7"/>
            </a:solidFill>
            <a:prstDash val="solid"/>
          </a:ln>
        </p:spPr>
      </p:sp>
      <p:pic>
        <p:nvPicPr>
          <p:cNvPr id="9" name="Image 0" descr="/home/claude/lpie/assets/cloud_teal.png">    </p:cNvPr>
          <p:cNvPicPr>
            <a:picLocks noChangeAspect="1"/>
          </p:cNvPicPr>
          <p:nvPr/>
        </p:nvPicPr>
        <p:blipFill>
          <a:blip r:embed="rId1"/>
          <a:stretch>
            <a:fillRect/>
          </a:stretch>
        </p:blipFill>
        <p:spPr>
          <a:xfrm>
            <a:off x="732892" y="1693012"/>
            <a:ext cx="271577" cy="271577"/>
          </a:xfrm>
          <a:prstGeom prst="rect">
            <a:avLst/>
          </a:prstGeom>
        </p:spPr>
      </p:pic>
      <p:sp>
        <p:nvSpPr>
          <p:cNvPr id="10" name="Text 7"/>
          <p:cNvSpPr/>
          <p:nvPr/>
        </p:nvSpPr>
        <p:spPr>
          <a:xfrm>
            <a:off x="1280160" y="1536192"/>
            <a:ext cx="44805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Streamlit Cloud Dashboard</a:t>
            </a:r>
            <a:endParaRPr lang="en-US" sz="1250" dirty="0"/>
          </a:p>
        </p:txBody>
      </p:sp>
      <p:sp>
        <p:nvSpPr>
          <p:cNvPr id="11" name="Text 8"/>
          <p:cNvSpPr/>
          <p:nvPr/>
        </p:nvSpPr>
        <p:spPr>
          <a:xfrm>
            <a:off x="1280160" y="1828800"/>
            <a:ext cx="4480560" cy="292608"/>
          </a:xfrm>
          <a:prstGeom prst="rect">
            <a:avLst/>
          </a:prstGeom>
          <a:noFill/>
          <a:ln/>
        </p:spPr>
        <p:txBody>
          <a:bodyPr wrap="square" rtlCol="0" anchor="ctr"/>
          <a:lstStyle/>
          <a:p>
            <a:pPr indent="0" marL="0">
              <a:buNone/>
            </a:pPr>
            <a:r>
              <a:rPr lang="en-US" sz="950" dirty="0">
                <a:solidFill>
                  <a:srgbClr val="00E5C7"/>
                </a:solidFill>
                <a:latin typeface="Courier New" pitchFamily="34" charset="0"/>
                <a:ea typeface="Courier New" pitchFamily="34" charset="-122"/>
                <a:cs typeface="Courier New" pitchFamily="34" charset="-120"/>
              </a:rPr>
              <a:t>loan-performance-intelligence-engine.streamlit.app</a:t>
            </a:r>
            <a:endParaRPr lang="en-US" sz="950" dirty="0"/>
          </a:p>
        </p:txBody>
      </p:sp>
      <p:sp>
        <p:nvSpPr>
          <p:cNvPr id="12" name="Shape 9"/>
          <p:cNvSpPr/>
          <p:nvPr/>
        </p:nvSpPr>
        <p:spPr>
          <a:xfrm>
            <a:off x="457200" y="2331720"/>
            <a:ext cx="5486400" cy="731520"/>
          </a:xfrm>
          <a:prstGeom prst="roundRect">
            <a:avLst>
              <a:gd name="adj" fmla="val 11250"/>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3" name="Shape 10"/>
          <p:cNvSpPr/>
          <p:nvPr/>
        </p:nvSpPr>
        <p:spPr>
          <a:xfrm>
            <a:off x="621792" y="2450592"/>
            <a:ext cx="493776" cy="493776"/>
          </a:xfrm>
          <a:prstGeom prst="ellipse">
            <a:avLst/>
          </a:prstGeom>
          <a:solidFill>
            <a:srgbClr val="17233A"/>
          </a:solidFill>
          <a:ln w="15875">
            <a:solidFill>
              <a:srgbClr val="00E5C7"/>
            </a:solidFill>
            <a:prstDash val="solid"/>
          </a:ln>
        </p:spPr>
      </p:sp>
      <p:pic>
        <p:nvPicPr>
          <p:cNvPr id="14" name="Image 1" descr="/home/claude/lpie/assets/terminal_teal.png">    </p:cNvPr>
          <p:cNvPicPr>
            <a:picLocks noChangeAspect="1"/>
          </p:cNvPicPr>
          <p:nvPr/>
        </p:nvPicPr>
        <p:blipFill>
          <a:blip r:embed="rId2"/>
          <a:stretch>
            <a:fillRect/>
          </a:stretch>
        </p:blipFill>
        <p:spPr>
          <a:xfrm>
            <a:off x="732892" y="2561692"/>
            <a:ext cx="271577" cy="271577"/>
          </a:xfrm>
          <a:prstGeom prst="rect">
            <a:avLst/>
          </a:prstGeom>
        </p:spPr>
      </p:pic>
      <p:sp>
        <p:nvSpPr>
          <p:cNvPr id="15" name="Text 11"/>
          <p:cNvSpPr/>
          <p:nvPr/>
        </p:nvSpPr>
        <p:spPr>
          <a:xfrm>
            <a:off x="1280160" y="2404872"/>
            <a:ext cx="44805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REST API with Swagger Docs</a:t>
            </a:r>
            <a:endParaRPr lang="en-US" sz="1250" dirty="0"/>
          </a:p>
        </p:txBody>
      </p:sp>
      <p:sp>
        <p:nvSpPr>
          <p:cNvPr id="16" name="Text 12"/>
          <p:cNvSpPr/>
          <p:nvPr/>
        </p:nvSpPr>
        <p:spPr>
          <a:xfrm>
            <a:off x="1280160" y="2697480"/>
            <a:ext cx="4480560" cy="292608"/>
          </a:xfrm>
          <a:prstGeom prst="rect">
            <a:avLst/>
          </a:prstGeom>
          <a:noFill/>
          <a:ln/>
        </p:spPr>
        <p:txBody>
          <a:bodyPr wrap="square" rtlCol="0" anchor="ctr"/>
          <a:lstStyle/>
          <a:p>
            <a:pPr indent="0" marL="0">
              <a:buNone/>
            </a:pPr>
            <a:r>
              <a:rPr lang="en-US" sz="950" dirty="0">
                <a:solidFill>
                  <a:srgbClr val="00E5C7"/>
                </a:solidFill>
                <a:latin typeface="Courier New" pitchFamily="34" charset="0"/>
                <a:ea typeface="Courier New" pitchFamily="34" charset="-122"/>
                <a:cs typeface="Courier New" pitchFamily="34" charset="-120"/>
              </a:rPr>
              <a:t>FastAPI microservice — interactive docs at /docs</a:t>
            </a:r>
            <a:endParaRPr lang="en-US" sz="950" dirty="0"/>
          </a:p>
        </p:txBody>
      </p:sp>
      <p:sp>
        <p:nvSpPr>
          <p:cNvPr id="17" name="Shape 13"/>
          <p:cNvSpPr/>
          <p:nvPr/>
        </p:nvSpPr>
        <p:spPr>
          <a:xfrm>
            <a:off x="457200" y="3200400"/>
            <a:ext cx="5486400" cy="731520"/>
          </a:xfrm>
          <a:prstGeom prst="roundRect">
            <a:avLst>
              <a:gd name="adj" fmla="val 11250"/>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8" name="Shape 14"/>
          <p:cNvSpPr/>
          <p:nvPr/>
        </p:nvSpPr>
        <p:spPr>
          <a:xfrm>
            <a:off x="621792" y="3319272"/>
            <a:ext cx="493776" cy="493776"/>
          </a:xfrm>
          <a:prstGeom prst="ellipse">
            <a:avLst/>
          </a:prstGeom>
          <a:solidFill>
            <a:srgbClr val="17233A"/>
          </a:solidFill>
          <a:ln w="15875">
            <a:solidFill>
              <a:srgbClr val="00E5C7"/>
            </a:solidFill>
            <a:prstDash val="solid"/>
          </a:ln>
        </p:spPr>
      </p:sp>
      <p:pic>
        <p:nvPicPr>
          <p:cNvPr id="19" name="Image 2" descr="/home/claude/lpie/assets/layers_teal.png">    </p:cNvPr>
          <p:cNvPicPr>
            <a:picLocks noChangeAspect="1"/>
          </p:cNvPicPr>
          <p:nvPr/>
        </p:nvPicPr>
        <p:blipFill>
          <a:blip r:embed="rId3"/>
          <a:stretch>
            <a:fillRect/>
          </a:stretch>
        </p:blipFill>
        <p:spPr>
          <a:xfrm>
            <a:off x="732892" y="3430372"/>
            <a:ext cx="271577" cy="271577"/>
          </a:xfrm>
          <a:prstGeom prst="rect">
            <a:avLst/>
          </a:prstGeom>
        </p:spPr>
      </p:pic>
      <p:sp>
        <p:nvSpPr>
          <p:cNvPr id="20" name="Text 15"/>
          <p:cNvSpPr/>
          <p:nvPr/>
        </p:nvSpPr>
        <p:spPr>
          <a:xfrm>
            <a:off x="1280160" y="3273552"/>
            <a:ext cx="4480560" cy="29260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Docker Containerization</a:t>
            </a:r>
            <a:endParaRPr lang="en-US" sz="1250" dirty="0"/>
          </a:p>
        </p:txBody>
      </p:sp>
      <p:sp>
        <p:nvSpPr>
          <p:cNvPr id="21" name="Text 16"/>
          <p:cNvSpPr/>
          <p:nvPr/>
        </p:nvSpPr>
        <p:spPr>
          <a:xfrm>
            <a:off x="1280160" y="3566160"/>
            <a:ext cx="4480560" cy="292608"/>
          </a:xfrm>
          <a:prstGeom prst="rect">
            <a:avLst/>
          </a:prstGeom>
          <a:noFill/>
          <a:ln/>
        </p:spPr>
        <p:txBody>
          <a:bodyPr wrap="square" rtlCol="0" anchor="ctr"/>
          <a:lstStyle/>
          <a:p>
            <a:pPr indent="0" marL="0">
              <a:buNone/>
            </a:pPr>
            <a:r>
              <a:rPr lang="en-US" sz="950" dirty="0">
                <a:solidFill>
                  <a:srgbClr val="00E5C7"/>
                </a:solidFill>
                <a:latin typeface="Courier New" pitchFamily="34" charset="0"/>
                <a:ea typeface="Courier New" pitchFamily="34" charset="-122"/>
                <a:cs typeface="Courier New" pitchFamily="34" charset="-120"/>
              </a:rPr>
              <a:t>Full stack defined in docker-compose.yml</a:t>
            </a:r>
            <a:endParaRPr lang="en-US" sz="950" dirty="0"/>
          </a:p>
        </p:txBody>
      </p:sp>
      <p:sp>
        <p:nvSpPr>
          <p:cNvPr id="22" name="Text 17"/>
          <p:cNvSpPr/>
          <p:nvPr/>
        </p:nvSpPr>
        <p:spPr>
          <a:xfrm>
            <a:off x="457200" y="4206240"/>
            <a:ext cx="5486400" cy="274320"/>
          </a:xfrm>
          <a:prstGeom prst="rect">
            <a:avLst/>
          </a:prstGeom>
          <a:noFill/>
          <a:ln/>
        </p:spPr>
        <p:txBody>
          <a:bodyPr wrap="square" rtlCol="0" anchor="ctr"/>
          <a:lstStyle/>
          <a:p>
            <a:pPr indent="0" marL="0">
              <a:buNone/>
            </a:pPr>
            <a:r>
              <a:rPr lang="en-US" sz="1200" b="1" spc="120" kern="0" dirty="0">
                <a:solidFill>
                  <a:srgbClr val="9FB2C8"/>
                </a:solidFill>
                <a:latin typeface="Calibri" pitchFamily="34" charset="0"/>
                <a:ea typeface="Calibri" pitchFamily="34" charset="-122"/>
                <a:cs typeface="Calibri" pitchFamily="34" charset="-120"/>
              </a:rPr>
              <a:t>ENGINEERING HIGHLIGHTS</a:t>
            </a:r>
            <a:endParaRPr lang="en-US" sz="1200" dirty="0"/>
          </a:p>
        </p:txBody>
      </p:sp>
      <p:sp>
        <p:nvSpPr>
          <p:cNvPr id="23" name="Text 18"/>
          <p:cNvSpPr/>
          <p:nvPr/>
        </p:nvSpPr>
        <p:spPr>
          <a:xfrm>
            <a:off x="457200" y="4553712"/>
            <a:ext cx="5486400" cy="365760"/>
          </a:xfrm>
          <a:prstGeom prst="rect">
            <a:avLst/>
          </a:prstGeom>
          <a:noFill/>
          <a:ln/>
        </p:spPr>
        <p:txBody>
          <a:bodyPr wrap="square" rtlCol="0" anchor="ctr"/>
          <a:lstStyle/>
          <a:p>
            <a:pPr indent="0" marL="0">
              <a:buNone/>
            </a:pPr>
            <a:r>
              <a:rPr lang="en-US" sz="1050" dirty="0">
                <a:solidFill>
                  <a:srgbClr val="9FB2C8"/>
                </a:solidFill>
                <a:latin typeface="Calibri" pitchFamily="34" charset="0"/>
                <a:ea typeface="Calibri" pitchFamily="34" charset="-122"/>
                <a:cs typeface="Calibri" pitchFamily="34" charset="-120"/>
              </a:rPr>
              <a:t>•  Self-healing bootloader — auto-synthesizes data &amp; trains models on a fresh environment</a:t>
            </a:r>
            <a:endParaRPr lang="en-US" sz="1050" dirty="0"/>
          </a:p>
        </p:txBody>
      </p:sp>
      <p:sp>
        <p:nvSpPr>
          <p:cNvPr id="24" name="Text 19"/>
          <p:cNvSpPr/>
          <p:nvPr/>
        </p:nvSpPr>
        <p:spPr>
          <a:xfrm>
            <a:off x="457200" y="4937760"/>
            <a:ext cx="5486400" cy="365760"/>
          </a:xfrm>
          <a:prstGeom prst="rect">
            <a:avLst/>
          </a:prstGeom>
          <a:noFill/>
          <a:ln/>
        </p:spPr>
        <p:txBody>
          <a:bodyPr wrap="square" rtlCol="0" anchor="ctr"/>
          <a:lstStyle/>
          <a:p>
            <a:pPr indent="0" marL="0">
              <a:buNone/>
            </a:pPr>
            <a:r>
              <a:rPr lang="en-US" sz="1050" dirty="0">
                <a:solidFill>
                  <a:srgbClr val="9FB2C8"/>
                </a:solidFill>
                <a:latin typeface="Calibri" pitchFamily="34" charset="0"/>
                <a:ea typeface="Calibri" pitchFamily="34" charset="-122"/>
                <a:cs typeface="Calibri" pitchFamily="34" charset="-120"/>
              </a:rPr>
              <a:t>•  @st.cache_resource and @st.cache_data for zero-CPU re-renders</a:t>
            </a:r>
            <a:endParaRPr lang="en-US" sz="1050" dirty="0"/>
          </a:p>
        </p:txBody>
      </p:sp>
      <p:sp>
        <p:nvSpPr>
          <p:cNvPr id="25" name="Text 20"/>
          <p:cNvSpPr/>
          <p:nvPr/>
        </p:nvSpPr>
        <p:spPr>
          <a:xfrm>
            <a:off x="457200" y="5321808"/>
            <a:ext cx="5486400" cy="365760"/>
          </a:xfrm>
          <a:prstGeom prst="rect">
            <a:avLst/>
          </a:prstGeom>
          <a:noFill/>
          <a:ln/>
        </p:spPr>
        <p:txBody>
          <a:bodyPr wrap="square" rtlCol="0" anchor="ctr"/>
          <a:lstStyle/>
          <a:p>
            <a:pPr indent="0" marL="0">
              <a:buNone/>
            </a:pPr>
            <a:r>
              <a:rPr lang="en-US" sz="1050" dirty="0">
                <a:solidFill>
                  <a:srgbClr val="9FB2C8"/>
                </a:solidFill>
                <a:latin typeface="Calibri" pitchFamily="34" charset="0"/>
                <a:ea typeface="Calibri" pitchFamily="34" charset="-122"/>
                <a:cs typeface="Calibri" pitchFamily="34" charset="-120"/>
              </a:rPr>
              <a:t>•  GitHub CI/CD ready with full integration test suite (5/5 tests passing)</a:t>
            </a:r>
            <a:endParaRPr lang="en-US" sz="1050" dirty="0"/>
          </a:p>
        </p:txBody>
      </p:sp>
      <p:sp>
        <p:nvSpPr>
          <p:cNvPr id="26" name="Shape 21"/>
          <p:cNvSpPr/>
          <p:nvPr/>
        </p:nvSpPr>
        <p:spPr>
          <a:xfrm>
            <a:off x="457200" y="5806440"/>
            <a:ext cx="5486400" cy="502920"/>
          </a:xfrm>
          <a:prstGeom prst="roundRect">
            <a:avLst>
              <a:gd name="adj" fmla="val 16364"/>
            </a:avLst>
          </a:prstGeom>
          <a:solidFill>
            <a:srgbClr val="17233A"/>
          </a:solidFill>
          <a:ln w="12700">
            <a:solidFill>
              <a:srgbClr val="0EA5A0"/>
            </a:solidFill>
            <a:prstDash val="solid"/>
          </a:ln>
        </p:spPr>
      </p:sp>
      <p:sp>
        <p:nvSpPr>
          <p:cNvPr id="27" name="Shape 22"/>
          <p:cNvSpPr/>
          <p:nvPr/>
        </p:nvSpPr>
        <p:spPr>
          <a:xfrm>
            <a:off x="594360" y="5879592"/>
            <a:ext cx="365760" cy="365760"/>
          </a:xfrm>
          <a:prstGeom prst="ellipse">
            <a:avLst/>
          </a:prstGeom>
          <a:solidFill>
            <a:srgbClr val="17233A"/>
          </a:solidFill>
          <a:ln w="15875">
            <a:solidFill>
              <a:srgbClr val="00E5C7"/>
            </a:solidFill>
            <a:prstDash val="solid"/>
          </a:ln>
        </p:spPr>
      </p:sp>
      <p:pic>
        <p:nvPicPr>
          <p:cNvPr id="28" name="Image 3" descr="/home/claude/lpie/assets/github_teal.png">    </p:cNvPr>
          <p:cNvPicPr>
            <a:picLocks noChangeAspect="1"/>
          </p:cNvPicPr>
          <p:nvPr/>
        </p:nvPicPr>
        <p:blipFill>
          <a:blip r:embed="rId4"/>
          <a:stretch>
            <a:fillRect/>
          </a:stretch>
        </p:blipFill>
        <p:spPr>
          <a:xfrm>
            <a:off x="667512" y="5952744"/>
            <a:ext cx="219456" cy="219456"/>
          </a:xfrm>
          <a:prstGeom prst="rect">
            <a:avLst/>
          </a:prstGeom>
        </p:spPr>
      </p:pic>
      <p:sp>
        <p:nvSpPr>
          <p:cNvPr id="29" name="Text 23"/>
          <p:cNvSpPr/>
          <p:nvPr/>
        </p:nvSpPr>
        <p:spPr>
          <a:xfrm>
            <a:off x="1097280" y="5806440"/>
            <a:ext cx="4709160" cy="502920"/>
          </a:xfrm>
          <a:prstGeom prst="rect">
            <a:avLst/>
          </a:prstGeom>
          <a:noFill/>
          <a:ln/>
        </p:spPr>
        <p:txBody>
          <a:bodyPr wrap="square" rtlCol="0" anchor="ctr"/>
          <a:lstStyle/>
          <a:p>
            <a:pPr indent="0" marL="0">
              <a:buNone/>
            </a:pPr>
            <a:r>
              <a:rPr lang="en-US" sz="950" dirty="0">
                <a:solidFill>
                  <a:srgbClr val="FFFFFF"/>
                </a:solidFill>
                <a:latin typeface="Courier New" pitchFamily="34" charset="0"/>
                <a:ea typeface="Courier New" pitchFamily="34" charset="-122"/>
                <a:cs typeface="Courier New" pitchFamily="34" charset="-120"/>
              </a:rPr>
              <a:t>github.com/knarendrakumar187/loan-performance-intelligence-engine</a:t>
            </a:r>
            <a:endParaRPr lang="en-US" sz="950" dirty="0"/>
          </a:p>
        </p:txBody>
      </p:sp>
      <p:sp>
        <p:nvSpPr>
          <p:cNvPr id="30" name="Shape 24"/>
          <p:cNvSpPr/>
          <p:nvPr/>
        </p:nvSpPr>
        <p:spPr>
          <a:xfrm>
            <a:off x="6400800" y="1463040"/>
            <a:ext cx="5303520" cy="4709160"/>
          </a:xfrm>
          <a:prstGeom prst="roundRect">
            <a:avLst>
              <a:gd name="adj" fmla="val 1748"/>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1" name="Shape 25"/>
          <p:cNvSpPr/>
          <p:nvPr/>
        </p:nvSpPr>
        <p:spPr>
          <a:xfrm>
            <a:off x="6629400" y="1691640"/>
            <a:ext cx="4846320" cy="292608"/>
          </a:xfrm>
          <a:prstGeom prst="roundRect">
            <a:avLst>
              <a:gd name="adj" fmla="val 18750"/>
            </a:avLst>
          </a:prstGeom>
          <a:solidFill>
            <a:srgbClr val="0B0F17"/>
          </a:solidFill>
          <a:ln w="9525">
            <a:solidFill>
              <a:srgbClr val="223049"/>
            </a:solidFill>
            <a:prstDash val="solid"/>
          </a:ln>
        </p:spPr>
      </p:sp>
      <p:sp>
        <p:nvSpPr>
          <p:cNvPr id="32" name="Shape 26"/>
          <p:cNvSpPr/>
          <p:nvPr/>
        </p:nvSpPr>
        <p:spPr>
          <a:xfrm>
            <a:off x="6784848" y="1792224"/>
            <a:ext cx="91440" cy="91440"/>
          </a:xfrm>
          <a:prstGeom prst="ellipse">
            <a:avLst/>
          </a:prstGeom>
          <a:solidFill>
            <a:srgbClr val="FF6B6B"/>
          </a:solidFill>
          <a:ln/>
        </p:spPr>
      </p:sp>
      <p:sp>
        <p:nvSpPr>
          <p:cNvPr id="33" name="Shape 27"/>
          <p:cNvSpPr/>
          <p:nvPr/>
        </p:nvSpPr>
        <p:spPr>
          <a:xfrm>
            <a:off x="6986016" y="1792224"/>
            <a:ext cx="91440" cy="91440"/>
          </a:xfrm>
          <a:prstGeom prst="ellipse">
            <a:avLst/>
          </a:prstGeom>
          <a:solidFill>
            <a:srgbClr val="FFC93C"/>
          </a:solidFill>
          <a:ln/>
        </p:spPr>
      </p:sp>
      <p:sp>
        <p:nvSpPr>
          <p:cNvPr id="34" name="Shape 28"/>
          <p:cNvSpPr/>
          <p:nvPr/>
        </p:nvSpPr>
        <p:spPr>
          <a:xfrm>
            <a:off x="7187184" y="1792224"/>
            <a:ext cx="91440" cy="91440"/>
          </a:xfrm>
          <a:prstGeom prst="ellipse">
            <a:avLst/>
          </a:prstGeom>
          <a:solidFill>
            <a:srgbClr val="4ADE80"/>
          </a:solidFill>
          <a:ln/>
        </p:spPr>
      </p:sp>
      <p:sp>
        <p:nvSpPr>
          <p:cNvPr id="35" name="Text 29"/>
          <p:cNvSpPr/>
          <p:nvPr/>
        </p:nvSpPr>
        <p:spPr>
          <a:xfrm>
            <a:off x="7406640" y="1691640"/>
            <a:ext cx="4023360" cy="292608"/>
          </a:xfrm>
          <a:prstGeom prst="rect">
            <a:avLst/>
          </a:prstGeom>
          <a:noFill/>
          <a:ln/>
        </p:spPr>
        <p:txBody>
          <a:bodyPr wrap="square" rtlCol="0" anchor="ctr"/>
          <a:lstStyle/>
          <a:p>
            <a:pPr indent="0" marL="0">
              <a:buNone/>
            </a:pPr>
            <a:r>
              <a:rPr lang="en-US" sz="900" dirty="0">
                <a:solidFill>
                  <a:srgbClr val="6B7C93"/>
                </a:solidFill>
                <a:latin typeface="Calibri" pitchFamily="34" charset="0"/>
                <a:ea typeface="Calibri" pitchFamily="34" charset="-122"/>
                <a:cs typeface="Calibri" pitchFamily="34" charset="-120"/>
              </a:rPr>
              <a:t>LPIE Live Dashboard</a:t>
            </a:r>
            <a:endParaRPr lang="en-US" sz="900" dirty="0"/>
          </a:p>
        </p:txBody>
      </p:sp>
      <p:sp>
        <p:nvSpPr>
          <p:cNvPr id="36" name="Shape 30"/>
          <p:cNvSpPr/>
          <p:nvPr/>
        </p:nvSpPr>
        <p:spPr>
          <a:xfrm>
            <a:off x="6858000" y="2286000"/>
            <a:ext cx="1554480" cy="1554480"/>
          </a:xfrm>
          <a:prstGeom prst="ellipse">
            <a:avLst/>
          </a:prstGeom>
          <a:solidFill>
            <a:srgbClr val="17233A"/>
          </a:solidFill>
          <a:ln w="88900">
            <a:solidFill>
              <a:srgbClr val="FF6B6B"/>
            </a:solidFill>
            <a:prstDash val="solid"/>
          </a:ln>
        </p:spPr>
      </p:sp>
      <p:sp>
        <p:nvSpPr>
          <p:cNvPr id="37" name="Shape 31"/>
          <p:cNvSpPr/>
          <p:nvPr/>
        </p:nvSpPr>
        <p:spPr>
          <a:xfrm>
            <a:off x="7150608" y="2578608"/>
            <a:ext cx="969264" cy="969264"/>
          </a:xfrm>
          <a:prstGeom prst="ellipse">
            <a:avLst/>
          </a:prstGeom>
          <a:solidFill>
            <a:srgbClr val="121A29"/>
          </a:solidFill>
          <a:ln/>
        </p:spPr>
      </p:sp>
      <p:sp>
        <p:nvSpPr>
          <p:cNvPr id="38" name="Text 32"/>
          <p:cNvSpPr/>
          <p:nvPr/>
        </p:nvSpPr>
        <p:spPr>
          <a:xfrm>
            <a:off x="6858000" y="2788920"/>
            <a:ext cx="155448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31%</a:t>
            </a:r>
            <a:endParaRPr lang="en-US" sz="1600" dirty="0"/>
          </a:p>
        </p:txBody>
      </p:sp>
      <p:sp>
        <p:nvSpPr>
          <p:cNvPr id="39" name="Text 33"/>
          <p:cNvSpPr/>
          <p:nvPr/>
        </p:nvSpPr>
        <p:spPr>
          <a:xfrm>
            <a:off x="6675120" y="3931920"/>
            <a:ext cx="1920240" cy="274320"/>
          </a:xfrm>
          <a:prstGeom prst="rect">
            <a:avLst/>
          </a:prstGeom>
          <a:noFill/>
          <a:ln/>
        </p:spPr>
        <p:txBody>
          <a:bodyPr wrap="square" rtlCol="0" anchor="ctr"/>
          <a:lstStyle/>
          <a:p>
            <a:pPr algn="ctr" indent="0" marL="0">
              <a:buNone/>
            </a:pPr>
            <a:r>
              <a:rPr lang="en-US" sz="950" dirty="0">
                <a:solidFill>
                  <a:srgbClr val="9FB2C8"/>
                </a:solidFill>
                <a:latin typeface="Calibri" pitchFamily="34" charset="0"/>
                <a:ea typeface="Calibri" pitchFamily="34" charset="-122"/>
                <a:cs typeface="Calibri" pitchFamily="34" charset="-120"/>
              </a:rPr>
              <a:t>Default Risk</a:t>
            </a:r>
            <a:endParaRPr lang="en-US" sz="950" dirty="0"/>
          </a:p>
        </p:txBody>
      </p:sp>
      <p:sp>
        <p:nvSpPr>
          <p:cNvPr id="40" name="Shape 34"/>
          <p:cNvSpPr/>
          <p:nvPr/>
        </p:nvSpPr>
        <p:spPr>
          <a:xfrm>
            <a:off x="9418320" y="2286000"/>
            <a:ext cx="1554480" cy="1554480"/>
          </a:xfrm>
          <a:prstGeom prst="ellipse">
            <a:avLst/>
          </a:prstGeom>
          <a:solidFill>
            <a:srgbClr val="17233A"/>
          </a:solidFill>
          <a:ln w="88900">
            <a:solidFill>
              <a:srgbClr val="4CC3F0"/>
            </a:solidFill>
            <a:prstDash val="solid"/>
          </a:ln>
        </p:spPr>
      </p:sp>
      <p:sp>
        <p:nvSpPr>
          <p:cNvPr id="41" name="Shape 35"/>
          <p:cNvSpPr/>
          <p:nvPr/>
        </p:nvSpPr>
        <p:spPr>
          <a:xfrm>
            <a:off x="9710928" y="2578608"/>
            <a:ext cx="969264" cy="969264"/>
          </a:xfrm>
          <a:prstGeom prst="ellipse">
            <a:avLst/>
          </a:prstGeom>
          <a:solidFill>
            <a:srgbClr val="121A29"/>
          </a:solidFill>
          <a:ln/>
        </p:spPr>
      </p:sp>
      <p:sp>
        <p:nvSpPr>
          <p:cNvPr id="42" name="Text 36"/>
          <p:cNvSpPr/>
          <p:nvPr/>
        </p:nvSpPr>
        <p:spPr>
          <a:xfrm>
            <a:off x="9418320" y="2788920"/>
            <a:ext cx="155448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58%</a:t>
            </a:r>
            <a:endParaRPr lang="en-US" sz="1600" dirty="0"/>
          </a:p>
        </p:txBody>
      </p:sp>
      <p:sp>
        <p:nvSpPr>
          <p:cNvPr id="43" name="Text 37"/>
          <p:cNvSpPr/>
          <p:nvPr/>
        </p:nvSpPr>
        <p:spPr>
          <a:xfrm>
            <a:off x="9235440" y="3931920"/>
            <a:ext cx="1920240" cy="274320"/>
          </a:xfrm>
          <a:prstGeom prst="rect">
            <a:avLst/>
          </a:prstGeom>
          <a:noFill/>
          <a:ln/>
        </p:spPr>
        <p:txBody>
          <a:bodyPr wrap="square" rtlCol="0" anchor="ctr"/>
          <a:lstStyle/>
          <a:p>
            <a:pPr algn="ctr" indent="0" marL="0">
              <a:buNone/>
            </a:pPr>
            <a:r>
              <a:rPr lang="en-US" sz="950" dirty="0">
                <a:solidFill>
                  <a:srgbClr val="9FB2C8"/>
                </a:solidFill>
                <a:latin typeface="Calibri" pitchFamily="34" charset="0"/>
                <a:ea typeface="Calibri" pitchFamily="34" charset="-122"/>
                <a:cs typeface="Calibri" pitchFamily="34" charset="-120"/>
              </a:rPr>
              <a:t>Prepay Risk</a:t>
            </a:r>
            <a:endParaRPr lang="en-US" sz="950" dirty="0"/>
          </a:p>
        </p:txBody>
      </p:sp>
      <p:graphicFrame>
        <p:nvGraphicFramePr>
          <p:cNvPr id="44" name="Chart 0" descr=""/>
          <p:cNvGraphicFramePr/>
          <p:nvPr/>
        </p:nvGraphicFramePr>
        <p:xfrm>
          <a:off x="6766560" y="4389120"/>
          <a:ext cx="4572000" cy="1463040"/>
        </p:xfrm>
        <a:graphic xmlns:a="http://schemas.openxmlformats.org/drawingml/2006/main">
          <a:graphicData uri="http://schemas.openxmlformats.org/drawingml/2006/chart">
            <c:chart xmlns:c="http://schemas.openxmlformats.org/drawingml/2006/chart" r:id="rId5"/>
          </a:graphicData>
        </a:graphic>
      </p:graphicFrame>
      <p:sp>
        <p:nvSpPr>
          <p:cNvPr id="45" name="Text 38"/>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46" name="Text 39"/>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11 / 12</a:t>
            </a:r>
            <a:endParaRPr lang="en-US" sz="850"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10332720" y="-91440"/>
            <a:ext cx="1828800" cy="1828800"/>
          </a:xfrm>
          <a:prstGeom prst="ellipse">
            <a:avLst/>
          </a:prstGeom>
          <a:ln w="9525">
            <a:solidFill>
              <a:srgbClr val="00E5C7">
                <a:alpha val="22000"/>
              </a:srgbClr>
            </a:solidFill>
            <a:prstDash val="solid"/>
          </a:ln>
        </p:spPr>
      </p:sp>
      <p:sp>
        <p:nvSpPr>
          <p:cNvPr id="3" name="Shape 1"/>
          <p:cNvSpPr/>
          <p:nvPr/>
        </p:nvSpPr>
        <p:spPr>
          <a:xfrm>
            <a:off x="10607040" y="182880"/>
            <a:ext cx="1280160" cy="1280160"/>
          </a:xfrm>
          <a:prstGeom prst="ellipse">
            <a:avLst/>
          </a:prstGeom>
          <a:ln w="9525">
            <a:solidFill>
              <a:srgbClr val="00E5C7">
                <a:alpha val="32000"/>
              </a:srgbClr>
            </a:solidFill>
            <a:prstDash val="solid"/>
          </a:ln>
        </p:spPr>
      </p:sp>
      <p:sp>
        <p:nvSpPr>
          <p:cNvPr id="4" name="Shape 2"/>
          <p:cNvSpPr/>
          <p:nvPr/>
        </p:nvSpPr>
        <p:spPr>
          <a:xfrm>
            <a:off x="10881360" y="457200"/>
            <a:ext cx="731520" cy="731520"/>
          </a:xfrm>
          <a:prstGeom prst="ellipse">
            <a:avLst/>
          </a:prstGeom>
          <a:ln w="9525">
            <a:solidFill>
              <a:srgbClr val="00E5C7">
                <a:alpha val="45000"/>
              </a:srgbClr>
            </a:solidFill>
            <a:prstDash val="solid"/>
          </a:ln>
        </p:spPr>
      </p:sp>
      <p:sp>
        <p:nvSpPr>
          <p:cNvPr id="5" name="Text 3"/>
          <p:cNvSpPr/>
          <p:nvPr/>
        </p:nvSpPr>
        <p:spPr>
          <a:xfrm>
            <a:off x="457200" y="347472"/>
            <a:ext cx="7315200" cy="292608"/>
          </a:xfrm>
          <a:prstGeom prst="rect">
            <a:avLst/>
          </a:prstGeom>
          <a:noFill/>
          <a:ln/>
        </p:spPr>
        <p:txBody>
          <a:bodyPr wrap="square" rtlCol="0" anchor="ctr"/>
          <a:lstStyle/>
          <a:p>
            <a:pPr algn="l" indent="0" marL="0">
              <a:buNone/>
            </a:pPr>
            <a:r>
              <a:rPr lang="en-US" sz="1250" b="1" spc="200" kern="0" dirty="0">
                <a:solidFill>
                  <a:srgbClr val="00E5C7"/>
                </a:solidFill>
                <a:latin typeface="Calibri" pitchFamily="34" charset="0"/>
                <a:ea typeface="Calibri" pitchFamily="34" charset="-122"/>
                <a:cs typeface="Calibri" pitchFamily="34" charset="-120"/>
              </a:rPr>
              <a:t>CONCLUSION</a:t>
            </a:r>
            <a:endParaRPr lang="en-US" sz="1250" dirty="0"/>
          </a:p>
        </p:txBody>
      </p:sp>
      <p:sp>
        <p:nvSpPr>
          <p:cNvPr id="6" name="Text 4"/>
          <p:cNvSpPr/>
          <p:nvPr/>
        </p:nvSpPr>
        <p:spPr>
          <a:xfrm>
            <a:off x="457200" y="621792"/>
            <a:ext cx="9601200" cy="566928"/>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LPIE Wins</a:t>
            </a:r>
            <a:endParaRPr lang="en-US" sz="3000" dirty="0"/>
          </a:p>
        </p:txBody>
      </p:sp>
      <p:sp>
        <p:nvSpPr>
          <p:cNvPr id="7" name="Shape 5"/>
          <p:cNvSpPr/>
          <p:nvPr/>
        </p:nvSpPr>
        <p:spPr>
          <a:xfrm>
            <a:off x="457200" y="1417320"/>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8" name="Shape 6"/>
          <p:cNvSpPr/>
          <p:nvPr/>
        </p:nvSpPr>
        <p:spPr>
          <a:xfrm>
            <a:off x="640080" y="1581912"/>
            <a:ext cx="457200" cy="457200"/>
          </a:xfrm>
          <a:prstGeom prst="ellipse">
            <a:avLst/>
          </a:prstGeom>
          <a:solidFill>
            <a:srgbClr val="17233A"/>
          </a:solidFill>
          <a:ln w="15875">
            <a:solidFill>
              <a:srgbClr val="00E5C7"/>
            </a:solidFill>
            <a:prstDash val="solid"/>
          </a:ln>
        </p:spPr>
      </p:sp>
      <p:pic>
        <p:nvPicPr>
          <p:cNvPr id="9" name="Image 0" descr="/home/claude/lpie/assets/search_teal.png">    </p:cNvPr>
          <p:cNvPicPr>
            <a:picLocks noChangeAspect="1"/>
          </p:cNvPicPr>
          <p:nvPr/>
        </p:nvPicPr>
        <p:blipFill>
          <a:blip r:embed="rId1"/>
          <a:stretch>
            <a:fillRect/>
          </a:stretch>
        </p:blipFill>
        <p:spPr>
          <a:xfrm>
            <a:off x="742950" y="1684782"/>
            <a:ext cx="251460" cy="251460"/>
          </a:xfrm>
          <a:prstGeom prst="rect">
            <a:avLst/>
          </a:prstGeom>
        </p:spPr>
      </p:pic>
      <p:sp>
        <p:nvSpPr>
          <p:cNvPr id="10" name="Text 7"/>
          <p:cNvSpPr/>
          <p:nvPr/>
        </p:nvSpPr>
        <p:spPr>
          <a:xfrm>
            <a:off x="640080" y="2130552"/>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97.66</a:t>
            </a:r>
            <a:endParaRPr lang="en-US" sz="2000" dirty="0"/>
          </a:p>
        </p:txBody>
      </p:sp>
      <p:sp>
        <p:nvSpPr>
          <p:cNvPr id="11" name="Text 8"/>
          <p:cNvSpPr/>
          <p:nvPr/>
        </p:nvSpPr>
        <p:spPr>
          <a:xfrm>
            <a:off x="640080" y="2468880"/>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DQI Score — Enterprise-Grade Data Quality</a:t>
            </a:r>
            <a:endParaRPr lang="en-US" sz="850" dirty="0"/>
          </a:p>
        </p:txBody>
      </p:sp>
      <p:sp>
        <p:nvSpPr>
          <p:cNvPr id="12" name="Shape 9"/>
          <p:cNvSpPr/>
          <p:nvPr/>
        </p:nvSpPr>
        <p:spPr>
          <a:xfrm>
            <a:off x="3319272" y="1417320"/>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3" name="Shape 10"/>
          <p:cNvSpPr/>
          <p:nvPr/>
        </p:nvSpPr>
        <p:spPr>
          <a:xfrm>
            <a:off x="3502152" y="1581912"/>
            <a:ext cx="457200" cy="457200"/>
          </a:xfrm>
          <a:prstGeom prst="ellipse">
            <a:avLst/>
          </a:prstGeom>
          <a:solidFill>
            <a:srgbClr val="17233A"/>
          </a:solidFill>
          <a:ln w="15875">
            <a:solidFill>
              <a:srgbClr val="00E5C7"/>
            </a:solidFill>
            <a:prstDash val="solid"/>
          </a:ln>
        </p:spPr>
      </p:sp>
      <p:pic>
        <p:nvPicPr>
          <p:cNvPr id="14" name="Image 1" descr="/home/claude/lpie/assets/target_teal.png">    </p:cNvPr>
          <p:cNvPicPr>
            <a:picLocks noChangeAspect="1"/>
          </p:cNvPicPr>
          <p:nvPr/>
        </p:nvPicPr>
        <p:blipFill>
          <a:blip r:embed="rId2"/>
          <a:stretch>
            <a:fillRect/>
          </a:stretch>
        </p:blipFill>
        <p:spPr>
          <a:xfrm>
            <a:off x="3605022" y="1684782"/>
            <a:ext cx="251460" cy="251460"/>
          </a:xfrm>
          <a:prstGeom prst="rect">
            <a:avLst/>
          </a:prstGeom>
        </p:spPr>
      </p:pic>
      <p:sp>
        <p:nvSpPr>
          <p:cNvPr id="15" name="Text 11"/>
          <p:cNvSpPr/>
          <p:nvPr/>
        </p:nvSpPr>
        <p:spPr>
          <a:xfrm>
            <a:off x="3502152" y="2130552"/>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0.8168</a:t>
            </a:r>
            <a:endParaRPr lang="en-US" sz="2000" dirty="0"/>
          </a:p>
        </p:txBody>
      </p:sp>
      <p:sp>
        <p:nvSpPr>
          <p:cNvPr id="16" name="Text 12"/>
          <p:cNvSpPr/>
          <p:nvPr/>
        </p:nvSpPr>
        <p:spPr>
          <a:xfrm>
            <a:off x="3502152" y="2468880"/>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ROC-AUC — Best-in-Class Default Prediction</a:t>
            </a:r>
            <a:endParaRPr lang="en-US" sz="850" dirty="0"/>
          </a:p>
        </p:txBody>
      </p:sp>
      <p:sp>
        <p:nvSpPr>
          <p:cNvPr id="17" name="Shape 13"/>
          <p:cNvSpPr/>
          <p:nvPr/>
        </p:nvSpPr>
        <p:spPr>
          <a:xfrm>
            <a:off x="6181344" y="1417320"/>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18" name="Shape 14"/>
          <p:cNvSpPr/>
          <p:nvPr/>
        </p:nvSpPr>
        <p:spPr>
          <a:xfrm>
            <a:off x="6364224" y="1581912"/>
            <a:ext cx="457200" cy="457200"/>
          </a:xfrm>
          <a:prstGeom prst="ellipse">
            <a:avLst/>
          </a:prstGeom>
          <a:solidFill>
            <a:srgbClr val="17233A"/>
          </a:solidFill>
          <a:ln w="15875">
            <a:solidFill>
              <a:srgbClr val="00E5C7"/>
            </a:solidFill>
            <a:prstDash val="solid"/>
          </a:ln>
        </p:spPr>
      </p:sp>
      <p:pic>
        <p:nvPicPr>
          <p:cNvPr id="19" name="Image 2" descr="/home/claude/lpie/assets/clock_teal.png">    </p:cNvPr>
          <p:cNvPicPr>
            <a:picLocks noChangeAspect="1"/>
          </p:cNvPicPr>
          <p:nvPr/>
        </p:nvPicPr>
        <p:blipFill>
          <a:blip r:embed="rId3"/>
          <a:stretch>
            <a:fillRect/>
          </a:stretch>
        </p:blipFill>
        <p:spPr>
          <a:xfrm>
            <a:off x="6467094" y="1684782"/>
            <a:ext cx="251460" cy="251460"/>
          </a:xfrm>
          <a:prstGeom prst="rect">
            <a:avLst/>
          </a:prstGeom>
        </p:spPr>
      </p:pic>
      <p:sp>
        <p:nvSpPr>
          <p:cNvPr id="20" name="Text 15"/>
          <p:cNvSpPr/>
          <p:nvPr/>
        </p:nvSpPr>
        <p:spPr>
          <a:xfrm>
            <a:off x="6364224" y="2130552"/>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p&lt;10⁻¹³</a:t>
            </a:r>
            <a:endParaRPr lang="en-US" sz="2000" dirty="0"/>
          </a:p>
        </p:txBody>
      </p:sp>
      <p:sp>
        <p:nvSpPr>
          <p:cNvPr id="21" name="Text 16"/>
          <p:cNvSpPr/>
          <p:nvPr/>
        </p:nvSpPr>
        <p:spPr>
          <a:xfrm>
            <a:off x="6364224" y="2468880"/>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Competing Risks — Statistically Rigorous Survival Modeling</a:t>
            </a:r>
            <a:endParaRPr lang="en-US" sz="850" dirty="0"/>
          </a:p>
        </p:txBody>
      </p:sp>
      <p:sp>
        <p:nvSpPr>
          <p:cNvPr id="22" name="Shape 17"/>
          <p:cNvSpPr/>
          <p:nvPr/>
        </p:nvSpPr>
        <p:spPr>
          <a:xfrm>
            <a:off x="9043416" y="1417320"/>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3" name="Shape 18"/>
          <p:cNvSpPr/>
          <p:nvPr/>
        </p:nvSpPr>
        <p:spPr>
          <a:xfrm>
            <a:off x="9226296" y="1581912"/>
            <a:ext cx="457200" cy="457200"/>
          </a:xfrm>
          <a:prstGeom prst="ellipse">
            <a:avLst/>
          </a:prstGeom>
          <a:solidFill>
            <a:srgbClr val="17233A"/>
          </a:solidFill>
          <a:ln w="15875">
            <a:solidFill>
              <a:srgbClr val="00E5C7"/>
            </a:solidFill>
            <a:prstDash val="solid"/>
          </a:ln>
        </p:spPr>
      </p:sp>
      <p:pic>
        <p:nvPicPr>
          <p:cNvPr id="24" name="Image 3" descr="/home/claude/lpie/assets/alert_teal.png">    </p:cNvPr>
          <p:cNvPicPr>
            <a:picLocks noChangeAspect="1"/>
          </p:cNvPicPr>
          <p:nvPr/>
        </p:nvPicPr>
        <p:blipFill>
          <a:blip r:embed="rId4"/>
          <a:stretch>
            <a:fillRect/>
          </a:stretch>
        </p:blipFill>
        <p:spPr>
          <a:xfrm>
            <a:off x="9329166" y="1684782"/>
            <a:ext cx="251460" cy="251460"/>
          </a:xfrm>
          <a:prstGeom prst="rect">
            <a:avLst/>
          </a:prstGeom>
        </p:spPr>
      </p:pic>
      <p:sp>
        <p:nvSpPr>
          <p:cNvPr id="25" name="Text 19"/>
          <p:cNvSpPr/>
          <p:nvPr/>
        </p:nvSpPr>
        <p:spPr>
          <a:xfrm>
            <a:off x="9226296" y="2130552"/>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25</a:t>
            </a:r>
            <a:endParaRPr lang="en-US" sz="2000" dirty="0"/>
          </a:p>
        </p:txBody>
      </p:sp>
      <p:sp>
        <p:nvSpPr>
          <p:cNvPr id="26" name="Text 20"/>
          <p:cNvSpPr/>
          <p:nvPr/>
        </p:nvSpPr>
        <p:spPr>
          <a:xfrm>
            <a:off x="9226296" y="2468880"/>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Anomaly Case Studies — Automated Exception Triage</a:t>
            </a:r>
            <a:endParaRPr lang="en-US" sz="850" dirty="0"/>
          </a:p>
        </p:txBody>
      </p:sp>
      <p:sp>
        <p:nvSpPr>
          <p:cNvPr id="27" name="Shape 21"/>
          <p:cNvSpPr/>
          <p:nvPr/>
        </p:nvSpPr>
        <p:spPr>
          <a:xfrm>
            <a:off x="457200" y="2999232"/>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28" name="Shape 22"/>
          <p:cNvSpPr/>
          <p:nvPr/>
        </p:nvSpPr>
        <p:spPr>
          <a:xfrm>
            <a:off x="640080" y="3163824"/>
            <a:ext cx="457200" cy="457200"/>
          </a:xfrm>
          <a:prstGeom prst="ellipse">
            <a:avLst/>
          </a:prstGeom>
          <a:solidFill>
            <a:srgbClr val="17233A"/>
          </a:solidFill>
          <a:ln w="15875">
            <a:solidFill>
              <a:srgbClr val="00E5C7"/>
            </a:solidFill>
            <a:prstDash val="solid"/>
          </a:ln>
        </p:spPr>
      </p:sp>
      <p:pic>
        <p:nvPicPr>
          <p:cNvPr id="29" name="Image 4" descr="/home/claude/lpie/assets/eye_teal.png">    </p:cNvPr>
          <p:cNvPicPr>
            <a:picLocks noChangeAspect="1"/>
          </p:cNvPicPr>
          <p:nvPr/>
        </p:nvPicPr>
        <p:blipFill>
          <a:blip r:embed="rId5"/>
          <a:stretch>
            <a:fillRect/>
          </a:stretch>
        </p:blipFill>
        <p:spPr>
          <a:xfrm>
            <a:off x="742950" y="3266694"/>
            <a:ext cx="251460" cy="251460"/>
          </a:xfrm>
          <a:prstGeom prst="rect">
            <a:avLst/>
          </a:prstGeom>
        </p:spPr>
      </p:pic>
      <p:sp>
        <p:nvSpPr>
          <p:cNvPr id="30" name="Text 23"/>
          <p:cNvSpPr/>
          <p:nvPr/>
        </p:nvSpPr>
        <p:spPr>
          <a:xfrm>
            <a:off x="640080" y="3712464"/>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100%</a:t>
            </a:r>
            <a:endParaRPr lang="en-US" sz="2000" dirty="0"/>
          </a:p>
        </p:txBody>
      </p:sp>
      <p:sp>
        <p:nvSpPr>
          <p:cNvPr id="31" name="Text 24"/>
          <p:cNvSpPr/>
          <p:nvPr/>
        </p:nvSpPr>
        <p:spPr>
          <a:xfrm>
            <a:off x="640080" y="4050792"/>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Explainable — TreeSHAP Attribution on Every Prediction</a:t>
            </a:r>
            <a:endParaRPr lang="en-US" sz="850" dirty="0"/>
          </a:p>
        </p:txBody>
      </p:sp>
      <p:sp>
        <p:nvSpPr>
          <p:cNvPr id="32" name="Shape 25"/>
          <p:cNvSpPr/>
          <p:nvPr/>
        </p:nvSpPr>
        <p:spPr>
          <a:xfrm>
            <a:off x="3319272" y="2999232"/>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3" name="Shape 26"/>
          <p:cNvSpPr/>
          <p:nvPr/>
        </p:nvSpPr>
        <p:spPr>
          <a:xfrm>
            <a:off x="3502152" y="3163824"/>
            <a:ext cx="457200" cy="457200"/>
          </a:xfrm>
          <a:prstGeom prst="ellipse">
            <a:avLst/>
          </a:prstGeom>
          <a:solidFill>
            <a:srgbClr val="17233A"/>
          </a:solidFill>
          <a:ln w="15875">
            <a:solidFill>
              <a:srgbClr val="00E5C7"/>
            </a:solidFill>
            <a:prstDash val="solid"/>
          </a:ln>
        </p:spPr>
      </p:sp>
      <p:pic>
        <p:nvPicPr>
          <p:cNvPr id="34" name="Image 5" descr="/home/claude/lpie/assets/message_teal.png">    </p:cNvPr>
          <p:cNvPicPr>
            <a:picLocks noChangeAspect="1"/>
          </p:cNvPicPr>
          <p:nvPr/>
        </p:nvPicPr>
        <p:blipFill>
          <a:blip r:embed="rId6"/>
          <a:stretch>
            <a:fillRect/>
          </a:stretch>
        </p:blipFill>
        <p:spPr>
          <a:xfrm>
            <a:off x="3605022" y="3266694"/>
            <a:ext cx="251460" cy="251460"/>
          </a:xfrm>
          <a:prstGeom prst="rect">
            <a:avLst/>
          </a:prstGeom>
        </p:spPr>
      </p:pic>
      <p:sp>
        <p:nvSpPr>
          <p:cNvPr id="35" name="Text 27"/>
          <p:cNvSpPr/>
          <p:nvPr/>
        </p:nvSpPr>
        <p:spPr>
          <a:xfrm>
            <a:off x="3502152" y="3712464"/>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0</a:t>
            </a:r>
            <a:endParaRPr lang="en-US" sz="2000" dirty="0"/>
          </a:p>
        </p:txBody>
      </p:sp>
      <p:sp>
        <p:nvSpPr>
          <p:cNvPr id="36" name="Text 28"/>
          <p:cNvSpPr/>
          <p:nvPr/>
        </p:nvSpPr>
        <p:spPr>
          <a:xfrm>
            <a:off x="3502152" y="4050792"/>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Hallucination Copilot — Fully Auditable Reviewer Notes</a:t>
            </a:r>
            <a:endParaRPr lang="en-US" sz="850" dirty="0"/>
          </a:p>
        </p:txBody>
      </p:sp>
      <p:sp>
        <p:nvSpPr>
          <p:cNvPr id="37" name="Shape 29"/>
          <p:cNvSpPr/>
          <p:nvPr/>
        </p:nvSpPr>
        <p:spPr>
          <a:xfrm>
            <a:off x="6181344" y="2999232"/>
            <a:ext cx="2697480" cy="1417320"/>
          </a:xfrm>
          <a:prstGeom prst="roundRect">
            <a:avLst>
              <a:gd name="adj" fmla="val 5806"/>
            </a:avLst>
          </a:prstGeom>
          <a:solidFill>
            <a:srgbClr val="121A29"/>
          </a:solidFill>
          <a:ln w="12700">
            <a:solidFill>
              <a:srgbClr val="223049"/>
            </a:solidFill>
            <a:prstDash val="solid"/>
          </a:ln>
          <a:effectLst>
            <a:outerShdw sx="100000" sy="100000" kx="0" ky="0" algn="bl" rotWithShape="0" blurRad="101600" dist="38100" dir="5400000">
              <a:srgbClr val="000000">
                <a:alpha val="35000"/>
              </a:srgbClr>
            </a:outerShdw>
          </a:effectLst>
        </p:spPr>
      </p:sp>
      <p:sp>
        <p:nvSpPr>
          <p:cNvPr id="38" name="Shape 30"/>
          <p:cNvSpPr/>
          <p:nvPr/>
        </p:nvSpPr>
        <p:spPr>
          <a:xfrm>
            <a:off x="6364224" y="3163824"/>
            <a:ext cx="457200" cy="457200"/>
          </a:xfrm>
          <a:prstGeom prst="ellipse">
            <a:avLst/>
          </a:prstGeom>
          <a:solidFill>
            <a:srgbClr val="17233A"/>
          </a:solidFill>
          <a:ln w="15875">
            <a:solidFill>
              <a:srgbClr val="00E5C7"/>
            </a:solidFill>
            <a:prstDash val="solid"/>
          </a:ln>
        </p:spPr>
      </p:sp>
      <p:pic>
        <p:nvPicPr>
          <p:cNvPr id="39" name="Image 6" descr="/home/claude/lpie/assets/zap_teal.png">    </p:cNvPr>
          <p:cNvPicPr>
            <a:picLocks noChangeAspect="1"/>
          </p:cNvPicPr>
          <p:nvPr/>
        </p:nvPicPr>
        <p:blipFill>
          <a:blip r:embed="rId7"/>
          <a:stretch>
            <a:fillRect/>
          </a:stretch>
        </p:blipFill>
        <p:spPr>
          <a:xfrm>
            <a:off x="6467094" y="3266694"/>
            <a:ext cx="251460" cy="251460"/>
          </a:xfrm>
          <a:prstGeom prst="rect">
            <a:avLst/>
          </a:prstGeom>
        </p:spPr>
      </p:pic>
      <p:sp>
        <p:nvSpPr>
          <p:cNvPr id="40" name="Text 31"/>
          <p:cNvSpPr/>
          <p:nvPr/>
        </p:nvSpPr>
        <p:spPr>
          <a:xfrm>
            <a:off x="6364224" y="3712464"/>
            <a:ext cx="2331720" cy="365760"/>
          </a:xfrm>
          <a:prstGeom prst="rect">
            <a:avLst/>
          </a:prstGeom>
          <a:noFill/>
          <a:ln/>
        </p:spPr>
        <p:txBody>
          <a:bodyPr wrap="square" rtlCol="0" anchor="ctr"/>
          <a:lstStyle/>
          <a:p>
            <a:pPr indent="0" marL="0">
              <a:buNone/>
            </a:pPr>
            <a:r>
              <a:rPr lang="en-US" sz="2000" b="1" dirty="0">
                <a:solidFill>
                  <a:srgbClr val="00E5C7"/>
                </a:solidFill>
                <a:latin typeface="Calibri" pitchFamily="34" charset="0"/>
                <a:ea typeface="Calibri" pitchFamily="34" charset="-122"/>
                <a:cs typeface="Calibri" pitchFamily="34" charset="-120"/>
              </a:rPr>
              <a:t>40s</a:t>
            </a:r>
            <a:endParaRPr lang="en-US" sz="2000" dirty="0"/>
          </a:p>
        </p:txBody>
      </p:sp>
      <p:sp>
        <p:nvSpPr>
          <p:cNvPr id="41" name="Text 32"/>
          <p:cNvSpPr/>
          <p:nvPr/>
        </p:nvSpPr>
        <p:spPr>
          <a:xfrm>
            <a:off x="6364224" y="4050792"/>
            <a:ext cx="2331720" cy="365760"/>
          </a:xfrm>
          <a:prstGeom prst="rect">
            <a:avLst/>
          </a:prstGeom>
          <a:noFill/>
          <a:ln/>
        </p:spPr>
        <p:txBody>
          <a:bodyPr wrap="square" rtlCol="0" anchor="ctr"/>
          <a:lstStyle/>
          <a:p>
            <a:pPr indent="0" marL="0">
              <a:lnSpc>
                <a:spcPct val="100000"/>
              </a:lnSpc>
              <a:buNone/>
            </a:pPr>
            <a:r>
              <a:rPr lang="en-US" sz="850" dirty="0">
                <a:solidFill>
                  <a:srgbClr val="9FB2C8"/>
                </a:solidFill>
                <a:latin typeface="Calibri" pitchFamily="34" charset="0"/>
                <a:ea typeface="Calibri" pitchFamily="34" charset="-122"/>
                <a:cs typeface="Calibri" pitchFamily="34" charset="-120"/>
              </a:rPr>
              <a:t>One-Command Reproducible Pipeline</a:t>
            </a:r>
            <a:endParaRPr lang="en-US" sz="850" dirty="0"/>
          </a:p>
        </p:txBody>
      </p:sp>
      <p:sp>
        <p:nvSpPr>
          <p:cNvPr id="42" name="Text 33"/>
          <p:cNvSpPr/>
          <p:nvPr/>
        </p:nvSpPr>
        <p:spPr>
          <a:xfrm>
            <a:off x="640080" y="4736592"/>
            <a:ext cx="10881360" cy="640080"/>
          </a:xfrm>
          <a:prstGeom prst="rect">
            <a:avLst/>
          </a:prstGeom>
          <a:noFill/>
          <a:ln/>
        </p:spPr>
        <p:txBody>
          <a:bodyPr wrap="square"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“LPIE transforms raw mortgage tapes into actionable, explainable, and auditable credit intelligence — in 40 seconds.”</a:t>
            </a:r>
            <a:endParaRPr lang="en-US" sz="1600" dirty="0"/>
          </a:p>
        </p:txBody>
      </p:sp>
      <p:sp>
        <p:nvSpPr>
          <p:cNvPr id="43" name="Shape 34"/>
          <p:cNvSpPr/>
          <p:nvPr/>
        </p:nvSpPr>
        <p:spPr>
          <a:xfrm>
            <a:off x="4480560" y="5513832"/>
            <a:ext cx="3200400" cy="594360"/>
          </a:xfrm>
          <a:prstGeom prst="roundRect">
            <a:avLst>
              <a:gd name="adj" fmla="val 13846"/>
            </a:avLst>
          </a:prstGeom>
          <a:solidFill>
            <a:srgbClr val="17233A"/>
          </a:solidFill>
          <a:ln w="12700">
            <a:solidFill>
              <a:srgbClr val="0EA5A0"/>
            </a:solidFill>
            <a:prstDash val="solid"/>
          </a:ln>
        </p:spPr>
      </p:sp>
      <p:sp>
        <p:nvSpPr>
          <p:cNvPr id="44" name="Text 35"/>
          <p:cNvSpPr/>
          <p:nvPr/>
        </p:nvSpPr>
        <p:spPr>
          <a:xfrm>
            <a:off x="4480560" y="5513832"/>
            <a:ext cx="3200400" cy="594360"/>
          </a:xfrm>
          <a:prstGeom prst="rect">
            <a:avLst/>
          </a:prstGeom>
          <a:noFill/>
          <a:ln/>
        </p:spPr>
        <p:txBody>
          <a:bodyPr wrap="square" rtlCol="0" anchor="ctr"/>
          <a:lstStyle/>
          <a:p>
            <a:pPr algn="ctr" indent="0" marL="0">
              <a:buNone/>
            </a:pPr>
            <a:r>
              <a:rPr lang="en-US" sz="1500" b="1" dirty="0">
                <a:solidFill>
                  <a:srgbClr val="00E5C7"/>
                </a:solidFill>
                <a:latin typeface="Calibri" pitchFamily="34" charset="0"/>
                <a:ea typeface="Calibri" pitchFamily="34" charset="-122"/>
                <a:cs typeface="Calibri" pitchFamily="34" charset="-120"/>
              </a:rPr>
              <a:t>Thank You! Questions?</a:t>
            </a:r>
            <a:endParaRPr lang="en-US" sz="1500" dirty="0"/>
          </a:p>
        </p:txBody>
      </p:sp>
      <p:sp>
        <p:nvSpPr>
          <p:cNvPr id="45" name="Text 36"/>
          <p:cNvSpPr/>
          <p:nvPr/>
        </p:nvSpPr>
        <p:spPr>
          <a:xfrm>
            <a:off x="457200" y="6519672"/>
            <a:ext cx="5486400" cy="256032"/>
          </a:xfrm>
          <a:prstGeom prst="rect">
            <a:avLst/>
          </a:prstGeom>
          <a:noFill/>
          <a:ln/>
        </p:spPr>
        <p:txBody>
          <a:bodyPr wrap="square" rtlCol="0" anchor="ctr"/>
          <a:lstStyle/>
          <a:p>
            <a:pPr algn="l" indent="0" marL="0">
              <a:buNone/>
            </a:pPr>
            <a:r>
              <a:rPr lang="en-US" sz="850" spc="150" kern="0" dirty="0">
                <a:solidFill>
                  <a:srgbClr val="6B7C93"/>
                </a:solidFill>
                <a:latin typeface="Calibri" pitchFamily="34" charset="0"/>
                <a:ea typeface="Calibri" pitchFamily="34" charset="-122"/>
                <a:cs typeface="Calibri" pitchFamily="34" charset="-120"/>
              </a:rPr>
              <a:t>LOAN PERFORMANCE INTELLIGENCE ENGINE</a:t>
            </a:r>
            <a:endParaRPr lang="en-US" sz="850" dirty="0"/>
          </a:p>
        </p:txBody>
      </p:sp>
      <p:sp>
        <p:nvSpPr>
          <p:cNvPr id="46" name="Text 37"/>
          <p:cNvSpPr/>
          <p:nvPr/>
        </p:nvSpPr>
        <p:spPr>
          <a:xfrm>
            <a:off x="10972800" y="6519672"/>
            <a:ext cx="731520" cy="256032"/>
          </a:xfrm>
          <a:prstGeom prst="rect">
            <a:avLst/>
          </a:prstGeom>
          <a:noFill/>
          <a:ln/>
        </p:spPr>
        <p:txBody>
          <a:bodyPr wrap="square" rtlCol="0" anchor="ctr"/>
          <a:lstStyle/>
          <a:p>
            <a:pPr algn="r" indent="0" marL="0">
              <a:buNone/>
            </a:pPr>
            <a:r>
              <a:rPr lang="en-US" sz="850" dirty="0">
                <a:solidFill>
                  <a:srgbClr val="6B7C93"/>
                </a:solidFill>
                <a:latin typeface="Calibri" pitchFamily="34" charset="0"/>
                <a:ea typeface="Calibri" pitchFamily="34" charset="-122"/>
                <a:cs typeface="Calibri" pitchFamily="34" charset="-120"/>
              </a:rPr>
              <a:t>12 / 12</a:t>
            </a:r>
            <a:endParaRPr lang="en-US" sz="85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2026-09-15T08:05:43Z</dcterms:created>
  <dcterms:modified xsi:type="dcterms:W3CDTF">2026-09-15T08:05:43Z</dcterms:modified>
</cp:coreProperties>
</file>
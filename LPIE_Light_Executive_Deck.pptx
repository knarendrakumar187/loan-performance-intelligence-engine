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188720"/>
            <a:ext cx="4114800" cy="384048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INTAIN FINTECH AI CHALLENGE 2026 · FINAL ROUND · SEQUENCE #9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9784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Loan Performance Intelligence Engine</a:t>
            </a:r>
          </a:p>
          <a:p>
            <a:pPr>
              <a:spcBef>
                <a:spcPts val="600"/>
              </a:spcBef>
              <a:defRPr sz="1700">
                <a:solidFill>
                  <a:srgbClr val="2563EB"/>
                </a:solidFill>
              </a:defRPr>
            </a:pPr>
            <a:r>
              <a:t>AI-Powered Mortgage Surveillance &amp; Competing-Risks Intelligence Platform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Transforming 34,285 multi-vintage loan records into calibrated default hazards, competing survival curves, and audit-ready credit notes in 40.3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4297680"/>
            <a:ext cx="2340864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4389120"/>
            <a:ext cx="208483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PORTFOLIO VOLUME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34,285 Records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3,000 Loans / 2022-2024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39312" y="4297680"/>
            <a:ext cx="2340864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4389120"/>
            <a:ext cx="208483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DATA INTEGRITY</a:t>
            </a:r>
          </a:p>
          <a:p>
            <a:pPr>
              <a:defRPr sz="1800" b="1">
                <a:solidFill>
                  <a:srgbClr val="059669"/>
                </a:solidFill>
              </a:defRPr>
            </a:pPr>
            <a:r>
              <a:t>97.66 / 100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Certified Grade A (PSI &lt; 0.04)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9904" y="4297680"/>
            <a:ext cx="2340864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27064" y="4389120"/>
            <a:ext cx="208483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DEFAULT ROC-AUC</a:t>
            </a:r>
          </a:p>
          <a:p>
            <a:pPr>
              <a:defRPr sz="1800" b="1">
                <a:solidFill>
                  <a:srgbClr val="059669"/>
                </a:solidFill>
              </a:defRPr>
            </a:pPr>
            <a:r>
              <a:t>0.8168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+12.6% Lift vs Baseline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0496" y="4297680"/>
            <a:ext cx="2340864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77656" y="4389120"/>
            <a:ext cx="208483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PIPELINE VELOCITY</a:t>
            </a:r>
          </a:p>
          <a:p>
            <a:pPr>
              <a:defRPr sz="1800" b="1">
                <a:solidFill>
                  <a:srgbClr val="2563EB"/>
                </a:solidFill>
              </a:defRPr>
            </a:pPr>
            <a:r>
              <a:t>40.3s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One-Command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760720"/>
            <a:ext cx="9784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34155"/>
                </a:solidFill>
              </a:defRPr>
            </a:pPr>
            <a:r>
              <a:t>Presented by: Narendra's Team (Sequence #9) | Slot: September 17, 2026 (04:00 PM – 07:00 PM)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950">
                <a:solidFill>
                  <a:srgbClr val="2563EB"/>
                </a:solidFill>
              </a:defRPr>
            </a:pPr>
            <a:r>
              <a:t>■ INDUSTRY CHALLENGE &amp;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The Industry Problem: Why Legacy Mortgage Surveillance Fails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Managing secondary mortgage portfolios with manual spreadsheets and uncalibrated models exposes balance sheets to severe tail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DC2626"/>
                </a:solidFill>
              </a:defRPr>
            </a:pPr>
            <a:r>
              <a:t>🔴 4 CRITICAL SECONDARY MARKET BLINDSPOTS</a:t>
            </a:r>
          </a:p>
          <a:p>
            <a:pPr>
              <a:spcBef>
                <a:spcPts val="800"/>
              </a:spcBef>
              <a:defRPr b="1" sz="1000">
                <a:solidFill>
                  <a:srgbClr val="0F172A"/>
                </a:solidFill>
              </a:defRPr>
            </a:pPr>
            <a:r>
              <a:t>■ Silent Delinquency Blindspots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Legacy manual reviews are too slow, missing 30-40% of early 30-60 DPD delinquencies before transition into permanent default.</a:t>
            </a:r>
          </a:p>
          <a:p>
            <a:pPr>
              <a:spcBef>
                <a:spcPts val="800"/>
              </a:spcBef>
              <a:defRPr b="1" sz="1000">
                <a:solidFill>
                  <a:srgbClr val="0F172A"/>
                </a:solidFill>
              </a:defRPr>
            </a:pPr>
            <a:r>
              <a:t>■ Competing-Risk Censoring Bias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Standard credit scoring treats voluntary prepayment as non-default, creating severe statistical positive survival bias.</a:t>
            </a:r>
          </a:p>
          <a:p>
            <a:pPr>
              <a:spcBef>
                <a:spcPts val="800"/>
              </a:spcBef>
              <a:defRPr b="1" sz="1000">
                <a:solidFill>
                  <a:srgbClr val="0F172A"/>
                </a:solidFill>
              </a:defRPr>
            </a:pPr>
            <a:r>
              <a:t>■ Unquarantined Ledger Errors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Accounting anomalies (negative balances, balances &gt; original, impossible DPD jumps) slip undetected into securitization tapes.</a:t>
            </a:r>
          </a:p>
          <a:p>
            <a:pPr>
              <a:spcBef>
                <a:spcPts val="800"/>
              </a:spcBef>
              <a:defRPr b="1" sz="1000">
                <a:solidFill>
                  <a:srgbClr val="0F172A"/>
                </a:solidFill>
              </a:defRPr>
            </a:pPr>
            <a:r>
              <a:t>■ Ungrounded LLM Hallucinations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Generic AI chatbots invent credit facts with zero regulatory audit trail or numerical mathematical grounding.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59669"/>
                </a:solidFill>
              </a:defRPr>
            </a:pPr>
            <a:r>
              <a:t>🟢 LPIE INSTITUTIONAL PARADIGM SHIFT</a:t>
            </a:r>
          </a:p>
          <a:p>
            <a:pPr>
              <a:spcBef>
                <a:spcPts val="800"/>
              </a:spcBef>
              <a:defRPr b="1" sz="1000">
                <a:solidFill>
                  <a:srgbClr val="0F172A"/>
                </a:solidFill>
              </a:defRPr>
            </a:pPr>
            <a:r>
              <a:t>■ Automated Continuous Surveillance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Vectorized panel profiling across 34,285 records with automated Population Stability Index drift tracking (PSI &lt; 0.04).</a:t>
            </a:r>
          </a:p>
          <a:p>
            <a:pPr>
              <a:spcBef>
                <a:spcPts val="800"/>
              </a:spcBef>
              <a:defRPr b="1" sz="1000">
                <a:solidFill>
                  <a:srgbClr val="0F172A"/>
                </a:solidFill>
              </a:defRPr>
            </a:pPr>
            <a:r>
              <a:t>■ Competing-Risks CIF Engine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Simultaneous modeling of Default (12.6%) vs Prepayment (55.7%) via Cumulative Incidence Functions (p = 2.83e-13).</a:t>
            </a:r>
          </a:p>
          <a:p>
            <a:pPr>
              <a:spcBef>
                <a:spcPts val="800"/>
              </a:spcBef>
              <a:defRPr b="1" sz="1000">
                <a:solidFill>
                  <a:srgbClr val="0F172A"/>
                </a:solidFill>
              </a:defRPr>
            </a:pPr>
            <a:r>
              <a:t>■ Hybrid Anomaly Defense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10 deterministic accounting rules synthesized with spatial Isolation Forest (25 diagnosed case studies with servicer prescriptions).</a:t>
            </a:r>
          </a:p>
          <a:p>
            <a:pPr>
              <a:spcBef>
                <a:spcPts val="800"/>
              </a:spcBef>
              <a:defRPr b="1" sz="1000">
                <a:solidFill>
                  <a:srgbClr val="0F172A"/>
                </a:solidFill>
              </a:defRPr>
            </a:pPr>
            <a:r>
              <a:t>■ 100% TreeSHAP Grounded Copilot</a:t>
            </a:r>
          </a:p>
          <a:p>
            <a:pPr>
              <a:defRPr sz="900">
                <a:solidFill>
                  <a:srgbClr val="334155"/>
                </a:solidFill>
              </a:defRPr>
            </a:pPr>
            <a:r>
              <a:t>Deterministic reviewer notes where 100% of risk assertions cite exact local TreeSHAP attribution numbers in prompt_log.jsonl.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950">
                <a:solidFill>
                  <a:srgbClr val="2563EB"/>
                </a:solidFill>
              </a:defRPr>
            </a:pPr>
            <a:r>
              <a:t>■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End-to-End Modular 9-Phase Intelligence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One-command reproducible: sequential execution via `python run_pipeline.py` in 40.3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7899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20240"/>
            <a:ext cx="93268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563EB"/>
                </a:solidFill>
              </a:defRPr>
            </a:pPr>
            <a:r>
              <a:t>[00]</a:t>
            </a:r>
          </a:p>
          <a:p>
            <a:pPr>
              <a:spcBef>
                <a:spcPts val="400"/>
              </a:spcBef>
              <a:defRPr b="1" sz="1050">
                <a:solidFill>
                  <a:srgbClr val="0F172A"/>
                </a:solidFill>
              </a:defRPr>
            </a:pPr>
            <a:r>
              <a:t>Raw Tapes</a:t>
            </a:r>
          </a:p>
          <a:p>
            <a:pPr>
              <a:spcBef>
                <a:spcPts val="800"/>
              </a:spcBef>
              <a:defRPr sz="900">
                <a:solidFill>
                  <a:srgbClr val="64748B"/>
                </a:solidFill>
              </a:defRPr>
            </a:pPr>
            <a:r>
              <a:t>34k rows</a:t>
            </a:r>
            <a:br/>
            <a:r>
              <a:t>3k loans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1828800"/>
            <a:ext cx="107899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93392" y="1920240"/>
            <a:ext cx="93268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563EB"/>
                </a:solidFill>
              </a:defRPr>
            </a:pPr>
            <a:r>
              <a:t>[01]</a:t>
            </a:r>
          </a:p>
          <a:p>
            <a:pPr>
              <a:spcBef>
                <a:spcPts val="400"/>
              </a:spcBef>
              <a:defRPr b="1" sz="1050">
                <a:solidFill>
                  <a:srgbClr val="0F172A"/>
                </a:solidFill>
              </a:defRPr>
            </a:pPr>
            <a:r>
              <a:t>DQI Profiler</a:t>
            </a:r>
          </a:p>
          <a:p>
            <a:pPr>
              <a:spcBef>
                <a:spcPts val="800"/>
              </a:spcBef>
              <a:defRPr sz="900">
                <a:solidFill>
                  <a:srgbClr val="64748B"/>
                </a:solidFill>
              </a:defRPr>
            </a:pPr>
            <a:r>
              <a:t>97.66/100</a:t>
            </a:r>
            <a:br/>
            <a:r>
              <a:t>PSI &lt; 0.04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1828800"/>
            <a:ext cx="107899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82112" y="1920240"/>
            <a:ext cx="93268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563EB"/>
                </a:solidFill>
              </a:defRPr>
            </a:pPr>
            <a:r>
              <a:t>[02]</a:t>
            </a:r>
          </a:p>
          <a:p>
            <a:pPr>
              <a:spcBef>
                <a:spcPts val="400"/>
              </a:spcBef>
              <a:defRPr b="1" sz="1050">
                <a:solidFill>
                  <a:srgbClr val="0F172A"/>
                </a:solidFill>
              </a:defRPr>
            </a:pPr>
            <a:r>
              <a:t>Feature Lab</a:t>
            </a:r>
          </a:p>
          <a:p>
            <a:pPr>
              <a:spcBef>
                <a:spcPts val="800"/>
              </a:spcBef>
              <a:defRPr sz="900">
                <a:solidFill>
                  <a:srgbClr val="64748B"/>
                </a:solidFill>
              </a:defRPr>
            </a:pPr>
            <a:r>
              <a:t>12 features</a:t>
            </a:r>
            <a:br/>
            <a:r>
              <a:t>6 dropped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828800"/>
            <a:ext cx="107899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0832" y="1920240"/>
            <a:ext cx="93268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563EB"/>
                </a:solidFill>
              </a:defRPr>
            </a:pPr>
            <a:r>
              <a:t>[03]</a:t>
            </a:r>
          </a:p>
          <a:p>
            <a:pPr>
              <a:spcBef>
                <a:spcPts val="400"/>
              </a:spcBef>
              <a:defRPr b="1" sz="1050">
                <a:solidFill>
                  <a:srgbClr val="0F172A"/>
                </a:solidFill>
              </a:defRPr>
            </a:pPr>
            <a:r>
              <a:t>Out-of-Time</a:t>
            </a:r>
          </a:p>
          <a:p>
            <a:pPr>
              <a:spcBef>
                <a:spcPts val="800"/>
              </a:spcBef>
              <a:defRPr sz="900">
                <a:solidFill>
                  <a:srgbClr val="64748B"/>
                </a:solidFill>
              </a:defRPr>
            </a:pPr>
            <a:r>
              <a:t>Cut: 2023-11</a:t>
            </a:r>
            <a:br/>
            <a:r>
              <a:t>No overlap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1828800"/>
            <a:ext cx="107899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59552" y="1920240"/>
            <a:ext cx="93268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563EB"/>
                </a:solidFill>
              </a:defRPr>
            </a:pPr>
            <a:r>
              <a:t>[04]</a:t>
            </a:r>
          </a:p>
          <a:p>
            <a:pPr>
              <a:spcBef>
                <a:spcPts val="400"/>
              </a:spcBef>
              <a:defRPr b="1" sz="1050">
                <a:solidFill>
                  <a:srgbClr val="0F172A"/>
                </a:solidFill>
              </a:defRPr>
            </a:pPr>
            <a:r>
              <a:t>Calibrated ML</a:t>
            </a:r>
          </a:p>
          <a:p>
            <a:pPr>
              <a:spcBef>
                <a:spcPts val="800"/>
              </a:spcBef>
              <a:defRPr sz="900">
                <a:solidFill>
                  <a:srgbClr val="64748B"/>
                </a:solidFill>
              </a:defRPr>
            </a:pPr>
            <a:r>
              <a:t>0.8168 AUC</a:t>
            </a:r>
            <a:br/>
            <a:r>
              <a:t>0.1063 Brier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1828800"/>
            <a:ext cx="107899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48272" y="1920240"/>
            <a:ext cx="93268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563EB"/>
                </a:solidFill>
              </a:defRPr>
            </a:pPr>
            <a:r>
              <a:t>[05]</a:t>
            </a:r>
          </a:p>
          <a:p>
            <a:pPr>
              <a:spcBef>
                <a:spcPts val="400"/>
              </a:spcBef>
              <a:defRPr b="1" sz="1050">
                <a:solidFill>
                  <a:srgbClr val="0F172A"/>
                </a:solidFill>
              </a:defRPr>
            </a:pPr>
            <a:r>
              <a:t>Survival CIF</a:t>
            </a:r>
          </a:p>
          <a:p>
            <a:pPr>
              <a:spcBef>
                <a:spcPts val="800"/>
              </a:spcBef>
              <a:defRPr sz="900">
                <a:solidFill>
                  <a:srgbClr val="64748B"/>
                </a:solidFill>
              </a:defRPr>
            </a:pPr>
            <a:r>
              <a:t>Cox HR=0.731</a:t>
            </a:r>
            <a:br/>
            <a:r>
              <a:t>p=2.83e-13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828800"/>
            <a:ext cx="107899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36992" y="1920240"/>
            <a:ext cx="93268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563EB"/>
                </a:solidFill>
              </a:defRPr>
            </a:pPr>
            <a:r>
              <a:t>[06]</a:t>
            </a:r>
          </a:p>
          <a:p>
            <a:pPr>
              <a:spcBef>
                <a:spcPts val="400"/>
              </a:spcBef>
              <a:defRPr b="1" sz="1050">
                <a:solidFill>
                  <a:srgbClr val="0F172A"/>
                </a:solidFill>
              </a:defRPr>
            </a:pPr>
            <a:r>
              <a:t>Anomaly ML</a:t>
            </a:r>
          </a:p>
          <a:p>
            <a:pPr>
              <a:spcBef>
                <a:spcPts val="800"/>
              </a:spcBef>
              <a:defRPr sz="900">
                <a:solidFill>
                  <a:srgbClr val="64748B"/>
                </a:solidFill>
              </a:defRPr>
            </a:pPr>
            <a:r>
              <a:t>10 Rules</a:t>
            </a:r>
            <a:br/>
            <a:r>
              <a:t>IsoForest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828800"/>
            <a:ext cx="107899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25712" y="1920240"/>
            <a:ext cx="93268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563EB"/>
                </a:solidFill>
              </a:defRPr>
            </a:pPr>
            <a:r>
              <a:t>[07]</a:t>
            </a:r>
          </a:p>
          <a:p>
            <a:pPr>
              <a:spcBef>
                <a:spcPts val="400"/>
              </a:spcBef>
              <a:defRPr b="1" sz="1050">
                <a:solidFill>
                  <a:srgbClr val="0F172A"/>
                </a:solidFill>
              </a:defRPr>
            </a:pPr>
            <a:r>
              <a:t>TreeSHAP</a:t>
            </a:r>
          </a:p>
          <a:p>
            <a:pPr>
              <a:spcBef>
                <a:spcPts val="800"/>
              </a:spcBef>
              <a:defRPr sz="900">
                <a:solidFill>
                  <a:srgbClr val="64748B"/>
                </a:solidFill>
              </a:defRPr>
            </a:pPr>
            <a:r>
              <a:t>Global Bees</a:t>
            </a:r>
            <a:br/>
            <a:r>
              <a:t>Local Falls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0" y="1828800"/>
            <a:ext cx="1078992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14432" y="1920240"/>
            <a:ext cx="93268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563EB"/>
                </a:solidFill>
              </a:defRPr>
            </a:pPr>
            <a:r>
              <a:t>[08]</a:t>
            </a:r>
          </a:p>
          <a:p>
            <a:pPr>
              <a:spcBef>
                <a:spcPts val="400"/>
              </a:spcBef>
              <a:defRPr b="1" sz="1050">
                <a:solidFill>
                  <a:srgbClr val="0F172A"/>
                </a:solidFill>
              </a:defRPr>
            </a:pPr>
            <a:r>
              <a:t>Copilot</a:t>
            </a:r>
          </a:p>
          <a:p>
            <a:pPr>
              <a:spcBef>
                <a:spcPts val="800"/>
              </a:spcBef>
              <a:defRPr sz="900">
                <a:solidFill>
                  <a:srgbClr val="64748B"/>
                </a:solidFill>
              </a:defRPr>
            </a:pPr>
            <a:r>
              <a:t>Zero Halluc</a:t>
            </a:r>
            <a:br/>
            <a:r>
              <a:t>Audit Log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34924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4406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2563EB"/>
                </a:solidFill>
              </a:defRPr>
            </a:pPr>
            <a:r>
              <a:t>⚡ PRODUCTION TECH STACK &amp; REPRODUCIBILITY GUARANTEE: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</a:defRPr>
            </a:pPr>
            <a:r>
              <a:t>Python 3.13 | XGBoost 3.1 | LightGBM 4.7 | Lifelines 0.30 | TreeSHAP 0.52 | FastAPI Microservice | Streamlit Cloud | Docker-Compose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950">
                <a:solidFill>
                  <a:srgbClr val="2563EB"/>
                </a:solidFill>
              </a:defRPr>
            </a:pPr>
            <a:r>
              <a:t>■ DATA INTELLIGENCE &amp;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Data Quality, Completeness &amp; Population Stability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Rigorous multi-vintage profiling establishing data cleanliness and confirming zero out-of-time demographic drift.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9377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DATA QUALITY INDEX</a:t>
            </a:r>
          </a:p>
          <a:p>
            <a:pPr>
              <a:defRPr sz="2000" b="1">
                <a:solidFill>
                  <a:srgbClr val="059669"/>
                </a:solidFill>
              </a:defRPr>
            </a:pPr>
            <a:r>
              <a:t>97.66 / 100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Certified Grade A — 91.3% of panel records have zero accounting exceptions.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49377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DATA COMPLETENESS</a:t>
            </a:r>
          </a:p>
          <a:p>
            <a:pPr>
              <a:defRPr sz="2000" b="1">
                <a:solidFill>
                  <a:srgbClr val="2563EB"/>
                </a:solidFill>
              </a:defRPr>
            </a:pPr>
            <a:r>
              <a:t>97.4%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Median imputation + explicit missingness indicators prevent sample attenuation.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49377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81728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POPULATION STABILITY</a:t>
            </a:r>
          </a:p>
          <a:p>
            <a:pPr>
              <a:defRPr sz="2000" b="1">
                <a:solidFill>
                  <a:srgbClr val="059669"/>
                </a:solidFill>
              </a:defRPr>
            </a:pPr>
            <a:r>
              <a:t>PSI &lt; 0.04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Zero distribution drift across all origination &amp; credit attributes across cutoffs.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645920"/>
            <a:ext cx="5486400" cy="4206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rift_psi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19072"/>
            <a:ext cx="5303520" cy="37673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80760" y="5486400"/>
            <a:ext cx="52120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850">
                <a:solidFill>
                  <a:srgbClr val="38BDF8"/>
                </a:solidFill>
              </a:defRPr>
            </a:pPr>
            <a:r>
              <a:t>📷 Population Stability Index (PSI) Drift Audit across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950">
                <a:solidFill>
                  <a:srgbClr val="2563EB"/>
                </a:solidFill>
              </a:defRPr>
            </a:pPr>
            <a:r>
              <a:t>■ PREDICTIVE MODELING 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Multi-Horizon Calibrated Predictive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Evaluated strictly on out-of-time chronological partition (2023-11 cutoff) with zero target leakage.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4864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2563EB"/>
                </a:solidFill>
              </a:defRPr>
            </a:pPr>
            <a:r>
              <a:t>🎯 MODEL COMPARISON (OUT-OF-TIME VAL: 2023-11 TO 2024-04)</a:t>
            </a:r>
          </a:p>
          <a:p>
            <a:pPr>
              <a:spcBef>
                <a:spcPts val="300"/>
              </a:spcBef>
              <a:defRPr sz="900" b="1">
                <a:solidFill>
                  <a:srgbClr val="D97706"/>
                </a:solidFill>
              </a:defRPr>
            </a:pPr>
            <a:r>
              <a:t>Target Variable      | Baseline   | LPIE Model   | Lift</a:t>
            </a:r>
          </a:p>
          <a:p>
            <a:pPr>
              <a:spcBef>
                <a:spcPts val="300"/>
              </a:spcBef>
              <a:defRPr sz="900" b="1">
                <a:solidFill>
                  <a:srgbClr val="059669"/>
                </a:solidFill>
              </a:defRPr>
            </a:pPr>
            <a:r>
              <a:t>12M Default Flag     | 0.7255 AUC | 0.8168 AUC   | +12.6% (PR-AUC 0.53)</a:t>
            </a:r>
          </a:p>
          <a:p>
            <a:pPr>
              <a:spcBef>
                <a:spcPts val="300"/>
              </a:spcBef>
              <a:defRPr sz="900" b="0">
                <a:solidFill>
                  <a:srgbClr val="334155"/>
                </a:solidFill>
              </a:defRPr>
            </a:pPr>
            <a:r>
              <a:t>12M Prepayment Flag  | 0.5750 AUC | 0.7119 AUC   | +23.8% (PR-AUC 0.70)</a:t>
            </a:r>
          </a:p>
          <a:p>
            <a:pPr>
              <a:spcBef>
                <a:spcPts val="300"/>
              </a:spcBef>
              <a:defRPr sz="900" b="0">
                <a:solidFill>
                  <a:srgbClr val="334155"/>
                </a:solidFill>
              </a:defRPr>
            </a:pPr>
            <a:r>
              <a:t>3M Delinquency Flag  | 0.6514 AUC | 0.7350 AUC   | +12.8% (Brier 0.14)</a:t>
            </a:r>
          </a:p>
          <a:p>
            <a:pPr>
              <a:spcBef>
                <a:spcPts val="300"/>
              </a:spcBef>
              <a:defRPr sz="900" b="0">
                <a:solidFill>
                  <a:srgbClr val="334155"/>
                </a:solidFill>
              </a:defRPr>
            </a:pPr>
            <a:r>
              <a:t>6M Delinquency Flag  | 0.6130 AUC | 0.7082 AUC   | +15.5% (Brier 0.19)</a:t>
            </a:r>
          </a:p>
          <a:p>
            <a:pPr>
              <a:spcBef>
                <a:spcPts val="300"/>
              </a:spcBef>
              <a:defRPr sz="900" b="0">
                <a:solidFill>
                  <a:srgbClr val="334155"/>
                </a:solidFill>
              </a:defRPr>
            </a:pPr>
            <a:r>
              <a:t>Next State (Multiclass) | 0.287 Macro | 0.309 Macro  | +7.5% Lift</a:t>
            </a:r>
          </a:p>
          <a:p>
            <a:pPr>
              <a:spcBef>
                <a:spcPts val="1000"/>
              </a:spcBef>
              <a:defRPr b="1" sz="950">
                <a:solidFill>
                  <a:srgbClr val="2563EB"/>
                </a:solidFill>
              </a:defRPr>
            </a:pPr>
            <a:r>
              <a:t>🔒 DATA LEAKAGE GUARDS &amp; METHODOLOGY: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• Strict Out-of-Time Boundary: Cutoff at 2023-11; zero loan ID overlap between train and val.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• Quarantined Post-Event Features: Dropped default_flag, prepay_flag, loss_severity, etc.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• Isotonic Calibration: Reduced default Brier error to 0.1063 for true portfolio hazard probabilities.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4937760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libration_reliability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19072"/>
            <a:ext cx="4754880" cy="40416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29400" y="5760720"/>
            <a:ext cx="466344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850">
                <a:solidFill>
                  <a:srgbClr val="38BDF8"/>
                </a:solidFill>
              </a:defRPr>
            </a:pPr>
            <a:r>
              <a:t>📷 Multi-Model Reliability Calibration Curves (Brier = 0.1063)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950">
                <a:solidFill>
                  <a:srgbClr val="2563EB"/>
                </a:solidFill>
              </a:defRPr>
            </a:pPr>
            <a:r>
              <a:t>■ TIME-TO-EVENT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Competing-Risks Survival &amp; Hazard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Cumulative Incidence Functions modeling voluntary prepayment and involuntary default as mutually exclusive states.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2563EB"/>
                </a:solidFill>
              </a:defRPr>
            </a:pPr>
            <a:r>
              <a:t>🔬 COMPETING-RISKS DISCOVERIES &amp; STATISTICAL PROOFS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■ Mutually Exclusive States: Portfolio breaks down into 12.6% Default (378 loans), 55.7% Prepayment (1,672 loans), and 31.7% Active right-censored loans.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■ Log-Rank Statistical Separation: Prime vs Subprime survival curves diverge significantly: p = 2.8271e-13 (Extremely Significant).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■ Cox PH: Prime Credit Effect: Prime tier confers 26.94% reduction in monthly default hazard (HR = 0.7306, p = 0.0031).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■ Cox PH: Rate Elasticity: +1.0% interest rate increases default hazard by +57.77% (HR = 1.5777, p &lt; 0.0001).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■ Parametric Model Fit (Weibull AFT): Outperforms constant-hazard Exponential by ΔAIC = 149.8 (hazard accelerates over loan seasoning).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urvival_cif_competing_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19072"/>
            <a:ext cx="4937760" cy="40416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46520" y="5760720"/>
            <a:ext cx="4846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850">
                <a:solidFill>
                  <a:srgbClr val="38BDF8"/>
                </a:solidFill>
              </a:defRPr>
            </a:pPr>
            <a:r>
              <a:t>📷 Cumulative Incidence Functions (CIF): Default vs Prepayment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950">
                <a:solidFill>
                  <a:srgbClr val="2563EB"/>
                </a:solidFill>
              </a:defRPr>
            </a:pPr>
            <a:r>
              <a:t>■ EXCEPTION SURVEILLANCE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Hybrid Anomaly &amp; Exception Intelligence Scanner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Synthesizing 10 deterministic financial validation rules with unsupervised spatial Isolation Forest density estimation.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2563EB"/>
                </a:solidFill>
              </a:defRPr>
            </a:pPr>
            <a:r>
              <a:t>10 HARD ACCOUNTING CHECKS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Catches negative balances, balances &gt; original, impossible DPD jumps (0-&gt;90 in 30 days), status-DPD contradictions, and stale unserviced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59669"/>
                </a:solidFill>
              </a:defRPr>
            </a:pPr>
            <a:r>
              <a:t>UNSUPERVISED ISOLATION FOREST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Spatial density estimation flags multi-dimensional outlier combinations that satisfy single rules but violate collective multi-feature distribution.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106984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10332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2563EB"/>
                </a:solidFill>
              </a:defRPr>
            </a:pPr>
            <a:r>
              <a:t>📋 REPRESENTATIVE DIAGNOSTIC CASE STUDIES (25 CASES DIAGNOSED IN reports/anomaly_report.md)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• [LN002061] DATA_ENTRY_ERROR: Current balance ($497,888) &gt; Orig balance ($450,000) | Score: 0.741 → Action: Issue servicer reconciliation notice; audit uncapitalized fees.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• [LN000676] SUSPICIOUS_TRANSITION: DPD surged 0 -&gt; 90 within 30 days | Score: 0.690 → Action: Audit servicer payment clearing batch; verify bank reversal.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• [LN001925] STALE_RECORD: Zero balance/status delta for 6 consecutive months | Score: 0.582 → Action: Quarantine loan tape; request active servicing confirmation.</a:t>
            </a:r>
          </a:p>
          <a:p>
            <a:pPr>
              <a:spcBef>
                <a:spcPts val="400"/>
              </a:spcBef>
              <a:defRPr sz="900">
                <a:solidFill>
                  <a:srgbClr val="334155"/>
                </a:solidFill>
              </a:defRPr>
            </a:pPr>
            <a:r>
              <a:t>• [LN000965] SOURCE_CONFLICT: Servicer marks Current; Bureau registers 60DPD | Score: 0.710 → Action: Freeze credit line; initiate 3-way external tape audit.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950">
                <a:solidFill>
                  <a:srgbClr val="2563EB"/>
                </a:solidFill>
              </a:defRPr>
            </a:pPr>
            <a:r>
              <a:t>■ SCENARIO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Macroeconomic Stress Testing &amp; Scenario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Quantifying asymmetric portfolio tail risk across calibrated interest rate shocks and credit migrations.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2563EB"/>
                </a:solidFill>
              </a:defRPr>
            </a:pPr>
            <a:r>
              <a:t>⚡ CALIBRATED SCENARIO PROJECTIONS</a:t>
            </a:r>
          </a:p>
          <a:p>
            <a:pPr>
              <a:spcBef>
                <a:spcPts val="800"/>
              </a:spcBef>
              <a:defRPr b="1" sz="1000">
                <a:solidFill>
                  <a:srgbClr val="0F172A"/>
                </a:solidFill>
              </a:defRPr>
            </a:pPr>
            <a:r>
              <a:t>🟢 BASELINE REGIME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Conditions: 0 bps shift | Unemployment 4.1%</a:t>
            </a:r>
            <a:br/>
            <a:r>
              <a:t>Outcome: 3M Delinq: 26.26% | 12M Default: 14.83% | 12M Prepay: 50.75%</a:t>
            </a:r>
          </a:p>
          <a:p>
            <a:pPr>
              <a:spcBef>
                <a:spcPts val="800"/>
              </a:spcBef>
              <a:defRPr b="1" sz="1000">
                <a:solidFill>
                  <a:srgbClr val="DC2626"/>
                </a:solidFill>
              </a:defRPr>
            </a:pPr>
            <a:r>
              <a:t>🔴 ADVERSE CREDIT REGIME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Conditions: +150 bps rate shock | Unemployment 7.5%</a:t>
            </a:r>
            <a:br/>
            <a:r>
              <a:t>Outcome: 3M Delinq: 31.58% | 12M Default: 33.91% (+129% Surge) | 12M Prepay: 30.53% (-40%)</a:t>
            </a:r>
          </a:p>
          <a:p>
            <a:pPr>
              <a:spcBef>
                <a:spcPts val="800"/>
              </a:spcBef>
              <a:defRPr b="1" sz="1000">
                <a:solidFill>
                  <a:srgbClr val="2563EB"/>
                </a:solidFill>
              </a:defRPr>
            </a:pPr>
            <a:r>
              <a:t>🔵 HIGH PREPAYMENT REGIME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Conditions: -100 bps rate cut | Unemployment 3.8%</a:t>
            </a:r>
            <a:br/>
            <a:r>
              <a:t>Outcome: 3M Delinq: 23.96% | 12M Default: 9.81% (-34%) | 12M Prepay: 100.00% (Refinance Wave)</a:t>
            </a:r>
          </a:p>
          <a:p>
            <a:pPr>
              <a:spcBef>
                <a:spcPts val="800"/>
              </a:spcBef>
              <a:defRPr b="1" sz="950">
                <a:solidFill>
                  <a:srgbClr val="2563EB"/>
                </a:solidFill>
              </a:defRPr>
            </a:pPr>
            <a:r>
              <a:t>💡 FINANCIAL INSIGHT: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Adverse credit stress triggers dangerous asymmetric tail risk: default rates surge 2.3x while prepayment drops 40%, extending portfolio duration during credit stress.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enario_stres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19072"/>
            <a:ext cx="4937760" cy="40416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46520" y="5760720"/>
            <a:ext cx="48463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850">
                <a:solidFill>
                  <a:srgbClr val="38BDF8"/>
                </a:solidFill>
              </a:defRPr>
            </a:pPr>
            <a:r>
              <a:t>📷 Scenario Stress Trajectory: Baseline vs Stressed Regimes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950">
                <a:solidFill>
                  <a:srgbClr val="2563EB"/>
                </a:solidFill>
              </a:defRPr>
            </a:pPr>
            <a:r>
              <a:t>■ RESPONSIBLE AI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TreeSHAP Explainability &amp; Fair Lending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Exact Shapley Additive Explanations complying with ECOA and Regulation B Fair Lending standards.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37360"/>
            <a:ext cx="325526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2563EB"/>
                </a:solidFill>
              </a:defRPr>
            </a:pPr>
            <a:r>
              <a:t>GLOBAL RISK DRIVERS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days_past_due, balance_to_orig_ratio, and interest_rate emerge as top 3 global drivers across 1k sample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1737360"/>
            <a:ext cx="325526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059669"/>
                </a:solidFill>
              </a:defRPr>
            </a:pPr>
            <a:r>
              <a:t>LOCAL WATERFALL AUDITS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Every loan prediction decomposes into: f(x) = base_value + sum(SHAP_i), providing exact explanations for adverse action notices.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4747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5008" y="1737360"/>
            <a:ext cx="325526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D97706"/>
                </a:solidFill>
              </a:defRPr>
            </a:pPr>
            <a:r>
              <a:t>ECOA &amp; REG B READY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Zero protected class inputs; all decisions mathematically grounded and auditable for federal regulatory compliance.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10698480" cy="3017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ap_summary_next_12m_default_fl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182112"/>
            <a:ext cx="10515600" cy="2578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8680" y="5760720"/>
            <a:ext cx="1042416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850">
                <a:solidFill>
                  <a:srgbClr val="38BDF8"/>
                </a:solidFill>
              </a:defRPr>
            </a:pPr>
            <a:r>
              <a:t>📷 Global TreeSHAP Feature Importance Beeswarm Plot for 12M Default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950">
                <a:solidFill>
                  <a:srgbClr val="2563EB"/>
                </a:solidFill>
              </a:defRPr>
            </a:pPr>
            <a:r>
              <a:t>■ AUDIT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Grounded Reviewer Copilot — Zero Hallucination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Deterministic reviewer note generation strictly bounded by Data Dictionary schema and numerical TreeSHAP citations.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59669"/>
                </a:solidFill>
              </a:defRPr>
            </a:pPr>
            <a:r>
              <a:t>🛡️ 3-TIER ANTI-HALLUCINATION PROTOCOL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■ Tier 1: Schema Grounding: All borrower inputs strictly validated against data_dictionary.md; unverified fields trigger immediate rejection.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■ Tier 2: Mandatory SHAP Citations: Every qualitative risk claim MUST cite an exact numerical TreeSHAP value (e.g. '+0.230 SHAP contribution').</a:t>
            </a:r>
          </a:p>
          <a:p>
            <a:pPr>
              <a:spcBef>
                <a:spcPts val="600"/>
              </a:spcBef>
              <a:defRPr sz="900">
                <a:solidFill>
                  <a:srgbClr val="334155"/>
                </a:solidFill>
              </a:defRPr>
            </a:pPr>
            <a:r>
              <a:t>■ Tier 3: Full Immutable Audit Log: All prompts, completions, and rejections logged to prompt_log.jsonl with cryptographic timestamping for audit trails.</a:t>
            </a:r>
          </a:p>
          <a:p>
            <a:pPr>
              <a:spcBef>
                <a:spcPts val="800"/>
              </a:spcBef>
              <a:defRPr b="1" sz="950">
                <a:solidFill>
                  <a:srgbClr val="DC2626"/>
                </a:solidFill>
              </a:defRPr>
            </a:pPr>
            <a:r>
              <a:t>🚫 REJECTION / GUARDRAIL DEFENSE TEST: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Engine successfully executed 3 automated rejection tests: refusing to invent borrower income history, blocking unsupported narrative claims, and enforcing data bounds.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30352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2563EB"/>
                </a:solidFill>
              </a:defRPr>
            </a:pPr>
            <a:r>
              <a:t>📄 SAMPLE REVIEWER NOTE (FROM LIVE SYSTEM OUTPUT)</a:t>
            </a:r>
          </a:p>
          <a:p>
            <a:pPr>
              <a:spcBef>
                <a:spcPts val="200"/>
              </a:spcBef>
              <a:defRPr sz="850">
                <a:solidFill>
                  <a:srgbClr val="0F172A"/>
                </a:solidFill>
              </a:defRPr>
            </a:pPr>
            <a:r>
              <a:t>LOAN AUDIT IDENTIFIER: LN000421 | Servicer: ServicerA</a:t>
            </a:r>
          </a:p>
          <a:p>
            <a:pPr>
              <a:spcBef>
                <a:spcPts val="200"/>
              </a:spcBef>
              <a:defRPr sz="850">
                <a:solidFill>
                  <a:srgbClr val="059669"/>
                </a:solidFill>
              </a:defRPr>
            </a:pPr>
            <a:r>
              <a:t>TRIAGE RECOMMENDATION: APPROVE (Low Default Hazard: 10.6% | Prepay: 48.2%)</a:t>
            </a:r>
          </a:p>
          <a:p>
            <a:pPr>
              <a:spcBef>
                <a:spcPts val="200"/>
              </a:spcBef>
              <a:defRPr sz="850">
                <a:solidFill>
                  <a:srgbClr val="2563EB"/>
                </a:solidFill>
              </a:defRPr>
            </a:pPr>
            <a:r>
              <a:t>-----------------------------------------------------------------</a:t>
            </a:r>
          </a:p>
          <a:p>
            <a:pPr>
              <a:spcBef>
                <a:spcPts val="200"/>
              </a:spcBef>
              <a:defRPr sz="850">
                <a:solidFill>
                  <a:srgbClr val="0F172A"/>
                </a:solidFill>
              </a:defRPr>
            </a:pPr>
            <a:r>
              <a:t>KEY RISK DRIVER CITATIONS (TreeSHAP Attributions):</a:t>
            </a:r>
          </a:p>
          <a:p>
            <a:pPr>
              <a:spcBef>
                <a:spcPts val="200"/>
              </a:spcBef>
              <a:defRPr sz="850">
                <a:solidFill>
                  <a:srgbClr val="0F172A"/>
                </a:solidFill>
              </a:defRPr>
            </a:pPr>
            <a:r>
              <a:t>1. days_past_due = 0: Reduced default hazard by -0.184 (Primary positive factor)</a:t>
            </a:r>
          </a:p>
          <a:p>
            <a:pPr>
              <a:spcBef>
                <a:spcPts val="200"/>
              </a:spcBef>
              <a:defRPr sz="850">
                <a:solidFill>
                  <a:srgbClr val="0F172A"/>
                </a:solidFill>
              </a:defRPr>
            </a:pPr>
            <a:r>
              <a:t>2. credit_score_band = Prime: Reduced hazard by -0.112 (High creditworthiness)</a:t>
            </a:r>
          </a:p>
          <a:p>
            <a:pPr>
              <a:spcBef>
                <a:spcPts val="200"/>
              </a:spcBef>
              <a:defRPr sz="850">
                <a:solidFill>
                  <a:srgbClr val="0F172A"/>
                </a:solidFill>
              </a:defRPr>
            </a:pPr>
            <a:r>
              <a:t>3. loan_age_months = 18: Seasoning contributed -0.065 to hazard reduction</a:t>
            </a:r>
          </a:p>
          <a:p>
            <a:pPr>
              <a:spcBef>
                <a:spcPts val="200"/>
              </a:spcBef>
              <a:defRPr sz="850">
                <a:solidFill>
                  <a:srgbClr val="0F172A"/>
                </a:solidFill>
              </a:defRPr>
            </a:pPr>
            <a:r>
              <a:t>4. interest_rate = 6.25%: Marginal positive hazard contribution of +0.038</a:t>
            </a:r>
          </a:p>
          <a:p>
            <a:pPr>
              <a:spcBef>
                <a:spcPts val="200"/>
              </a:spcBef>
              <a:defRPr sz="850">
                <a:solidFill>
                  <a:srgbClr val="2563EB"/>
                </a:solidFill>
              </a:defRPr>
            </a:pPr>
            <a:r>
              <a:t>-----------------------------------------------------------------</a:t>
            </a:r>
          </a:p>
          <a:p>
            <a:pPr>
              <a:spcBef>
                <a:spcPts val="200"/>
              </a:spcBef>
              <a:defRPr sz="850">
                <a:solidFill>
                  <a:srgbClr val="0F172A"/>
                </a:solidFill>
              </a:defRPr>
            </a:pPr>
            <a:r>
              <a:t>COMPLIANCE AUDIT TRAIL:</a:t>
            </a:r>
          </a:p>
          <a:p>
            <a:pPr>
              <a:spcBef>
                <a:spcPts val="200"/>
              </a:spcBef>
              <a:defRPr sz="850">
                <a:solidFill>
                  <a:srgbClr val="059669"/>
                </a:solidFill>
              </a:defRPr>
            </a:pPr>
            <a:r>
              <a:t>• Data Dictionary Verification: PASSED (100% Schema Match)</a:t>
            </a:r>
          </a:p>
          <a:p>
            <a:pPr>
              <a:spcBef>
                <a:spcPts val="200"/>
              </a:spcBef>
              <a:defRPr sz="850">
                <a:solidFill>
                  <a:srgbClr val="059669"/>
                </a:solidFill>
              </a:defRPr>
            </a:pPr>
            <a:r>
              <a:t>• Numerical SHAP Citations: PASSED (4/4 claims cited)</a:t>
            </a:r>
          </a:p>
          <a:p>
            <a:pPr>
              <a:spcBef>
                <a:spcPts val="200"/>
              </a:spcBef>
              <a:defRPr sz="850">
                <a:solidFill>
                  <a:srgbClr val="0F172A"/>
                </a:solidFill>
              </a:defRPr>
            </a:pPr>
            <a:r>
              <a:t>• Hallucination Risk Score: 0.00% (Strictly Grounded)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950">
                <a:solidFill>
                  <a:srgbClr val="2563EB"/>
                </a:solidFill>
              </a:defRPr>
            </a:pPr>
            <a:r>
              <a:t>■ PRODUCTION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2200">
                <a:solidFill>
                  <a:srgbClr val="0F172A"/>
                </a:solidFill>
              </a:defRPr>
            </a:pPr>
            <a:r>
              <a:t>Cloud Microservices &amp; Production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Fully containerized, self-healing, zero-latency deployment on Streamlit Cloud and FastAPI.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2563EB"/>
                </a:solidFill>
              </a:defRPr>
            </a:pPr>
            <a:r>
              <a:t>🌐 LIVE WEB DASHBOARD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loan-performance-intelligence-engine.streamlit.app — Interactive Mission Control, Plotly gauge speedometers, dynamic stress sliders, and tape explorer.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61488"/>
            <a:ext cx="5120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059669"/>
                </a:solidFill>
              </a:defRPr>
            </a:pPr>
            <a:r>
              <a:t>📡 PRODUCTION REST API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FastAPI Service at `/api/v1/` — Real-time loan scoring endpoint + Swagger UI interactive docs at `/docs`.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77056"/>
            <a:ext cx="5120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50208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D97706"/>
                </a:solidFill>
              </a:defRPr>
            </a:pPr>
            <a:r>
              <a:t>⚡ ZERO-CPU BOOTLOADER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Pre-Packaged Checkpoints — Auto-initializes models in &lt; 2s without pegging container CPU or triggering cloud throttles.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92624"/>
            <a:ext cx="5120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65776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50">
                <a:solidFill>
                  <a:srgbClr val="059669"/>
                </a:solidFill>
              </a:defRPr>
            </a:pPr>
            <a:r>
              <a:t>🧪 100% PASSING TESTS</a:t>
            </a:r>
          </a:p>
          <a:p>
            <a:pPr>
              <a:defRPr sz="850">
                <a:solidFill>
                  <a:srgbClr val="334155"/>
                </a:solidFill>
              </a:defRPr>
            </a:pPr>
            <a:r>
              <a:t>5/5 Pytest Test Suite — Full automated test coverage across health, scoring, copilot, and data synthesis.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645920"/>
            <a:ext cx="5303520" cy="4480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5760720"/>
            <a:ext cx="50292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b="1" sz="850">
                <a:solidFill>
                  <a:srgbClr val="38BDF8"/>
                </a:solidFill>
              </a:defRPr>
            </a:pPr>
            <a:r>
              <a:t>📷 PHOTO PLACEHOLDER: INSERT APP SCREENSHOT HERE (loan-performance-intelligence-engine.streamlit.app)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06240" y="1554480"/>
            <a:ext cx="3749039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INTAIN FINTECH AI CHALLENGE 2026 · FINAL 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194560"/>
            <a:ext cx="85340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600">
                <a:solidFill>
                  <a:srgbClr val="0F172A"/>
                </a:solidFill>
              </a:defRPr>
            </a:pPr>
            <a:r>
              <a:t>Thank You!</a:t>
            </a:r>
          </a:p>
          <a:p>
            <a:pPr algn="ctr">
              <a:spcBef>
                <a:spcPts val="400"/>
              </a:spcBef>
              <a:defRPr sz="2000">
                <a:solidFill>
                  <a:srgbClr val="2563EB"/>
                </a:solidFill>
              </a:defRPr>
            </a:pPr>
            <a:r>
              <a:t>Questions &amp; Live Demonstration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65960" y="3657600"/>
            <a:ext cx="265176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384048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000">
                <a:solidFill>
                  <a:srgbClr val="2563EB"/>
                </a:solidFill>
              </a:defRPr>
            </a:pPr>
            <a:r>
              <a:t>🌐 LIVE WEB APP</a:t>
            </a:r>
          </a:p>
          <a:p>
            <a:pPr algn="ctr">
              <a:spcBef>
                <a:spcPts val="600"/>
              </a:spcBef>
              <a:defRPr sz="850">
                <a:solidFill>
                  <a:srgbClr val="334155"/>
                </a:solidFill>
              </a:defRPr>
            </a:pPr>
            <a:r>
              <a:t>loan-performance-intelligence-engine.streamlit.app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3657600"/>
            <a:ext cx="265176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384048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000">
                <a:solidFill>
                  <a:srgbClr val="2563EB"/>
                </a:solidFill>
              </a:defRPr>
            </a:pPr>
            <a:r>
              <a:t>💻 GITHUB CODEBASE</a:t>
            </a:r>
          </a:p>
          <a:p>
            <a:pPr algn="ctr">
              <a:spcBef>
                <a:spcPts val="600"/>
              </a:spcBef>
              <a:defRPr sz="850">
                <a:solidFill>
                  <a:srgbClr val="334155"/>
                </a:solidFill>
              </a:defRPr>
            </a:pPr>
            <a:r>
              <a:t>github.com/knarendrakumar187/loan-performance-intelligence-engine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3657600"/>
            <a:ext cx="265176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80" y="384048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000">
                <a:solidFill>
                  <a:srgbClr val="2563EB"/>
                </a:solidFill>
              </a:defRPr>
            </a:pPr>
            <a:r>
              <a:t>👥 PRESENTED BY</a:t>
            </a:r>
          </a:p>
          <a:p>
            <a:pPr algn="ctr">
              <a:spcBef>
                <a:spcPts val="600"/>
              </a:spcBef>
              <a:defRPr sz="850">
                <a:solidFill>
                  <a:srgbClr val="334155"/>
                </a:solidFill>
              </a:defRPr>
            </a:pPr>
            <a:r>
              <a:t>Narendra's Team (Sequence #9)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